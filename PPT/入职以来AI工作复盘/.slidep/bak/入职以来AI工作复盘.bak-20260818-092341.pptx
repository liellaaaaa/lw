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presProps" Target="presProps.xml" /><Relationship Id="rId11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osition:'relative', background:'#FFFFFF', fontFamily:'微软雅黑' }}&gt;&#10;  &lt;Box style={{ position:'absolute', left:80, top:11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0, top:300, width:1280, height:230, background:'#4472C4', justifyContent:'center', alignItems:'center' }}&gt;&#10;    &lt;Text style={{ fontSize:52, fontWeight:'bold', color:'#FFFFFF' }}&gt;入职以来 AI 应用交付复盘&lt;/Text&gt;&#10;    &lt;Text style={{ fontSize:22, color:'#FFFFFF', marginTop:14 }}&gt;月度经营分析会汇报 · AI 技术专员工作复盘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113347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333500" y="10477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181350" y="3457575"/>
            <a:ext cx="5829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3900" b="1">
                <a:solidFill>
                  <a:srgbClr val="FFFFFF"/>
                </a:solidFill>
                <a:latin typeface="微软雅黑"/>
                <a:ea typeface="微软雅黑"/>
              </a:rPr>
              <a:t> AI </a:t>
            </a: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应用交付复盘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076700" y="419100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月度经营分析会汇报</a:t>
            </a:r>
            <a:r>
              <a:rPr lang="en-US" sz="1650">
                <a:solidFill>
                  <a:srgbClr val="FFFFFF"/>
                </a:solidFill>
                <a:latin typeface="微软雅黑"/>
                <a:ea typeface="微软雅黑"/>
              </a:rPr>
              <a:t> · AI </a:t>
            </a: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技术专员工作复盘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width:'1280px', height:'720px', position:'relative', background:'#FFFFFF', fontFamily:'微软雅黑' }}&gt;&#13;&#10;  &lt;Box style={{ position:'absolute', left:56, top:80, right:56, flexDirection:'row', gap:48, height:520, alignItems:'center' }}&gt;&#13;&#10;    &lt;Box style={{ width:300, justifyContent:'center' }}&gt;&#13;&#10;      &lt;Text style={{ fontSize:54, fontWeight:'bold', color:'#2F5597' }}&gt;目录&lt;/Text&gt;&#13;&#10;      &lt;Text style={{ fontSize:24, color:'#2F5597', marginTop:8, letterSpacing:4 }}&gt;CONTENTS&lt;/Text&gt;&#13;&#10;    &lt;/Box&gt;&#13;&#10;    &lt;Box style={{ width:2, height:300, background:'#4472C4' }} /&gt;&#13;&#10;    &lt;Box style={{ flex:1, flexDirection:'column', gap:20, justifyContent:'center' }}&gt;&#13;&#10;      {['一、工作概览与量化总览','二、内部工作：自研应用与 Skill 交付','三、内部工作：培训与推广','四、外部工作：宏昊AI助手平台','五、下阶段计划与需支持事项'].map((t, i) =&gt; (&#13;&#10;        &lt;Text key={i} style={{ fontSize:24, fontWeight:'bold', color:'#1A1A1A' }}&gt;{t}&lt;/Text&gt;&#13;&#10;      ))}&#13;&#10;    &lt;/Box&gt;&#13;&#10;  &lt;/Box&gt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2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33400" y="2752725"/>
            <a:ext cx="2857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2F5597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3400" y="34480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00">
                <a:solidFill>
                  <a:srgbClr val="2F5597"/>
                </a:solidFill>
                <a:latin typeface="微软雅黑"/>
                <a:ea typeface="微软雅黑"/>
              </a:rPr>
              <a:t>CONTENTS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848100" y="1809750"/>
            <a:ext cx="19050" cy="2857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324350" y="263842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二、内部工作：自研应用与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交付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324350" y="310515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三、内部工作：培训与推广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324350" y="357187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四、外部工作：宏昊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AI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助手平台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324350" y="40386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五、下阶段计划与需支持事项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一、工作概览与量化总览&lt;/Text&gt;&#13;&#10;  &lt;/Box&gt;&#13;&#10;&#13;&#10;  &lt;Box style={{ position:'absolute', left:56, top:130, right:56, flexDirection:'column', gap:22 }}&gt;&#13;&#10;    &lt;Box style={{ flexDirection:'row', gap:22 }}&gt;&#13;&#10;      {[['5','自研应用 / 工具'],['2','复用 Skill'],['4','业务智能体']].map((c, i) =&gt; (&#13;&#10;        &lt;Box key={i} style={{ flex:1, background:'#F4F7FC', borderRadius:10, padding:'22px 18px', alignItems:'center' }}&gt;&#13;&#10;          &lt;Text style={{ fontSize:56, fontWeight:'bold', color:'#4472C4' }}&gt;{c[0]}&lt;/Text&gt;&#13;&#10;          &lt;Text style={{ fontSize:18, color:'#1A1A1A', marginTop:6 }}&gt;{c[1]}&lt;/Text&gt;&#13;&#10;        &lt;/Box&gt;&#13;&#10;      ))}&#13;&#10;    &lt;/Box&gt;&#13;&#10;    &lt;Box style={{ flexDirection:'row', gap:22 }}&gt;&#13;&#10;      {[['37','平台验收项'],['12','培训场次'],['7','覆盖部门']].map((c, i) =&gt; (&#13;&#10;        &lt;Box key={i} style={{ flex:1, background:'#F4F7FC', borderRadius:10, padding:'22px 18px', alignItems:'center' }}&gt;&#13;&#10;          &lt;Text style={{ fontSize:56, fontWeight:'bold', color:'#4472C4' }}&gt;{c[0]}&lt;/Text&gt;&#13;&#10;          &lt;Text style={{ fontSize:18, color:'#1A1A1A', marginTop:6 }}&gt;{c[1]}&lt;/Text&gt;&#13;&#10;        &lt;/Box&gt;&#13;&#10;      ))}&#13;&#10;    &lt;/Box&gt;&#13;&#10;  &lt;/Box&gt;&#13;&#10;&#13;&#10;  &lt;Box style={{ position:'absolute', left:56, top:560, right:56, background:'#052B7C', borderRadius:10, padding:'16px 22px' }}&gt;&#13;&#10;    &lt;Text style={{ fontSize:18, color:'#FFFFFF', lineHeight:1.5 }}&gt;入职 3.5 个月，从 0 搭起「自研工具 + 复用 Skill + 平台验收运营 + 培训推广」完整交付体系，覆盖采购 / 船务 / 财务 / 销售 / 研发 / 营销 6 类业务方；交付快（自研平均 ~25 天）、持续迭代（110+ 条代码）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3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1526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714500" y="21526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自研应用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工具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9245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43575" y="215265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705975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448800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业务智能体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33400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9812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895475" y="3695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14825" y="278130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531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53100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培训场次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86725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705975" y="299085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534525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覆盖部门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33400" y="5334000"/>
            <a:ext cx="11125200" cy="923925"/>
          </a:xfrm>
          <a:prstGeom prst="roundRect">
            <a:avLst>
              <a:gd name="adj" fmla="val 10309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" y="5486400"/>
            <a:ext cx="1070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3.5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个月，从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0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搭起「自研工具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Skill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平台验收运营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培训推广」完整交付体系，覆盖采购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船务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财务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销售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研发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营销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类业务方；交付快（自研平均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~25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天）、持续迭代（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110+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条代码）。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1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二、自研应用交付总览&lt;/Text&gt;&#13;&#10;  &lt;/Box&gt;&#13;&#10;&#13;&#10;  &lt;Box style={{ position:'absolute', left:56, top:120, right:56 }}&gt;&#13;&#10;    &lt;Table&#13;&#10;      style={{ width:'100%', height:42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应用 / 工具', textStyle:{bold:true,color:'#1A1A1A'}, cellStyle:{background:{color:'#DAE3F3'}}},&#13;&#10;          {text:'交付时间', textStyle:{bold:true,color:'#1A1A1A'}, cellStyle:{background:{color:'#DAE3F3'}}},&#13;&#10;          {text:'形态', textStyle:{bold:true,color:'#1A1A1A'}, cellStyle:{background:{color:'#DAE3F3'}}},&#13;&#10;          {text:'主要对象', textStyle:{bold:true,color:'#1A1A1A'}, cellStyle:{background:{color:'#DAE3F3'}}},&#13;&#10;          {text:'当前状态', textStyle:{bold:true,color:'#1A1A1A'}, cellStyle:{background:{color:'#DAE3F3'}}} ],&#13;&#10;        ['采购分析助手','05-29','前后端 Web','采购部','维护中（至 07-30）'],&#13;&#10;        ['船务 T/T 协议自动化','06-22','前后端 Web','船务部','95%+ 试用'],&#13;&#10;        ['数据脱敏 Data_masking','07-28','桌面 .exe','财务部','长期优化'],&#13;&#10;        ['对账单','已交付','纯前端 HTML','财务部','已交付'],&#13;&#10;        ['Tax_check 退税审单','08-01','桌面 .exe','财务部','已交付运营（收尾）'],&#13;&#10;      ]}&#13;&#10;    /&gt;&#13;&#10;  &lt;/Box&gt;&#13;&#10;&#13;&#10;  &lt;Box style={{ position:'absolute', left:56, top:560, right:56 }}&gt;&#13;&#10;    &lt;Text style={{ fontSize:16, color:'#1A1A1A', lineHeight:1.5 }}&gt;自研平均 &lt;span style={{ fontWeight:'bold', color:'#4472C4' }}&gt;~25 天&lt;/span&gt; 交付；含 1 次 PyQt5→Web 重构（05-27）、2 次架构级重构（采购 06-27、船务 08-01 JSON→SQLite）；110+ 条代码迭代。MSDS 中英文双语生成内嵌于船务助手，不作独立交付项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4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二、自研应用交付总览</a:t>
            </a:r>
            <a:endParaRPr/>
          </a:p>
        </p:txBody>
      </p:sp>
      <p:graphicFrame>
        <p:nvGraphicFramePr>
          <p:cNvPr id="65" name=""/>
          <p:cNvGraphicFramePr/>
          <p:nvPr/>
        </p:nvGraphicFramePr>
        <p:xfrm rot="0" flipH="0" flipV="0">
          <a:off x="533400" y="1143000"/>
          <a:ext cx="11125200" cy="4000500"/>
        </p:xfrm>
        <a:graphic>
          <a:graphicData uri="http://schemas.openxmlformats.org/drawingml/2006/table">
            <a:tbl>
              <a:tblGrid>
                <a:gridCol w="3469956">
                  <a:extLst>
                    <a:ext uri="{9D8B030D-6E8A-4147-A177-3AD203B41FA5}">
                      <a16:colId val="1"/>
                    </a:ext>
                  </a:extLst>
                </a:gridCol>
                <a:gridCol w="1375336">
                  <a:extLst>
                    <a:ext uri="{9D8B030D-6E8A-4147-A177-3AD203B41FA5}">
                      <a16:colId val="2"/>
                    </a:ext>
                  </a:extLst>
                </a:gridCol>
                <a:gridCol w="2007674">
                  <a:extLst>
                    <a:ext uri="{9D8B030D-6E8A-4147-A177-3AD203B41FA5}">
                      <a16:colId val="3"/>
                    </a:ext>
                  </a:extLst>
                </a:gridCol>
                <a:gridCol w="1375336">
                  <a:extLst>
                    <a:ext uri="{9D8B030D-6E8A-4147-A177-3AD203B41FA5}">
                      <a16:colId val="4"/>
                    </a:ext>
                  </a:extLst>
                </a:gridCol>
                <a:gridCol w="289689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 / 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交付时间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当前状态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采购分析助手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05-29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维护中（至 07-30）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 T/T 协议自动化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06-22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95%+ 试用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数据脱敏 Data_masking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07-28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长期优化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对账单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纯前端 HTML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Tax_check 退税审单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08-01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已交付运营（收尾）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自研平均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4472C4"/>
                </a:solidFill>
                <a:latin typeface="微软雅黑"/>
                <a:ea typeface="微软雅黑"/>
              </a:rPr>
              <a:t>~25 </a:t>
            </a:r>
            <a:r>
              <a:rPr lang="zh-CN" sz="1200" b="1">
                <a:solidFill>
                  <a:srgbClr val="4472C4"/>
                </a:solidFill>
                <a:latin typeface="微软雅黑"/>
                <a:ea typeface="微软雅黑"/>
              </a:rPr>
              <a:t>天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交付；含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1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PyQt5→Web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重构（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05-27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次架构级重构（采购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06-27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、船务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08-01 JSON→SQLite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110+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条代码迭代。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MSDS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中英文双语生成内嵌于船务助手，不作独立交付项。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自研应用与 Skill 交付 · 融合总览&lt;/Text&gt;&#10;  &lt;/Box&gt;&#10;&#10;  &lt;Box style={{ position:'absolute', left:56, top:118, right:56, flexDirection:'column', gap:16 }}&gt;&#10;    &lt;Box style={{ flexDirection:'row', gap:18, height:236 }}&gt;&#10;      &lt;Box style={{ flex:1, background:'#F4F7FC', borderRadius:12, padding:'18px 22px', flexDirection:'column', gap:8 }}&gt;&#10;        &lt;Text style={{ fontSize:22, fontWeight:'bold', color:'#052B7C' }}&gt;采购分析助手&lt;Text style={{ fontSize:14, fontWeight:'normal', color:'#888' }}&gt; ProcurementAnalysis&lt;/Text&gt;&lt;/Text&gt;&#10;        &lt;Text style={{ fontSize:17, color:'#1A1A1A' }}&gt;数据 &lt;span style={{ fontWeight:'bold', color:'#4472C4' }}&gt;15,227&lt;/span&gt; 条 · 品类 &lt;span style={{ fontWeight:'bold' }}&gt;61&lt;/span&gt; · 模块 &lt;span style={{ fontWeight:'bold' }}&gt;7&lt;/span&gt;&lt;/Text&gt;&#10;        &lt;Text style={{ fontSize:16, color:'#1A1A1A', lineHeight:1.5 }}&gt;29 天交付采购部；看板看趋势、预警推异常、供应商横向比价，把「拍脑袋比价」变「看数据决策」。&lt;/Text&gt;&#10;      &lt;/Box&gt;&#10;      &lt;Box style={{ flex:1, background:'#F4F7FC', borderRadius:12, padding:'18px 22px', flexDirection:'column', gap:8 }}&gt;&#10;        &lt;Text style={{ fontSize:22, fontWeight:'bold', color:'#052B7C' }}&gt;船务 T/T 协议自动化&lt;Text style={{ fontSize:14, fontWeight:'normal', color:'#888' }}&gt; shipping-helper&lt;/Text&gt;&lt;/Text&gt;&#10;        &lt;Text style={{ fontSize:17, color:'#1A1A1A' }}&gt;单证 &lt;span style={{ fontWeight:'bold', color:'#4472C4' }}&gt;4&lt;/span&gt; 类 · HS 编码 &lt;span style={{ fontWeight:'bold' }}&gt;389&lt;/span&gt; · 进度 &lt;span style={{ fontWeight:'bold' }}&gt;95%+&lt;/span&gt;&lt;/Text&gt;&#10;        &lt;Text style={{ fontSize:16, color:'#1A1A1A', lineHeight:1.5 }}&gt;录入基础数据即生成 Booking/LOI/MSDS/报关单证、自动算包装与 HS；PI 解析接入 DeepSeek，把「人填」变「系统出」。&lt;/Text&gt;&#10;      &lt;/Box&gt;&#10;    &lt;/Box&gt;&#10;    &lt;Box style={{ flexDirection:'row', gap:18, height:236 }}&gt;&#10;      &lt;Box style={{ flex:1, background:'#F4F7FC', borderRadius:12, padding:'18px 22px', flexDirection:'column', gap:8 }}&gt;&#10;        &lt;Text style={{ fontSize:22, fontWeight:'bold', color:'#052B7C' }}&gt;财务三件套&lt;/Text&gt;&#10;        &lt;Text style={{ fontSize:15, color:'#1A1A1A', lineHeight:1.5 }}&gt;· 数据脱敏 .exe（12 法，07-28 交付）&lt;/Text&gt;&#10;        &lt;Text style={{ fontSize:15, color:'#1A1A1A', lineHeight:1.5 }}&gt;· 对账单 纯前端 HTML（已交付，零部署）&lt;/Text&gt;&#10;        &lt;Text style={{ fontSize:15, color:'#1A1A1A', lineHeight:1.5 }}&gt;· Tax_check .exe（16+ 单据 OCR，08-01 交付收尾）&lt;/Text&gt;&#10;      &lt;/Box&gt;&#10;      &lt;Box style={{ flex:1, background:'#F4F7FC', borderRadius:12, padding:'18px 22px', flexDirection:'column', gap:8 }}&gt;&#10;        &lt;Text style={{ fontSize:22, fontWeight:'bold', color:'#052B7C' }}&gt;Skill 抽象与复用&lt;/Text&gt;&#10;        &lt;Text style={{ fontSize:15, color:'#1A1A1A', lineHeight:1.5 }}&gt;· tax-refund-audit：审单流程抽象复用，交付财务&lt;/Text&gt;&#10;        &lt;Text style={{ fontSize:15, color:'#1A1A1A', lineHeight:1.5 }}&gt;· price-scraper：钩子培养采购自建 Skill&lt;/Text&gt;&#10;        &lt;Text style={{ fontSize:15, color:'#1A1A1A', lineHeight:1.5 }}&gt;与「建应用」并列的第二条交付路径&lt;/Text&gt;&#10;      &lt;/Box&gt;&#10;    &lt;/Box&gt;&#10;  &lt;/Box&gt;&#10;&#10;  &lt;Box style={{ position:'absolute', left:56, top:616, right:56, background:'#052B7C', borderRadius:8, padding:'10px 18px' }}&gt;&#10;    &lt;Text style={{ fontSize:16, color:'#FFFFFF', lineHeight:1.4 }}&gt;四条交付路径统一收口：自研应用（采购 / 船务 / 财务三件套）+ Skill 抽象复用，覆盖采购、船务、财务三部门；数据脱敏与 Tax_check 走本地 .exe 满足敏感数据不出境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5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4200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自研应用与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Skill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交付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·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融合总览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33400" y="11239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12954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采购分析助手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ProcurementAnalysis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42950" y="16287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数据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4472C4"/>
                </a:solidFill>
                <a:latin typeface="微软雅黑"/>
                <a:ea typeface="微软雅黑"/>
              </a:rPr>
              <a:t>15,227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条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品类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61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模块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5057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29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天交付采购部；看板看趋势、预警推异常、供应商横向比价，把「拍脑袋比价」变「看数据决策」。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181725" y="11239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391275" y="12954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船务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T/T </a:t>
            </a: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协议自动化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shipping-helper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391275" y="16287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单证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4472C4"/>
                </a:solidFill>
                <a:latin typeface="微软雅黑"/>
                <a:ea typeface="微软雅黑"/>
              </a:rPr>
              <a:t>4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类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HS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编码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389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进度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75" b="1">
                <a:solidFill>
                  <a:srgbClr val="1A1A1A"/>
                </a:solidFill>
                <a:latin typeface="微软雅黑"/>
                <a:ea typeface="微软雅黑"/>
              </a:rPr>
              <a:t>95%+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391275" y="1905000"/>
            <a:ext cx="5057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录入基础数据即生成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Booking/LOI/MSDS/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报关单证、自动算包装与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HS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PI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解析接入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DeepSeek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，把「人填」变「系统出」。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33400" y="35242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2950" y="36957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财务三件套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数据脱敏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.exe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12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法，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07-28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交付）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" y="436245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对账单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纯前端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HTML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（已交付，零部署）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42950" y="469582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Tax_check .exe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16+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单据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OCR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，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08-01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交付收尾）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181725" y="3524250"/>
            <a:ext cx="5476875" cy="2247900"/>
          </a:xfrm>
          <a:prstGeom prst="roundRect">
            <a:avLst>
              <a:gd name="adj" fmla="val 5085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391275" y="369570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Skill </a:t>
            </a: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抽象与复用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91275" y="402907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tax-refund-audit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：审单流程抽象复用，交付财务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91275" y="4362450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· price-scraper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：钩子培养采购自建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91275" y="4695825"/>
            <a:ext cx="5057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与「建应用」并列的第二条交付路径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33400" y="5867400"/>
            <a:ext cx="11125200" cy="447675"/>
          </a:xfrm>
          <a:prstGeom prst="roundRect">
            <a:avLst>
              <a:gd name="adj" fmla="val 17021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4850" y="5962650"/>
            <a:ext cx="1078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四条交付路径统一收口：自研应用（采购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船务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财务三件套）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+ Skill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抽象复用，覆盖采购、船务、财务三部门；数据脱敏与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Tax_check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走本地</a:t>
            </a:r>
            <a:r>
              <a:rPr lang="en-US" sz="1200">
                <a:solidFill>
                  <a:srgbClr val="FFFFFF"/>
                </a:solidFill>
                <a:latin typeface="微软雅黑"/>
                <a:ea typeface="微软雅黑"/>
              </a:rPr>
              <a:t> .exe </a:t>
            </a: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满足敏感数据不出境。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5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四、培训与推广&lt;/Text&gt;&#13;&#10;  &lt;/Box&gt;&#13;&#10;&#13;&#10;  &lt;Box style={{ position:'absolute', left:56, top:120, right:56 }}&gt;&#13;&#10;    &lt;Table&#13;&#10;      style={{ width:'100%', height:43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月份', textStyle:{bold:true,color:'#1A1A1A'}, cellStyle:{background:{color:'#DAE3F3'}}},&#13;&#10;          {text:'主导', textStyle:{bold:true,color:'#1A1A1A'}, cellStyle:{background:{color:'#DAE3F3'}}},&#13;&#10;          {text:'协助 / 参与', textStyle:{bold:true,color:'#1A1A1A'}, cellStyle:{background:{color:'#DAE3F3'}}},&#13;&#10;          {text:'主要培训主题', textStyle:{bold:true,color:'#1A1A1A',textAlign:'left'}, cellStyle:{background:{color:'#DAE3F3'}}} ],&#13;&#10;        [ '4 月', '1', '2', {text:'Claude Code + 前后端数据库组内培训(04-30)；协助研发部培训；协助采购部 OpenClaw 部署(04-24)', textStyle:{textAlign:'left'}} ],&#13;&#10;        [ '5 月', '1', '3', {text:'AI 小组软件开发流程培训 + 作业(05-08)；参与视频生成 / AI 培训助手 / PBC 培训', textStyle:{textAlign:'left'}} ],&#13;&#10;        [ '6 月', '3', '1', {text:'月度培训 ×2（AI 工具推荐 / AI 黑话扫盲）、总经办 mmxCode/codex 培训(06-05)；协助销售五部三合一(06-22)', textStyle:{textAlign:'left'}} ],&#13;&#10;        [ '7 月', '1', '0', {text:'船务部 shipping-helper 使用培训(07-24)', textStyle:{textAlign:'left'}} ],&#13;&#10;        [ {text:'合计', textStyle:{bold:true}, cellStyle:{background:{color:'#FCE4D6'}}},&#13;&#10;          {text:'6', textStyle:{bold:true}, cellStyle:{background:{color:'#FCE4D6'}}},&#13;&#10;          {text:'6', textStyle:{bold:true}, cellStyle:{background:{color:'#FCE4D6'}}},&#13;&#10;          {text:'12 场，覆盖采购 / 船务 / 销售五部 / 研发 / 总经办等多部门', textStyle:{bold:true,textAlign:'left'}, cellStyle:{background:{color:'#FCE4D6'}}} ],&#13;&#10;      ]}&#13;&#10;    /&gt;&#13;&#10;  &lt;/Box&gt;&#13;&#10;&#13;&#10;  &lt;Box style={{ position:'absolute', left:56, top:565, right:56 }}&gt;&#13;&#10;    &lt;Text style={{ fontSize:16, color:'#1A1A1A', lineHeight:1.5 }}&gt;推广与采纳驱动是交付物产生业务价值的「最后一公里」——培训不止「讲」，更含采纳驱动与内部宣推：06-22 销售五部三合一、07-24 船务部使用培训直接对应两个自研工具的上手落地；价格爬取 Skill 以「回采购培训」巩固自建能力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6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四、培训与推广</a:t>
            </a:r>
            <a:endParaRPr/>
          </a:p>
        </p:txBody>
      </p:sp>
      <p:graphicFrame>
        <p:nvGraphicFramePr>
          <p:cNvPr id="99" name=""/>
          <p:cNvGraphicFramePr/>
          <p:nvPr/>
        </p:nvGraphicFramePr>
        <p:xfrm rot="0" flipH="0" flipV="0">
          <a:off x="533400" y="1143000"/>
          <a:ext cx="11125200" cy="4095750"/>
        </p:xfrm>
        <a:graphic>
          <a:graphicData uri="http://schemas.openxmlformats.org/drawingml/2006/table">
            <a:tbl>
              <a:tblGrid>
                <a:gridCol w="468978">
                  <a:extLst>
                    <a:ext uri="{9D8B030D-6E8A-4147-A177-3AD203B41FA5}">
                      <a16:colId val="1"/>
                    </a:ext>
                  </a:extLst>
                </a:gridCol>
                <a:gridCol w="468978">
                  <a:extLst>
                    <a:ext uri="{9D8B030D-6E8A-4147-A177-3AD203B41FA5}">
                      <a16:colId val="2"/>
                    </a:ext>
                  </a:extLst>
                </a:gridCol>
                <a:gridCol w="1025593">
                  <a:extLst>
                    <a:ext uri="{9D8B030D-6E8A-4147-A177-3AD203B41FA5}">
                      <a16:colId val="3"/>
                    </a:ext>
                  </a:extLst>
                </a:gridCol>
                <a:gridCol w="916165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协助 / 参与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主要培训主题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Claude Code + 前后端数据库组内培训(04-30)；协助研发部培训；协助采购部 OpenClaw 部署(04-24)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AI 小组软件开发流程培训 + 作业(05-08)；参与视频生成 / AI 培训助手 / PBC 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月度培训 ×2（AI 工具推荐 / AI 黑话扫盲）、总经办 mmxCode/codex 培训(06-05)；协助销售五部三合一(06-22)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 shipping-helper 使用培训(07-24)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12 场，覆盖采购 / 船务 / 销售五部 / 研发 / 总经办等多部门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33400" y="5381625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推广与采纳驱动是交付物产生业务价值的「最后一公里」——培训不止「讲」，更含采纳驱动与内部宣推：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06-22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销售五部三合一、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07-24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船务部使用培训直接对应两个自研工具的上手落地；价格爬取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以「回采购培训」巩固自建能力。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3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五、宏昊AI助手 · 验收运营&lt;/Text&gt;&#13;&#10;  &lt;/Box&gt;&#13;&#10;&#13;&#10;  &lt;Box style={{ position:'absolute', left:56, top:130, right:56, flexDirection:'row', gap:22 }}&gt;&#13;&#10;    {[['37','平台验收项'],['19','问题反馈闭环'],['93.3%','6 月单月通过率']].map((c, i) =&gt; (&#13;&#10;      &lt;Box key={i} style={{ flex:1, background:'#F4F7FC', borderRadius:10, padding:'22px 18px', alignItems:'center' }}&gt;&#13;&#10;        &lt;Text style={{ fontSize:56, fontWeight:'bold', color:'#4472C4' }}&gt;{c[0]}&lt;/Text&gt;&#13;&#10;        &lt;Text style={{ fontSize:18, color:'#1A1A1A', marginTop:6 }}&gt;{c[1]}&lt;/Text&gt;&#13;&#10;      &lt;/Box&gt;&#13;&#10;    ))}&#13;&#10;  &lt;/Box&gt;&#13;&#10;&#13;&#10;  &lt;Box style={{ position:'absolute', left:56, top:300, right:56, background:'#052B7C', borderRadius:10, padding:'16px 22px' }}&gt;&#13;&#10;    &lt;Text style={{ fontSize:18, color:'#FFFFFF', lineHeight:1.5 }}&gt;入职以来 &lt;span style={{ fontWeight:'bold' }}&gt;37 项验收 + 19 项问题反馈闭环&lt;/span&gt;，6 月单月通过率 93.3% → 把「供应商交付」变「可度量、可追溯、有退回机制」的质量门槛。&lt;/Text&gt;&#13;&#10;  &lt;/Box&gt;&#13;&#10;&#13;&#10;  &lt;Box style={{ position:'absolute', left:56, top:400, right:56 }}&gt;&#13;&#10;    &lt;Table&#13;&#10;      style={{ width:'100%', height:23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周期', textStyle:{bold:true,color:'#1A1A1A'}, cellStyle:{background:{color:'#DAE3F3'}}},&#13;&#10;          {text:'验收产出', textStyle:{bold:true,color:'#1A1A1A'}, cellStyle:{background:{color:'#DAE3F3'}}},&#13;&#10;          {text:'问题反馈', textStyle:{bold:true,color:'#1A1A1A'}, cellStyle:{background:{color:'#DAE3F3'}}},&#13;&#10;          {text:'通过情况', textStyle:{bold:true,color:'#1A1A1A'}, cellStyle:{background:{color:'#DAE3F3'}}} ],&#13;&#10;        [ '4 月', '3 测试 + 2 验收（5 项）', '4', '—' ],&#13;&#10;        [ '5 月', '9 项测试验收', '3', '—' ],&#13;&#10;        [ '6 月', '15 用例（5 批次）', '8', {text:'14/15 通过（93.3%）', textStyle:{bold:true,color:'#4472C4'}} ],&#13;&#10;        [ '7 月（2607）', '5 轮验收（8 项）', '4', '—' ],&#13;&#10;      ]}&#13;&#10;    /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7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五、宏昊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助手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·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验收运营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9812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895475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531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19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581650" y="21526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问题反馈闭环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63025" y="1447800"/>
            <a:ext cx="1828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93.3%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286875" y="2152650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月单月通过率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33400" y="2857500"/>
            <a:ext cx="11125200" cy="619125"/>
          </a:xfrm>
          <a:prstGeom prst="roundRect">
            <a:avLst>
              <a:gd name="adj" fmla="val 15385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1070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37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项验收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 + 19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项问题反馈闭环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月单月通过率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93.3% →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把「供应商交付」变「可度量、可追溯、有退回机制」的质量门槛。</a:t>
            </a:r>
            <a:endParaRPr/>
          </a:p>
        </p:txBody>
      </p:sp>
      <p:graphicFrame>
        <p:nvGraphicFramePr>
          <p:cNvPr id="118" name=""/>
          <p:cNvGraphicFramePr/>
          <p:nvPr/>
        </p:nvGraphicFramePr>
        <p:xfrm rot="0" flipH="0" flipV="0">
          <a:off x="533400" y="3810000"/>
          <a:ext cx="11125200" cy="2190750"/>
        </p:xfrm>
        <a:graphic>
          <a:graphicData uri="http://schemas.openxmlformats.org/drawingml/2006/table">
            <a:tbl>
              <a:tblGrid>
                <a:gridCol w="2249357">
                  <a:extLst>
                    <a:ext uri="{9D8B030D-6E8A-4147-A177-3AD203B41FA5}">
                      <a16:colId val="1"/>
                    </a:ext>
                  </a:extLst>
                </a:gridCol>
                <a:gridCol w="3790905">
                  <a:extLst>
                    <a:ext uri="{9D8B030D-6E8A-4147-A177-3AD203B41FA5}">
                      <a16:colId val="2"/>
                    </a:ext>
                  </a:extLst>
                </a:gridCol>
                <a:gridCol w="1511151">
                  <a:extLst>
                    <a:ext uri="{9D8B030D-6E8A-4147-A177-3AD203B41FA5}">
                      <a16:colId val="3"/>
                    </a:ext>
                  </a:extLst>
                </a:gridCol>
                <a:gridCol w="357378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验收产出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问题反馈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通过情况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测试 + 2 验收（5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 项测试验收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15 用例（5 批次）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4472C4"/>
                          </a:solidFill>
                          <a:latin typeface="Microsoft YaHei"/>
                          <a:ea typeface="Microsoft YaHei"/>
                        </a:rPr>
                        <a:t>14/15 通过（93.3%）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月（2607）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轮验收（8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21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五、智能体矩阵与内容生成&lt;/Text&gt;&#13;&#10;  &lt;/Box&gt;&#13;&#10;&#13;&#10;  &lt;Box style={{ position:'absolute', left:56, top:120, right:56 }}&gt;&#13;&#10;    &lt;Table&#13;&#10;      style={{ width:'100%', height:440 }}&#13;&#10;      defaultTextStyle={{ fontSize:15, textAlign:'center', color:'#1A1A1A' }}&#13;&#10;      defaultCellStyle={{ border:{ left:{width:1,color:'#CCCCCC'}, right:{width:1,color:'#CCCCCC'}, top:{width:1,color:'#CCCCCC'}, bottom:{width:1,color:'#CCCCCC'} } }}&#13;&#10;      cells={[&#13;&#10;        [ {text:'智能体', textStyle:{bold:true,color:'#1A1A1A'}, cellStyle:{background:{color:'#DAE3F3'}}},&#13;&#10;          {text:'面向', textStyle:{bold:true,color:'#1A1A1A'}, cellStyle:{background:{color:'#DAE3F3'}}},&#13;&#10;          {text:'知识规模', textStyle:{bold:true,color:'#1A1A1A'}, cellStyle:{background:{color:'#DAE3F3'}}},&#13;&#10;          {text:'结构规模', textStyle:{bold:true,color:'#1A1A1A'}, cellStyle:{background:{color:'#DAE3F3'}}},&#13;&#10;          {text:'状态', textStyle:{bold:true,color:'#1A1A1A'}, cellStyle:{background:{color:'#DAE3F3'}}},&#13;&#10;          {text:'核心价值', textStyle:{bold:true,color:'#1A1A1A',textAlign:'left'}, cellStyle:{background:{color:'#DAE3F3'}}} ],&#13;&#10;        [ '说明书助手', '销售 / 业务', 'TDS 产品库', '6 模式 / 16 节提示词', '已上线', {text:'TDS 咨询秒级应答、选型有据不误导客户', textStyle:{textAlign:'left'}} ],&#13;&#10;        [ '销售 SOP / 全能助手', '销售', '7 份 SOP 源文件', '6 场景触发', '已上线', {text:'销售动作标准化、话术统一、新人即上手', textStyle:{textAlign:'left'}} ],&#13;&#10;        [ '业务智能助理', '营销中心 / 业务', 'SKILL.md + templates + role', '3 阶段 / 4 岗位自适应', {text:'迭代中 v5', textStyle:{color:'#C0504D',bold:true}}, {text:'客户问题全流程 AI 化 + 合规红线校验', textStyle:{textAlign:'left'}} ],&#13;&#10;        [ '应用工艺助手', '研发为主 + 业务', '工艺手册 + 研发培训', '20+ 疵病排查', '已上线', {text:'染整专业问答、客户质疑标准答案', textStyle:{textAlign:'left'}} ],&#13;&#10;      ]}&#13;&#10;    /&gt;&#13;&#10;  &lt;/Box&gt;&#13;&#10;&#13;&#10;  &lt;Box style={{ position:'absolute', left:56, top:568, right:56 }}&gt;&#13;&#10;    &lt;Text style={{ fontSize:16, color:'#1A1A1A', lineHeight:1.5 }}&gt;另有「培训助手」「视频 / 图片生成助手」等能力，构成平台智能体矩阵；06-12 提出 seedance/seedream 独立化诉求，07-14 图片 · 视频生成独立应用落地（营销 / 销售自助生产素材）。&lt;/Text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8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五、智能体矩阵与内容生成</a:t>
            </a:r>
            <a:endParaRPr/>
          </a:p>
        </p:txBody>
      </p:sp>
      <p:graphicFrame>
        <p:nvGraphicFramePr>
          <p:cNvPr id="125" name=""/>
          <p:cNvGraphicFramePr/>
          <p:nvPr/>
        </p:nvGraphicFramePr>
        <p:xfrm rot="0" flipH="0" flipV="0">
          <a:off x="533400" y="1143000"/>
          <a:ext cx="11125200" cy="4191000"/>
        </p:xfrm>
        <a:graphic>
          <a:graphicData uri="http://schemas.openxmlformats.org/drawingml/2006/table">
            <a:tbl>
              <a:tblGrid>
                <a:gridCol w="1661671">
                  <a:extLst>
                    <a:ext uri="{9D8B030D-6E8A-4147-A177-3AD203B41FA5}">
                      <a16:colId val="1"/>
                    </a:ext>
                  </a:extLst>
                </a:gridCol>
                <a:gridCol w="1339556">
                  <a:extLst>
                    <a:ext uri="{9D8B030D-6E8A-4147-A177-3AD203B41FA5}">
                      <a16:colId val="2"/>
                    </a:ext>
                  </a:extLst>
                </a:gridCol>
                <a:gridCol w="2372547">
                  <a:extLst>
                    <a:ext uri="{9D8B030D-6E8A-4147-A177-3AD203B41FA5}">
                      <a16:colId val="3"/>
                    </a:ext>
                  </a:extLst>
                </a:gridCol>
                <a:gridCol w="1739423">
                  <a:extLst>
                    <a:ext uri="{9D8B030D-6E8A-4147-A177-3AD203B41FA5}">
                      <a16:colId val="4"/>
                    </a:ext>
                  </a:extLst>
                </a:gridCol>
                <a:gridCol w="861936">
                  <a:extLst>
                    <a:ext uri="{9D8B030D-6E8A-4147-A177-3AD203B41FA5}">
                      <a16:colId val="5"/>
                    </a:ext>
                  </a:extLst>
                </a:gridCol>
                <a:gridCol w="315006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智能体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面向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知识规模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结构规模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核心价值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说明书助手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产品库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模式 / 16 节提示词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咨询秒级应答、选型有据不误导客户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SOP / 全能助手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份 SOP 源文件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场景触发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销售动作标准化、话术统一、新人即上手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业务智能助理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营销中心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SKILL.md + templates + role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阶段 / 4 岗位自适应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C0504D"/>
                          </a:solidFill>
                          <a:latin typeface="Microsoft YaHei"/>
                          <a:ea typeface="Microsoft YaHei"/>
                        </a:rPr>
                        <a:t>迭代中 v5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客户问题全流程 AI 化 + 合规红线校验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应用工艺助手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研发为主 +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工艺手册 + 研发培训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20+ 疵病排查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染整专业问答、客户质疑标准答案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33400" y="54102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另有「培训助手」「视频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图片生成助手」等能力，构成平台智能体矩阵；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06-12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提出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seedance/seedream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独立化诉求，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07-14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视频生成独立应用落地（营销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销售自助生产素材）。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'1280px', height:'720px', position:'relative', background:'#FFFFFF', fontFamily:'微软雅黑' }}&gt;&#13;&#10;  &lt;Box style={{ position:'absolute', left:56, top:36, flexDirection:'row', alignItems:'center', gap:12 }}&gt;&#13;&#10;    &lt;Box style={{ width:8, height:34, background:'#4472C4' }} /&gt;&#13;&#10;    &lt;Text style={{ fontSize:30, fontWeight:'bold', color:'#052B7C' }}&gt;六、下阶段计划与需支持事项&lt;/Text&gt;&#13;&#10;  &lt;/Box&gt;&#13;&#10;&#13;&#10;  &lt;Box style={{ position:'absolute', left:56, top:130, right:56, flexDirection:'row', gap:36 }}&gt;&#13;&#10;    &lt;Box style={{ flex:1.4, flexDirection:'column', gap:14 }}&gt;&#13;&#10;      &lt;Text style={{ fontSize:20, fontWeight:'bold', color:'#052B7C' }}&gt;下阶段计划&lt;/Text&gt;&#13;&#10;      {['业务智能助理上线前完成检索稳定性测试，沉淀为营销中心标准智能体','推动供应商修复待解项（图片变视频范围、竖屏不支持）','建立工具活跃度 / 采纳率轻量看板','补采采购 / 船务「节省工时」量化，用于增量价值申报','Tax_check / Data_masking 持续运营深化','价格爬取 Skill 回采购培训，巩固「自建 Skill」能力'].map((t, i) =&gt; (&#13;&#10;        &lt;Box key={i} style={{ flexDirection:'row', alignItems:'flex-start', gap:12 }}&gt;&#13;&#10;          &lt;Box style={{ width:8, height:8, background:'#4472C4', borderRadius:2, marginTop:8 }} /&gt;&#13;&#10;          &lt;Text style={{ fontSize:16, color:'#1A1A1A', lineHeight:1.5 }}&gt;{t}&lt;/Text&gt;&#13;&#10;        &lt;/Box&gt;&#13;&#10;      ))}&#13;&#10;    &lt;/Box&gt;&#13;&#10;&#13;&#10;    &lt;Box style={{ flex:1, flexDirection:'column', gap:14 }}&gt;&#13;&#10;      &lt;Text style={{ fontSize:20, fontWeight:'bold', color:'#C0504D' }}&gt;需支持事项&lt;/Text&gt;&#13;&#10;      {['业务智能助理检索测试需营销中心提供真实客户问题样本','待解项修复依赖供应商排期，需领导推动优先级','工时量化需业务方配合记录使用前后耗时','采纳率看板需 IT / 数据侧轻量支持'].map((t, i) =&gt; (&#13;&#10;        &lt;Box key={i} style={{ flexDirection:'row', alignItems:'flex-start', gap:12 }}&gt;&#13;&#10;          &lt;Box style={{ width:8, height:8, background:'#C0504D', borderRadius:2, marginTop:8 }} /&gt;&#13;&#10;          &lt;Text style={{ fontSize:16, color:'#1A1A1A', lineHeight:1.5 }}&gt;{t}&lt;/Text&gt;&#13;&#10;        &lt;/Box&gt;&#13;&#10;      ))}&#13;&#10;    &lt;/Box&gt;&#13;&#10;  &lt;/Box&gt;&#13;&#10;&#13;&#10;  &lt;Box style={{ position:'absolute', left:56, top:668, right:56, flexDirection:'row', justifyContent:'space-between' }}&gt;&#13;&#10;    &lt;Text style={{ fontSize:14, color:'#888' }}&gt;入职以来 AI 工作复盘&lt;/Text&gt;&#13;&#10;    &lt;Text style={{ fontSize:14, color:'#888' }}&gt;09 / 1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六、下阶段计划与需支持事项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52B7C"/>
                </a:solidFill>
                <a:latin typeface="微软雅黑"/>
                <a:ea typeface="微软雅黑"/>
              </a:rPr>
              <a:t>下阶段计划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334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23900" y="1600200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业务智能助理上线前完成检索稳定性测试，沉淀为营销中心标准智能体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334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3900" y="20097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推动供应商修复待解项（图片变视频范围、竖屏不支持）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建立工具活跃度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采纳率轻量看板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334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23900" y="2828925"/>
            <a:ext cx="3667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补采采购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船务「节省工时」量化，用于增量价值申报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33400" y="3314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23900" y="3238500"/>
            <a:ext cx="276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Tax_check / Data_masking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持续运营深化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3724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3419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回采购培训，巩固「自建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」能力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0504D"/>
                </a:solidFill>
                <a:latin typeface="微软雅黑"/>
                <a:ea typeface="微软雅黑"/>
              </a:rPr>
              <a:t>需支持事项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1628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353300" y="16002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业务智能助理检索测试需营销中心提供真实客户问题样本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1628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353300" y="20097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待解项修复依赖供应商排期，需领导推动优先级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1628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353300" y="24193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工时量化需业务方配合记录使用前后耗时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1628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353300" y="2828925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采纳率看板需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IT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数据侧轻量支持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'1280px', height:'720px', position:'relative', background:'#FFFFFF', fontFamily:'微软雅黑' }}&gt;&#10;  &lt;Box style={{ position:'absolute', left:0, top:300, width:1280, height:230, background:'#4472C4', justifyContent:'center', alignItems:'center' }}&gt;&#10;    &lt;Text style={{ fontSize:56, fontWeight:'bold', color:'#FFFFFF' }}&gt;汇报完毕！&lt;/Text&gt;&#10;    &lt;Text style={{ fontSize:26, color:'#FFFFFF', marginTop:16 }}&gt;没有绩效，一切无效&lt;/Text&gt;&#10;  &lt;/Box&gt;&#10;&#10;  &lt;Box style={{ position:'absolute', left:80, top:12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762500" y="3400425"/>
            <a:ext cx="2667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汇报完毕！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981575" y="42005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微软雅黑"/>
                <a:ea typeface="微软雅黑"/>
              </a:rPr>
              <a:t>没有绩效，一切无效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62000" y="122872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333500" y="11430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2026-08-18T09:23:24Z</dcterms:created>
  <dcterms:modified xsi:type="dcterms:W3CDTF">2026-08-18T09:23:24Z</dcterms:modified>
</cp:coreProperties>
</file>