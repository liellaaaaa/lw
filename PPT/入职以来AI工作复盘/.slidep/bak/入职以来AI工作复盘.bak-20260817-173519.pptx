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slides/slide12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8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1" Type="http://schemas.openxmlformats.org/package/2006/relationships/metadata/core-properties" Target="docProps/core.xml" /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14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1" Type="http://schemas.openxmlformats.org/officeDocument/2006/relationships/slide" Target="slides/slide11.xml" /><Relationship Id="rId15" Type="http://schemas.openxmlformats.org/officeDocument/2006/relationships/presProps" Target="presProps.xml" /><Relationship Id="rId12" Type="http://schemas.openxmlformats.org/officeDocument/2006/relationships/slide" Target="slides/slide12.xml" /><Relationship Id="rId10" Type="http://schemas.openxmlformats.org/officeDocument/2006/relationships/slide" Target="slides/slide10.xml" /><Relationship Id="rId13" Type="http://schemas.openxmlformats.org/officeDocument/2006/relationships/slide" Target="slides/slide13.xml" /><Relationship Id="rId14" Type="http://schemas.openxmlformats.org/officeDocument/2006/relationships/notesMaster" Target="notesMasters/notesMaster1.xml" /><Relationship Id="rId4" Type="http://schemas.openxmlformats.org/officeDocument/2006/relationships/slide" Target="slides/slide4.xml" /><Relationship Id="rId16" Type="http://schemas.openxmlformats.org/officeDocument/2006/relationships/tableStyles" Target="tableStyles.xml" /><Relationship Id="rId17" Type="http://schemas.openxmlformats.org/officeDocument/2006/relationships/viewProps" Target="viewProps.xml" /><Relationship Id="rId2" Type="http://schemas.openxmlformats.org/officeDocument/2006/relationships/slide" Target="slides/slide2.xml" /><Relationship Id="rId8" Type="http://schemas.openxmlformats.org/officeDocument/2006/relationships/slide" Target="slides/slide8.xml" /><Relationship Id="rId3" Type="http://schemas.openxmlformats.org/officeDocument/2006/relationships/slide" Target="slides/slide3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9" Type="http://schemas.openxmlformats.org/officeDocument/2006/relationships/slide" Target="slides/slide9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'1280px', height:'720px', position:'relative', background:'#FFFFFF', fontFamily:'微软雅黑' }}&gt;&#10;  &lt;Box style={{ position:'absolute', left:80, top:11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0, top:300, width:1280, height:230, background:'#4472C4', justifyContent:'center', alignItems:'center' }}&gt;&#10;    &lt;Text style={{ fontSize:52, fontWeight:'bold', color:'#FFFFFF' }}&gt;入职以来 AI 应用交付复盘&lt;/Text&gt;&#10;    &lt;Text style={{ fontSize:22, color:'#FFFFFF', marginTop:14 }}&gt;月度经营分析会汇报 · AI 技术专员工作复盘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62000" y="113347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" name="" descr="{&quot;isTemplate&quot;:true,&quot;type&quot;:&quot;text&quot;}"/>
          <p:cNvSpPr txBox="1"/>
          <p:nvPr/>
        </p:nvSpPr>
        <p:spPr>
          <a:xfrm rot="0" flipH="0" flipV="0">
            <a:off x="1333500" y="104775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5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3181350" y="3457575"/>
            <a:ext cx="5829300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3900" b="1">
                <a:solidFill>
                  <a:srgbClr val="FFFFFF"/>
                </a:solidFill>
                <a:latin typeface="微软雅黑"/>
                <a:ea typeface="微软雅黑"/>
              </a:rPr>
              <a:t> AI </a:t>
            </a:r>
            <a:r>
              <a:rPr lang="zh-CN" sz="3900" b="1">
                <a:solidFill>
                  <a:srgbClr val="FFFFFF"/>
                </a:solidFill>
                <a:latin typeface="微软雅黑"/>
                <a:ea typeface="微软雅黑"/>
              </a:rPr>
              <a:t>应用交付复盘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4076700" y="4191000"/>
            <a:ext cx="40386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月度经营分析会汇报</a:t>
            </a:r>
            <a:r>
              <a:rPr lang="en-US" sz="1650">
                <a:solidFill>
                  <a:srgbClr val="FFFFFF"/>
                </a:solidFill>
                <a:latin typeface="微软雅黑"/>
                <a:ea typeface="微软雅黑"/>
              </a:rPr>
              <a:t> · AI </a:t>
            </a:r>
            <a:r>
              <a:rPr lang="zh-CN" sz="1650">
                <a:solidFill>
                  <a:srgbClr val="FFFFFF"/>
                </a:solidFill>
                <a:latin typeface="微软雅黑"/>
                <a:ea typeface="微软雅黑"/>
              </a:rPr>
              <a:t>技术专员工作复盘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77" name="" descr="&lt;Slide style={{ width:'1280px', height:'720px', position:'relative', background:'#FFFFFF', fontFamily:'微软雅黑' }}&gt;&#10;  &lt;Box style={{ position:'absolute', left:56, top:80, right:56, flexDirection:'row', gap:48, height:520, alignItems:'center' }}&gt;&#10;    &lt;Box style={{ width:300, justifyContent:'center' }}&gt;&#10;      &lt;Text style={{ fontSize:54, fontWeight:'bold', color:'#2F5597' }}&gt;目录&lt;/Text&gt;&#10;      &lt;Text style={{ fontSize:24, color:'#2F5597', marginTop:8, letterSpacing:4 }}&gt;CONTENTS&lt;/Text&gt;&#10;    &lt;/Box&gt;&#10;    &lt;Box style={{ width:2, height:300, background:'#4472C4' }} /&gt;&#10;    &lt;Box style={{ flex:1, flexDirection:'column', gap:20, justifyContent:'center' }}&gt;&#10;      {['一、工作概览与量化总览','二、内部工作：自研应用交付','三、内部工作：Skill 抽象与复用','四、内部工作：培训与推广','五、外部工作：宏昊AI助手平台','六、下阶段计划与需支持事项'].map((t, i) =&gt; (&#10;        &lt;Text key={i} style={{ fontSize:24, fontWeight:'bold', color:'#1A1A1A' }}&gt;{t}&lt;/Text&gt;&#10;      ))}&#10;    &lt;/Box&gt;&#10;  &lt;/Box&gt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533400" y="2752725"/>
            <a:ext cx="2857500" cy="6191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050" b="1">
                <a:solidFill>
                  <a:srgbClr val="2F5597"/>
                </a:solidFill>
                <a:latin typeface="微软雅黑"/>
                <a:ea typeface="微软雅黑"/>
              </a:rPr>
              <a:t>目录</a:t>
            </a:r>
            <a:endParaRPr/>
          </a:p>
        </p:txBody>
      </p:sp>
      <p:sp>
        <p:nvSpPr>
          <p:cNvPr id="80" name="" descr="{&quot;isTemplate&quot;:true,&quot;type&quot;:&quot;text&quot;}"/>
          <p:cNvSpPr txBox="1"/>
          <p:nvPr/>
        </p:nvSpPr>
        <p:spPr>
          <a:xfrm rot="0" flipH="0" flipV="0">
            <a:off x="533400" y="3448050"/>
            <a:ext cx="285750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800" spc="300">
                <a:solidFill>
                  <a:srgbClr val="2F5597"/>
                </a:solidFill>
                <a:latin typeface="微软雅黑"/>
                <a:ea typeface="微软雅黑"/>
              </a:rPr>
              <a:t>CONTENTS</a:t>
            </a:r>
            <a:endParaRPr/>
          </a:p>
        </p:txBody>
      </p:sp>
      <p:sp>
        <p:nvSpPr>
          <p:cNvPr id="81" name=""/>
          <p:cNvSpPr/>
          <p:nvPr/>
        </p:nvSpPr>
        <p:spPr>
          <a:xfrm rot="0" flipH="0" flipV="0">
            <a:off x="3848100" y="1809750"/>
            <a:ext cx="19050" cy="285750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4324350" y="193357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324350" y="24003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二、内部工作：自研应用交付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324350" y="286702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三、内部工作：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Skill 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抽象与复用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324350" y="333375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四、内部工作：培训与推广</a:t>
            </a:r>
            <a:endParaRPr/>
          </a:p>
        </p:txBody>
      </p:sp>
      <p:sp>
        <p:nvSpPr>
          <p:cNvPr id="86" name="" descr="{&quot;isTemplate&quot;:true,&quot;type&quot;:&quot;text&quot;}"/>
          <p:cNvSpPr txBox="1"/>
          <p:nvPr/>
        </p:nvSpPr>
        <p:spPr>
          <a:xfrm rot="0" flipH="0" flipV="0">
            <a:off x="4324350" y="3800475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五、外部工作：宏昊</a:t>
            </a:r>
            <a:r>
              <a:rPr lang="en-US" sz="1800" b="1">
                <a:solidFill>
                  <a:srgbClr val="1A1A1A"/>
                </a:solidFill>
                <a:latin typeface="微软雅黑"/>
                <a:ea typeface="微软雅黑"/>
              </a:rPr>
              <a:t>AI</a:t>
            </a: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助手平台</a:t>
            </a:r>
            <a:endParaRPr/>
          </a:p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4324350" y="4267200"/>
            <a:ext cx="733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1A1A1A"/>
                </a:solidFill>
                <a:latin typeface="微软雅黑"/>
                <a:ea typeface="微软雅黑"/>
              </a:rPr>
              <a:t>六、下阶段计划与需支持事项</a:t>
            </a:r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02 / 13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90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一、工作概览与量化总览&lt;/Text&gt;&#10;  &lt;/Box&gt;&#10;&#10;  &lt;Box style={{ position:'absolute', left:56, top:130, right:56, flexDirection:'column', gap:22 }}&gt;&#10;    &lt;Box style={{ flexDirection:'row', gap:22 }}&gt;&#10;      {[['5','自研应用 / 工具'],['2','复用 Skill'],['4','业务智能体']].map((c, i) =&gt; (&#10;        &lt;Box key={i} style={{ flex:1, background:'#F4F7FC', borderRadius:10, padding:'22px 18px', alignItems:'center' }}&gt;&#10;          &lt;Text style={{ fontSize:56, fontWeight:'bold', color:'#4472C4' }}&gt;{c[0]}&lt;/Text&gt;&#10;          &lt;Text style={{ fontSize:18, color:'#1A1A1A', marginTop:6 }}&gt;{c[1]}&lt;/Text&gt;&#10;        &lt;/Box&gt;&#10;      ))}&#10;    &lt;/Box&gt;&#10;    &lt;Box style={{ flexDirection:'row', gap:22 }}&gt;&#10;      {[['37','平台验收项'],['12','培训场次'],['7','覆盖部门']].map((c, i) =&gt; (&#10;        &lt;Box key={i} style={{ flex:1, background:'#F4F7FC', borderRadius:10, padding:'22px 18px', alignItems:'center' }}&gt;&#10;          &lt;Text style={{ fontSize:56, fontWeight:'bold', color:'#4472C4' }}&gt;{c[0]}&lt;/Text&gt;&#10;          &lt;Text style={{ fontSize:18, color:'#1A1A1A', marginTop:6 }}&gt;{c[1]}&lt;/Text&gt;&#10;        &lt;/Box&gt;&#10;      ))}&#10;    &lt;/Box&gt;&#10;  &lt;/Box&gt;&#10;&#10;  &lt;Box style={{ position:'absolute', left:56, top:560, right:56, background:'#052B7C', borderRadius:10, padding:'16px 22px' }}&gt;&#10;    &lt;Text style={{ fontSize:18, color:'#FFFFFF', lineHeight:1.5 }}&gt;入职 3.5 个月，从 0 搭起「自研工具 + 复用 Skill + 平台验收运营 + 培训推广」完整交付体系，覆盖采购 / 船务 / 财务 / 销售 / 研发 / 营销 6 类业务方；交付快（自研平均 ~25 天）、持续迭代（110+ 条代码）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3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92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143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一、工作概览与量化总览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21526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5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1714500" y="2152650"/>
            <a:ext cx="120967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自研应用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工具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98" name="" descr="{&quot;isTemplate&quot;:true,&quot;type&quot;:&quot;text&quot;}"/>
          <p:cNvSpPr txBox="1"/>
          <p:nvPr/>
        </p:nvSpPr>
        <p:spPr>
          <a:xfrm rot="0" flipH="0" flipV="0">
            <a:off x="5924550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2</a:t>
            </a:r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5743575" y="2152650"/>
            <a:ext cx="7048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9705975" y="144780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4</a:t>
            </a:r>
            <a:endParaRPr/>
          </a:p>
        </p:txBody>
      </p:sp>
      <p:sp>
        <p:nvSpPr>
          <p:cNvPr id="102" name="" descr="{&quot;isTemplate&quot;:true,&quot;type&quot;:&quot;text&quot;}"/>
          <p:cNvSpPr txBox="1"/>
          <p:nvPr/>
        </p:nvSpPr>
        <p:spPr>
          <a:xfrm rot="0" flipH="0" flipV="0">
            <a:off x="9448800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业务智能体</a:t>
            </a:r>
            <a:endParaRPr/>
          </a:p>
        </p:txBody>
      </p:sp>
      <p:sp>
        <p:nvSpPr>
          <p:cNvPr id="103" name=""/>
          <p:cNvSpPr/>
          <p:nvPr/>
        </p:nvSpPr>
        <p:spPr>
          <a:xfrm rot="0" flipH="0" flipV="0">
            <a:off x="533400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19812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1895475" y="369570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4314825" y="278130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5753100" y="299085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12</a:t>
            </a:r>
            <a:endParaRPr/>
          </a:p>
        </p:txBody>
      </p:sp>
      <p:sp>
        <p:nvSpPr>
          <p:cNvPr id="108" name="" descr="{&quot;isTemplate&quot;:true,&quot;type&quot;:&quot;text&quot;}"/>
          <p:cNvSpPr txBox="1"/>
          <p:nvPr/>
        </p:nvSpPr>
        <p:spPr>
          <a:xfrm rot="0" flipH="0" flipV="0">
            <a:off x="5753100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培训场次</a:t>
            </a:r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086725" y="278130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9705975" y="2990850"/>
            <a:ext cx="3429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9534525" y="36957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覆盖部门</a:t>
            </a:r>
            <a:endParaRPr/>
          </a:p>
        </p:txBody>
      </p:sp>
      <p:sp>
        <p:nvSpPr>
          <p:cNvPr id="112" name=""/>
          <p:cNvSpPr/>
          <p:nvPr/>
        </p:nvSpPr>
        <p:spPr>
          <a:xfrm rot="0" flipH="0" flipV="0">
            <a:off x="533400" y="5334000"/>
            <a:ext cx="11125200" cy="923925"/>
          </a:xfrm>
          <a:prstGeom prst="roundRect">
            <a:avLst>
              <a:gd name="adj" fmla="val 10309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113" name="" descr="{&quot;isTemplate&quot;:true,&quot;type&quot;:&quot;text&quot;}"/>
          <p:cNvSpPr txBox="1"/>
          <p:nvPr/>
        </p:nvSpPr>
        <p:spPr>
          <a:xfrm rot="0" flipH="0" flipV="0">
            <a:off x="742950" y="5486400"/>
            <a:ext cx="10706100" cy="6191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3.5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个月，从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0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搭起「自研工具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复用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Skill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平台验收运营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培训推广」完整交付体系，覆盖采购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船务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财务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销售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研发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营销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类业务方；交付快（自研平均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~25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天）、持续迭代（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110+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条代码）。</a:t>
            </a:r>
            <a:endParaRPr/>
          </a:p>
        </p:txBody>
      </p:sp>
      <p:sp>
        <p:nvSpPr>
          <p:cNvPr id="114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03 / 13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16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二、自研应用交付总览&lt;/Text&gt;&#10;  &lt;/Box&gt;&#10;&#10;  &lt;Box style={{ position:'absolute', left:56, top:120, right:56 }}&gt;&#10;    &lt;Table&#10;      style={{ width:'100%', height:420 }}&#10;      defaultTextStyle={{ fontSize:15, textAlign:'center', color:'#1A1A1A' }}&#10;      defaultCellStyle={{ border:{ left:{width:1,color:'#CCCCCC'}, right:{width:1,color:'#CCCCCC'}, top:{width:1,color:'#CCCCCC'}, bottom:{width:1,color:'#CCCCCC'} } }}&#10;      cells={[&#10;        [ {text:'应用 / 工具', textStyle:{bold:true,color:'#1A1A1A'}, cellStyle:{background:{color:'#DAE3F3'}}},&#10;          {text:'交付时间', textStyle:{bold:true,color:'#1A1A1A'}, cellStyle:{background:{color:'#DAE3F3'}}},&#10;          {text:'形态', textStyle:{bold:true,color:'#1A1A1A'}, cellStyle:{background:{color:'#DAE3F3'}}},&#10;          {text:'主要对象', textStyle:{bold:true,color:'#1A1A1A'}, cellStyle:{background:{color:'#DAE3F3'}}},&#10;          {text:'当前状态', textStyle:{bold:true,color:'#1A1A1A'}, cellStyle:{background:{color:'#DAE3F3'}}} ],&#10;        ['采购分析助手','05-29','前后端 Web','采购部','维护中（至 07-30）'],&#10;        ['船务 T/T 协议自动化','06-22','前后端 Web','船务部','95%+ 试用'],&#10;        ['数据脱敏 Data_masking','07-28','桌面 .exe','财务部','长期优化'],&#10;        ['对账单','已交付','纯前端 HTML','财务部','已交付'],&#10;        ['Tax_check 退税审单','08-01','桌面 .exe','财务部','已交付运营（收尾）'],&#10;      ]}&#10;    /&gt;&#10;  &lt;/Box&gt;&#10;&#10;  &lt;Box style={{ position:'absolute', left:56, top:560, right:56 }}&gt;&#10;    &lt;Text style={{ fontSize:16, color:'#1A1A1A', lineHeight:1.5 }}&gt;自研平均 &lt;span style={{ fontWeight:'bold', color:'#4472C4' }}&gt;~25 天&lt;/span&gt; 交付；含 1 次 PyQt5→Web 重构（05-27）、2 次架构级重构（采购 06-27、船务 08-01 JSON→SQLite）；110+ 条代码迭代。MSDS 中英文双语生成内嵌于船务助手，不作独立交付项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4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18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19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8575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二、自研应用交付总览</a:t>
            </a:r>
            <a:endParaRPr/>
          </a:p>
        </p:txBody>
      </p:sp>
      <p:graphicFrame>
        <p:nvGraphicFramePr>
          <p:cNvPr id="120" name=""/>
          <p:cNvGraphicFramePr/>
          <p:nvPr/>
        </p:nvGraphicFramePr>
        <p:xfrm rot="0" flipH="0" flipV="0">
          <a:off x="533400" y="1143000"/>
          <a:ext cx="11125200" cy="4000500"/>
        </p:xfrm>
        <a:graphic>
          <a:graphicData uri="http://schemas.openxmlformats.org/drawingml/2006/table">
            <a:tbl>
              <a:tblGrid>
                <a:gridCol w="3469956">
                  <a:extLst>
                    <a:ext uri="{9D8B030D-6E8A-4147-A177-3AD203B41FA5}">
                      <a16:colId val="1"/>
                    </a:ext>
                  </a:extLst>
                </a:gridCol>
                <a:gridCol w="1375336">
                  <a:extLst>
                    <a:ext uri="{9D8B030D-6E8A-4147-A177-3AD203B41FA5}">
                      <a16:colId val="2"/>
                    </a:ext>
                  </a:extLst>
                </a:gridCol>
                <a:gridCol w="2007674">
                  <a:extLst>
                    <a:ext uri="{9D8B030D-6E8A-4147-A177-3AD203B41FA5}">
                      <a16:colId val="3"/>
                    </a:ext>
                  </a:extLst>
                </a:gridCol>
                <a:gridCol w="1375336">
                  <a:extLst>
                    <a:ext uri="{9D8B030D-6E8A-4147-A177-3AD203B41FA5}">
                      <a16:colId val="4"/>
                    </a:ext>
                  </a:extLst>
                </a:gridCol>
                <a:gridCol w="2896899">
                  <a:extLst>
                    <a:ext uri="{9D8B030D-6E8A-4147-A177-3AD203B41FA5}">
                      <a16:colId val="5"/>
                    </a:ext>
                  </a:extLst>
                </a:gridCol>
              </a:tblGrid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 / 工具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交付时间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形态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主要对象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当前状态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采购分析助手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05-29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采购部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维护中（至 07-30）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 T/T 协议自动化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06-22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前后端 Web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95%+ 试用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数据脱敏 Data_masking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07-28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长期优化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对账单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纯前端 HTML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667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Tax_check 退税审单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08-01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桌面 .exe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财务部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已交付运营（收尾）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121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自研平均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4472C4"/>
                </a:solidFill>
                <a:latin typeface="微软雅黑"/>
                <a:ea typeface="微软雅黑"/>
              </a:rPr>
              <a:t>~25 </a:t>
            </a:r>
            <a:r>
              <a:rPr lang="zh-CN" sz="1200" b="1">
                <a:solidFill>
                  <a:srgbClr val="4472C4"/>
                </a:solidFill>
                <a:latin typeface="微软雅黑"/>
                <a:ea typeface="微软雅黑"/>
              </a:rPr>
              <a:t>天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交付；含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1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PyQt5→Web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重构（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05-27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次架构级重构（采购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06-27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、船务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08-01 JSON→SQLite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110+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条代码迭代。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MSDS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中英文双语生成内嵌于船务助手，不作独立交付项。</a:t>
            </a:r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04 / 13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24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采购分析助手（ProcurementAnalysis）&lt;/Text&gt;&#10;  &lt;/Box&gt;&#10;&#10;  &lt;Box style={{ position:'absolute', left:56, top:140, right:56, flexDirection:'row', gap:36 }}&gt;&#10;    &lt;Box style={{ width:420, flexDirection:'column', gap:18 }}&gt;&#10;      &lt;Box style={{ background:'#F4F7FC', borderRadius:10, padding:'18px 22px' }}&gt;&#10;        &lt;Text style={{ fontSize:60, fontWeight:'bold', color:'#4472C4' }}&gt;15,227&lt;/Text&gt;&#10;        &lt;Text style={{ fontSize:16, color:'#1A1A1A', marginTop:4 }}&gt;条价格数据（基准价 5,673 + 报价 9,554）&lt;/Text&gt;&#10;      &lt;/Box&gt;&#10;      &lt;Box style={{ flexDirection:'row', gap:18 }}&gt;&#10;        &lt;Box style={{ flex:1, background:'#F4F7FC', borderRadius:10, padding:'16px 18px', alignItems:'center' }}&gt;&#10;          &lt;Text style={{ fontSize:44, fontWeight:'bold', color:'#052B7C' }}&gt;61&lt;/Text&gt;&#10;          &lt;Text style={{ fontSize:15, color:'#1A1A1A', marginTop:2 }}&gt;覆盖品类&lt;/Text&gt;&#10;        &lt;/Box&gt;&#10;        &lt;Box style={{ flex:1, background:'#F4F7FC', borderRadius:10, padding:'16px 18px', alignItems:'center' }}&gt;&#10;          &lt;Text style={{ fontSize:44, fontWeight:'bold', color:'#052B7C' }}&gt;7&lt;/Text&gt;&#10;          &lt;Text style={{ fontSize:15, color:'#1A1A1A', marginTop:2 }}&gt;功能模块&lt;/Text&gt;&#10;        &lt;/Box&gt;&#10;      &lt;/Box&gt;&#10;      &lt;Text style={{ fontSize:16, color:'#1A1A1A' }}&gt;交付周期 &lt;span style={{ fontWeight:'bold', color:'#4472C4' }}&gt;29 天&lt;/span&gt;（04-30 → 05-29 移交采购部）&lt;/Text&gt;&#10;    &lt;/Box&gt;&#10;&#10;    &lt;Box style={{ flex:1, flexDirection:'column', gap:14, justifyContent:'center' }}&gt;&#10;      &lt;Text style={{ fontSize:18, fontWeight:'bold', color:'#052B7C' }}&gt;痛点&lt;/Text&gt;&#10;      &lt;Text style={{ fontSize:17, color:'#1A1A1A', lineHeight:1.6 }}&gt;采购原料价格波动大、品类多（61 个），原靠人工盯盘 + Excel，价格异常往往事后才发现，供应商比价缺系统支撑。&lt;/Text&gt;&#10;      &lt;Text style={{ fontSize:18, fontWeight:'bold', color:'#052B7C', marginTop:6 }}&gt;价值&lt;/Text&gt;&#10;      &lt;Text style={{ fontSize:17, color:'#1A1A1A', lineHeight:1.6 }}&gt;15,227 条数据 + 7 模块把价格监控系统化——看板看趋势、预警推异常、供应商看板横向比价；6 月架构重构后查询更快更稳，让「拍脑袋比价」变「看数据决策」。&lt;/Text&gt;&#10;      &lt;Text style={{ fontSize:17, color:'#1A1A1A', marginTop:4 }}&gt;主要对象：&lt;span style={{ fontWeight:'bold' }}&gt;采购部&lt;/span&gt;&lt;/Text&gt;&#10;    &lt;/Box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5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26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5334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采购分析助手（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ProcurementAnalysis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533400" y="1333500"/>
            <a:ext cx="4000500" cy="1257300"/>
          </a:xfrm>
          <a:prstGeom prst="roundRect">
            <a:avLst>
              <a:gd name="adj" fmla="val 7576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742950" y="1504950"/>
            <a:ext cx="3581400" cy="685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500" b="1">
                <a:solidFill>
                  <a:srgbClr val="4472C4"/>
                </a:solidFill>
                <a:latin typeface="微软雅黑"/>
                <a:ea typeface="微软雅黑"/>
              </a:rPr>
              <a:t>15,227</a:t>
            </a:r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742950" y="2228850"/>
            <a:ext cx="3581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条价格数据（基准价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5,673 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报价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9,554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31" name=""/>
          <p:cNvSpPr/>
          <p:nvPr/>
        </p:nvSpPr>
        <p:spPr>
          <a:xfrm rot="0" flipH="0" flipV="0">
            <a:off x="533400" y="2762250"/>
            <a:ext cx="1914525" cy="1000125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1219200" y="2914650"/>
            <a:ext cx="5429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52B7C"/>
                </a:solidFill>
                <a:latin typeface="微软雅黑"/>
                <a:ea typeface="微软雅黑"/>
              </a:rPr>
              <a:t>61</a:t>
            </a:r>
            <a:endParaRPr/>
          </a:p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209675" y="34385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覆盖品类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2619375" y="2762250"/>
            <a:ext cx="1914525" cy="1000125"/>
          </a:xfrm>
          <a:prstGeom prst="roundRect">
            <a:avLst>
              <a:gd name="adj" fmla="val 9524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35" name="" descr="{&quot;isTemplate&quot;:true,&quot;type&quot;:&quot;text&quot;}"/>
          <p:cNvSpPr txBox="1"/>
          <p:nvPr/>
        </p:nvSpPr>
        <p:spPr>
          <a:xfrm rot="0" flipH="0" flipV="0">
            <a:off x="3438525" y="2914650"/>
            <a:ext cx="276225" cy="504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300" b="1">
                <a:solidFill>
                  <a:srgbClr val="052B7C"/>
                </a:solidFill>
                <a:latin typeface="微软雅黑"/>
                <a:ea typeface="微软雅黑"/>
              </a:rPr>
              <a:t>7</a:t>
            </a:r>
            <a:endParaRPr/>
          </a:p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3295650" y="34385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功能模块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533400" y="3933825"/>
            <a:ext cx="40005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交付周期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</a:t>
            </a:r>
            <a:r>
              <a:rPr lang="en-US" sz="1200" b="1">
                <a:solidFill>
                  <a:srgbClr val="4472C4"/>
                </a:solidFill>
                <a:latin typeface="微软雅黑"/>
                <a:ea typeface="微软雅黑"/>
              </a:rPr>
              <a:t>29 </a:t>
            </a:r>
            <a:r>
              <a:rPr lang="zh-CN" sz="1200" b="1">
                <a:solidFill>
                  <a:srgbClr val="4472C4"/>
                </a:solidFill>
                <a:latin typeface="微软雅黑"/>
                <a:ea typeface="微软雅黑"/>
              </a:rPr>
              <a:t>天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（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04-30 → 05-29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移交采购部）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4876800" y="1476375"/>
            <a:ext cx="678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52B7C"/>
                </a:solidFill>
                <a:latin typeface="微软雅黑"/>
                <a:ea typeface="微软雅黑"/>
              </a:rPr>
              <a:t>痛点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4876800" y="1819275"/>
            <a:ext cx="678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采购原料价格波动大、品类多（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61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个），原靠人工盯盘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+ Excel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，价格异常往往事后才发现，供应商比价缺系统支撑。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4876800" y="2638425"/>
            <a:ext cx="6781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52B7C"/>
                </a:solidFill>
                <a:latin typeface="微软雅黑"/>
                <a:ea typeface="微软雅黑"/>
              </a:rPr>
              <a:t>价值</a:t>
            </a:r>
            <a:endParaRPr/>
          </a:p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4876800" y="2981325"/>
            <a:ext cx="67818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15,227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条数据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+ 7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模块把价格监控系统化——看板看趋势、预警推异常、供应商看板横向比价；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6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月架构重构后查询更快更稳，让「拍脑袋比价」变「看数据决策」。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4876800" y="3781425"/>
            <a:ext cx="67818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主要对象：</a:t>
            </a:r>
            <a:r>
              <a:rPr lang="zh-CN" sz="1275" b="1">
                <a:solidFill>
                  <a:srgbClr val="1A1A1A"/>
                </a:solidFill>
                <a:latin typeface="微软雅黑"/>
                <a:ea typeface="微软雅黑"/>
              </a:rPr>
              <a:t>采购部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44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05 / 13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45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船务 T/T 协议自动化（shipping-helper）&lt;/Text&gt;&#10;  &lt;/Box&gt;&#10;&#10;  &lt;Box style={{ position:'absolute', left:56, top:140, right:56, flexDirection:'row', gap:36 }}&gt;&#10;    &lt;Box style={{ width:400, flexDirection:'column', gap:14 }}&gt;&#10;      {[['26 天','首版交付周期（05-28 → 06-22）'],['4 类','支持单证：Booking / LOI / MSDS / 报关'],['389','HS 编码基础数据'],['13+2+3','桶型 / 托盘 / 运输模式'],['95%+','当前进度（07-24 完成培训）']].map((c, i) =&gt; (&#10;        &lt;Box key={i} style={{ flexDirection:'row', alignItems:'center', gap:14, background:'#F4F7FC', borderRadius:10, padding:'12px 18px' }}&gt;&#10;          &lt;Text style={{ fontSize:30, fontWeight:'bold', color:'#4472C4', minWidth:90 }}&gt;{c[0]}&lt;/Text&gt;&#10;          &lt;Text style={{ fontSize:15, color:'#1A1A1A' }}&gt;{c[1]}&lt;/Text&gt;&#10;        &lt;/Box&gt;&#10;      ))}&#10;    &lt;/Box&gt;&#10;&#10;    &lt;Box style={{ flex:1, flexDirection:'column', gap:14, justifyContent:'center' }}&gt;&#10;      &lt;Text style={{ fontSize:18, fontWeight:'bold', color:'#052B7C' }}&gt;痛点&lt;/Text&gt;&#10;      &lt;Text style={{ fontSize:17, color:'#1A1A1A', lineHeight:1.6 }}&gt;船务 TT 协议涉及订舱单、保函、MSDS、报关资料多类单证，原靠人工逐项填写，易错、耗时长；HS 编码归类、包装计算尤其易算错，错了即退单 / 延误。&lt;/Text&gt;&#10;      &lt;Text style={{ fontSize:18, fontWeight:'bold', color:'#052B7C', marginTop:6 }}&gt;价值&lt;/Text&gt;&#10;      &lt;Text style={{ fontSize:17, color:'#1A1A1A', lineHeight:1.6 }}&gt;把 14 份梳理文档沉淀的流程变成自动化工具——录入基础数据即生成 4 类单证、自动算包装与 HS 编码；7 月深化后 PI 解析接入 DeepSeek、报关资料自动化，把「人填」变「系统出」。MSDS 双语生成内嵌，免翻译免乱码。&lt;/Text&gt;&#10;      &lt;Text style={{ fontSize:17, color:'#1A1A1A', marginTop:4 }}&gt;主要对象：&lt;span style={{ fontWeight:'bold' }}&gt;船务部&lt;/span&gt;（万凤、潘慧兰）&lt;/Text&gt;&#10;    &lt;/Box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6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7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5514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船务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T/T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协议自动化（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shipping-helper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49" name=""/>
          <p:cNvSpPr/>
          <p:nvPr/>
        </p:nvSpPr>
        <p:spPr>
          <a:xfrm rot="0" flipH="0" flipV="0">
            <a:off x="533400" y="13335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50" name="" descr="{&quot;isTemplate&quot;:true,&quot;type&quot;:&quot;text&quot;}"/>
          <p:cNvSpPr txBox="1"/>
          <p:nvPr/>
        </p:nvSpPr>
        <p:spPr>
          <a:xfrm rot="0" flipH="0" flipV="0">
            <a:off x="704850" y="14478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472C4"/>
                </a:solidFill>
                <a:latin typeface="微软雅黑"/>
                <a:ea typeface="微软雅黑"/>
              </a:rPr>
              <a:t>26 </a:t>
            </a:r>
            <a:r>
              <a:rPr lang="zh-CN" sz="2250" b="1">
                <a:solidFill>
                  <a:srgbClr val="4472C4"/>
                </a:solidFill>
                <a:latin typeface="微软雅黑"/>
                <a:ea typeface="微软雅黑"/>
              </a:rPr>
              <a:t>天</a:t>
            </a:r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695450" y="1533525"/>
            <a:ext cx="21050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首版交付周期（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05-28 → 06-22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152" name=""/>
          <p:cNvSpPr/>
          <p:nvPr/>
        </p:nvSpPr>
        <p:spPr>
          <a:xfrm rot="0" flipH="0" flipV="0">
            <a:off x="533400" y="203835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04850" y="215265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472C4"/>
                </a:solidFill>
                <a:latin typeface="微软雅黑"/>
                <a:ea typeface="微软雅黑"/>
              </a:rPr>
              <a:t>4 </a:t>
            </a:r>
            <a:r>
              <a:rPr lang="zh-CN" sz="2250" b="1">
                <a:solidFill>
                  <a:srgbClr val="4472C4"/>
                </a:solidFill>
                <a:latin typeface="微软雅黑"/>
                <a:ea typeface="微软雅黑"/>
              </a:rPr>
              <a:t>类</a:t>
            </a:r>
            <a:endParaRPr/>
          </a:p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1695450" y="2238375"/>
            <a:ext cx="2476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支持单证：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Booking / LOI / MSDS /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报关</a:t>
            </a:r>
            <a:endParaRPr/>
          </a:p>
        </p:txBody>
      </p:sp>
      <p:sp>
        <p:nvSpPr>
          <p:cNvPr id="155" name=""/>
          <p:cNvSpPr/>
          <p:nvPr/>
        </p:nvSpPr>
        <p:spPr>
          <a:xfrm rot="0" flipH="0" flipV="0">
            <a:off x="533400" y="27432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04850" y="2857500"/>
            <a:ext cx="857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472C4"/>
                </a:solidFill>
                <a:latin typeface="微软雅黑"/>
                <a:ea typeface="微软雅黑"/>
              </a:rPr>
              <a:t>389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1695450" y="2943225"/>
            <a:ext cx="10858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HS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编码基础数据</a:t>
            </a:r>
            <a:endParaRPr/>
          </a:p>
        </p:txBody>
      </p:sp>
      <p:sp>
        <p:nvSpPr>
          <p:cNvPr id="158" name=""/>
          <p:cNvSpPr/>
          <p:nvPr/>
        </p:nvSpPr>
        <p:spPr>
          <a:xfrm rot="0" flipH="0" flipV="0">
            <a:off x="533400" y="344805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704850" y="3562350"/>
            <a:ext cx="12001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472C4"/>
                </a:solidFill>
                <a:latin typeface="微软雅黑"/>
                <a:ea typeface="微软雅黑"/>
              </a:rPr>
              <a:t>13+2+3</a:t>
            </a:r>
            <a:endParaRPr/>
          </a:p>
        </p:txBody>
      </p:sp>
      <p:sp>
        <p:nvSpPr>
          <p:cNvPr id="160" name="" descr="{&quot;isTemplate&quot;:true,&quot;type&quot;:&quot;text&quot;}"/>
          <p:cNvSpPr txBox="1"/>
          <p:nvPr/>
        </p:nvSpPr>
        <p:spPr>
          <a:xfrm rot="0" flipH="0" flipV="0">
            <a:off x="2038350" y="3648075"/>
            <a:ext cx="14382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桶型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托盘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运输模式</a:t>
            </a:r>
            <a:endParaRPr/>
          </a:p>
        </p:txBody>
      </p:sp>
      <p:sp>
        <p:nvSpPr>
          <p:cNvPr id="161" name=""/>
          <p:cNvSpPr/>
          <p:nvPr/>
        </p:nvSpPr>
        <p:spPr>
          <a:xfrm rot="0" flipH="0" flipV="0">
            <a:off x="533400" y="4152900"/>
            <a:ext cx="3810000" cy="571500"/>
          </a:xfrm>
          <a:prstGeom prst="roundRect">
            <a:avLst>
              <a:gd name="adj" fmla="val 16667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704850" y="4267200"/>
            <a:ext cx="94297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250" b="1">
                <a:solidFill>
                  <a:srgbClr val="4472C4"/>
                </a:solidFill>
                <a:latin typeface="微软雅黑"/>
                <a:ea typeface="微软雅黑"/>
              </a:rPr>
              <a:t>95%+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1781175" y="4352925"/>
            <a:ext cx="18383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当前进度（</a:t>
            </a:r>
            <a:r>
              <a:rPr lang="en-US" sz="1125">
                <a:solidFill>
                  <a:srgbClr val="1A1A1A"/>
                </a:solidFill>
                <a:latin typeface="微软雅黑"/>
                <a:ea typeface="微软雅黑"/>
              </a:rPr>
              <a:t>07-24 </a:t>
            </a:r>
            <a:r>
              <a:rPr lang="zh-CN" sz="1125">
                <a:solidFill>
                  <a:srgbClr val="1A1A1A"/>
                </a:solidFill>
                <a:latin typeface="微软雅黑"/>
                <a:ea typeface="微软雅黑"/>
              </a:rPr>
              <a:t>完成培训）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4686300" y="1628775"/>
            <a:ext cx="697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52B7C"/>
                </a:solidFill>
                <a:latin typeface="微软雅黑"/>
                <a:ea typeface="微软雅黑"/>
              </a:rPr>
              <a:t>痛点</a:t>
            </a:r>
            <a:endParaRPr/>
          </a:p>
        </p:txBody>
      </p:sp>
      <p:sp>
        <p:nvSpPr>
          <p:cNvPr id="165" name="" descr="{&quot;isTemplate&quot;:true,&quot;type&quot;:&quot;text&quot;}"/>
          <p:cNvSpPr txBox="1"/>
          <p:nvPr/>
        </p:nvSpPr>
        <p:spPr>
          <a:xfrm rot="0" flipH="0" flipV="0">
            <a:off x="4686300" y="1971675"/>
            <a:ext cx="6972300" cy="6286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船务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TT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协议涉及订舱单、保函、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MSDS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、报关资料多类单证，原靠人工逐项填写，易错、耗时长；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HS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编码归类、包装计算尤其易算错，错了即退单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延误。</a:t>
            </a:r>
            <a:endParaRPr/>
          </a:p>
        </p:txBody>
      </p:sp>
      <p:sp>
        <p:nvSpPr>
          <p:cNvPr id="166" name="" descr="{&quot;isTemplate&quot;:true,&quot;type&quot;:&quot;text&quot;}"/>
          <p:cNvSpPr txBox="1"/>
          <p:nvPr/>
        </p:nvSpPr>
        <p:spPr>
          <a:xfrm rot="0" flipH="0" flipV="0">
            <a:off x="4686300" y="2790825"/>
            <a:ext cx="69723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052B7C"/>
                </a:solidFill>
                <a:latin typeface="微软雅黑"/>
                <a:ea typeface="微软雅黑"/>
              </a:rPr>
              <a:t>价值</a:t>
            </a:r>
            <a:endParaRPr/>
          </a:p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4686300" y="3133725"/>
            <a:ext cx="6972300" cy="933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把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14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份梳理文档沉淀的流程变成自动化工具——录入基础数据即生成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4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类单证、自动算包装与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HS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编码；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7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月深化后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PI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解析接入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DeepSeek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、报关资料自动化，把「人填」变「系统出」。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MSDS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双语生成内嵌，免翻译免乱码。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4686300" y="4238625"/>
            <a:ext cx="697230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主要对象：</a:t>
            </a:r>
            <a:r>
              <a:rPr lang="zh-CN" sz="1275" b="1">
                <a:solidFill>
                  <a:srgbClr val="1A1A1A"/>
                </a:solidFill>
                <a:latin typeface="微软雅黑"/>
                <a:ea typeface="微软雅黑"/>
              </a:rPr>
              <a:t>船务部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（万凤、潘慧兰）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06 / 13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71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数据脱敏 / 对账单 / Tax_check&lt;/Text&gt;&#10;  &lt;/Box&gt;&#10;&#10;  &lt;Box style={{ position:'absolute', left:56, top:130, right:56, flexDirection:'row', gap:22 }}&gt;&#10;    &lt;Box style={{ flex:1, background:'#F4F7FC', borderRadius:12, padding:22, flexDirection:'column', gap:10 }}&gt;&#10;      &lt;Text style={{ fontSize:22, fontWeight:'bold', color:'#052B7C' }}&gt;数据脱敏 Data_masking&lt;/Text&gt;&#10;      &lt;Text style={{ fontSize:16, color:'#1A1A1A', lineHeight:1.6 }}&gt;· 12 种脱敏方法（姓名/身份证/手机/银行卡…）&lt;/Text&gt;&#10;      &lt;Text style={{ fontSize:16, color:'#1A1A1A', lineHeight:1.6 }}&gt;· .exe 一键打包，支持 4 种编码&lt;/Text&gt;&#10;      &lt;Text style={{ fontSize:16, color:'#1A1A1A', lineHeight:1.6 }}&gt;· 交付 07-28 财务部&lt;/Text&gt;&#10;      &lt;Box style={{ marginTop:6, background:'#FCE4D6', borderRadius:6, padding:'6px 12px', alignSelf:'flex-start' }}&gt;&lt;Text style={{ fontSize:15, fontWeight:'bold', color:'#C0504D' }}&gt;状态：长期优化（小需求大场景）&lt;/Text&gt;&lt;/Box&gt;&#10;    &lt;/Box&gt;&#10;    &lt;Box style={{ flex:1, background:'#F4F7FC', borderRadius:12, padding:22, flexDirection:'column', gap:10 }}&gt;&#10;      &lt;Text style={{ fontSize:22, fontWeight:'bold', color:'#052B7C' }}&gt;对账单&lt;/Text&gt;&#10;      &lt;Text style={{ fontSize:16, color:'#1A1A1A', lineHeight:1.6 }}&gt;· 纯前端 HTML 单页，零部署即开即用&lt;/Text&gt;&#10;      &lt;Text style={{ fontSize:16, color:'#1A1A1A', lineHeight:1.6 }}&gt;· 财务对账从 Excel 手工 → 网页自助生成&lt;/Text&gt;&#10;      &lt;Text style={{ fontSize:16, color:'#1A1A1A', lineHeight:1.6 }}&gt;· 交付：财务部&lt;/Text&gt;&#10;      &lt;Box style={{ marginTop:6, background:'#DAE3F3', borderRadius:6, padding:'6px 12px', alignSelf:'flex-start' }}&gt;&lt;Text style={{ fontSize:15, fontWeight:'bold', color:'#052B7C' }}&gt;状态：已交付&lt;/Text&gt;&lt;/Box&gt;&#10;    &lt;/Box&gt;&#10;    &lt;Box style={{ flex:1, background:'#F4F7FC', borderRadius:12, padding:22, flexDirection:'column', gap:10 }}&gt;&#10;      &lt;Text style={{ fontSize:22, fontWeight:'bold', color:'#052B7C' }}&gt;Tax_check 退税审单&lt;/Text&gt;&#10;      &lt;Text style={{ fontSize:16, color:'#1A1A1A', lineHeight:1.6 }}&gt;· 16+ 单据 OCR + 价格条款矩阵体检&lt;/Text&gt;&#10;      &lt;Text style={{ fontSize:16, color:'#1A1A1A', lineHeight:1.6 }}&gt;· 本地 .exe 运行，数据不出境&lt;/Text&gt;&#10;      &lt;Text style={{ fontSize:16, color:'#1A1A1A', lineHeight:1.6 }}&gt;· 交付 08-01 财务部&lt;/Text&gt;&#10;      &lt;Box style={{ marginTop:6, background:'#DAE3F3', borderRadius:6, padding:'6px 12px', alignSelf:'flex-start' }}&gt;&lt;Text style={{ fontSize:15, fontWeight:'bold', color:'#052B7C' }}&gt;状态：已交付运营（收尾）&lt;/Text&gt;&lt;/Box&gt;&#10;    &lt;/Box&gt;&#10;  &lt;/Box&gt;&#10;&#10;  &lt;Box style={{ position:'absolute', left:56, top:560, right:56 }}&gt;&#10;    &lt;Text style={{ fontSize:16, color:'#1A1A1A', lineHeight:1.5 }}&gt;三项均为财务侧合规 / 效率工具：数据脱敏与 Tax_check 为桌面 .exe（满足敏感数据不出境），对账单为轻量纯前端——体现「小需求、快交付、大场景」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7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7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4200525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数据脱敏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/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对账单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/ Tax_check</a:t>
            </a:r>
            <a:endParaRPr/>
          </a:p>
        </p:txBody>
      </p:sp>
      <p:sp>
        <p:nvSpPr>
          <p:cNvPr id="175" name=""/>
          <p:cNvSpPr/>
          <p:nvPr/>
        </p:nvSpPr>
        <p:spPr>
          <a:xfrm rot="0" flipH="0" flipV="0">
            <a:off x="533400" y="1238250"/>
            <a:ext cx="3571875" cy="2581275"/>
          </a:xfrm>
          <a:prstGeom prst="roundRect">
            <a:avLst>
              <a:gd name="adj" fmla="val 4428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742950" y="1447800"/>
            <a:ext cx="315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数据脱敏</a:t>
            </a: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 Data_masking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742950" y="1800225"/>
            <a:ext cx="3152775" cy="5905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12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种脱敏方法（姓名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身份证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手机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/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银行卡…）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742950" y="2486025"/>
            <a:ext cx="31527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.exe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一键打包，支持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种编码</a:t>
            </a:r>
            <a:endParaRPr/>
          </a:p>
        </p:txBody>
      </p:sp>
      <p:sp>
        <p:nvSpPr>
          <p:cNvPr id="179" name="" descr="{&quot;isTemplate&quot;:true,&quot;type&quot;:&quot;text&quot;}"/>
          <p:cNvSpPr txBox="1"/>
          <p:nvPr/>
        </p:nvSpPr>
        <p:spPr>
          <a:xfrm rot="0" flipH="0" flipV="0">
            <a:off x="742950" y="2876550"/>
            <a:ext cx="31527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07-28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财务部</a:t>
            </a:r>
            <a:endParaRPr/>
          </a:p>
        </p:txBody>
      </p:sp>
      <p:sp>
        <p:nvSpPr>
          <p:cNvPr id="180" name=""/>
          <p:cNvSpPr/>
          <p:nvPr/>
        </p:nvSpPr>
        <p:spPr>
          <a:xfrm rot="0" flipH="0" flipV="0">
            <a:off x="742950" y="3324225"/>
            <a:ext cx="2371725" cy="285750"/>
          </a:xfrm>
          <a:prstGeom prst="roundRect">
            <a:avLst>
              <a:gd name="adj" fmla="val 20000"/>
            </a:avLst>
          </a:prstGeom>
          <a:solidFill>
            <a:srgbClr val="FCE4D6"/>
          </a:solidFill>
          <a:ln/>
        </p:spPr>
        <p:txBody>
          <a:bodyPr/>
          <a:p/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857250" y="3381375"/>
            <a:ext cx="21431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C0504D"/>
                </a:solidFill>
                <a:latin typeface="微软雅黑"/>
                <a:ea typeface="微软雅黑"/>
              </a:rPr>
              <a:t>状态：长期优化（小需求大场景）</a:t>
            </a:r>
            <a:endParaRPr/>
          </a:p>
        </p:txBody>
      </p:sp>
      <p:sp>
        <p:nvSpPr>
          <p:cNvPr id="182" name=""/>
          <p:cNvSpPr/>
          <p:nvPr/>
        </p:nvSpPr>
        <p:spPr>
          <a:xfrm rot="0" flipH="0" flipV="0">
            <a:off x="4314825" y="1238250"/>
            <a:ext cx="3562350" cy="2286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4524375" y="1447800"/>
            <a:ext cx="31432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对账单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4524375" y="1800225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纯前端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HTML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单页，零部署即开即用</a:t>
            </a:r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4524375" y="2190750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财务对账从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Excel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手工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→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网页自助生成</a:t>
            </a:r>
            <a:endParaRPr/>
          </a:p>
        </p:txBody>
      </p:sp>
      <p:sp>
        <p:nvSpPr>
          <p:cNvPr id="186" name="" descr="{&quot;isTemplate&quot;:true,&quot;type&quot;:&quot;text&quot;}"/>
          <p:cNvSpPr txBox="1"/>
          <p:nvPr/>
        </p:nvSpPr>
        <p:spPr>
          <a:xfrm rot="0" flipH="0" flipV="0">
            <a:off x="4524375" y="2581275"/>
            <a:ext cx="3143250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交付：财务部</a:t>
            </a:r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4524375" y="3028950"/>
            <a:ext cx="1085850" cy="285750"/>
          </a:xfrm>
          <a:prstGeom prst="roundRect">
            <a:avLst>
              <a:gd name="adj" fmla="val 20000"/>
            </a:avLst>
          </a:prstGeom>
          <a:solidFill>
            <a:srgbClr val="DAE3F3"/>
          </a:solidFill>
          <a:ln/>
        </p:spPr>
        <p:txBody>
          <a:bodyPr/>
          <a:p/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4638675" y="3086100"/>
            <a:ext cx="8572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52B7C"/>
                </a:solidFill>
                <a:latin typeface="微软雅黑"/>
                <a:ea typeface="微软雅黑"/>
              </a:rPr>
              <a:t>状态：已交付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8086725" y="1238250"/>
            <a:ext cx="3571875" cy="2286000"/>
          </a:xfrm>
          <a:prstGeom prst="roundRect">
            <a:avLst>
              <a:gd name="adj" fmla="val 5000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296275" y="1447800"/>
            <a:ext cx="31527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052B7C"/>
                </a:solidFill>
                <a:latin typeface="微软雅黑"/>
                <a:ea typeface="微软雅黑"/>
              </a:rPr>
              <a:t>Tax_check </a:t>
            </a:r>
            <a:r>
              <a:rPr lang="zh-CN" sz="1650" b="1">
                <a:solidFill>
                  <a:srgbClr val="052B7C"/>
                </a:solidFill>
                <a:latin typeface="微软雅黑"/>
                <a:ea typeface="微软雅黑"/>
              </a:rPr>
              <a:t>退税审单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296275" y="1800225"/>
            <a:ext cx="31527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16+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单据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OCR +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价格条款矩阵体检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8296275" y="2190750"/>
            <a:ext cx="31527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本地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.exe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运行，数据不出境</a:t>
            </a:r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296275" y="2581275"/>
            <a:ext cx="3152775" cy="29527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交付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08-01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财务部</a:t>
            </a:r>
            <a:endParaRPr/>
          </a:p>
        </p:txBody>
      </p:sp>
      <p:sp>
        <p:nvSpPr>
          <p:cNvPr id="194" name=""/>
          <p:cNvSpPr/>
          <p:nvPr/>
        </p:nvSpPr>
        <p:spPr>
          <a:xfrm rot="0" flipH="0" flipV="0">
            <a:off x="8296275" y="3028950"/>
            <a:ext cx="1943100" cy="285750"/>
          </a:xfrm>
          <a:prstGeom prst="roundRect">
            <a:avLst>
              <a:gd name="adj" fmla="val 20000"/>
            </a:avLst>
          </a:prstGeom>
          <a:solidFill>
            <a:srgbClr val="DAE3F3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8410575" y="3086100"/>
            <a:ext cx="1714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52B7C"/>
                </a:solidFill>
                <a:latin typeface="微软雅黑"/>
                <a:ea typeface="微软雅黑"/>
              </a:rPr>
              <a:t>状态：已交付运营（收尾）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533400" y="5334000"/>
            <a:ext cx="11125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三项均为财务侧合规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效率工具：数据脱敏与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Tax_check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为桌面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.exe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（满足敏感数据不出境），对账单为轻量纯前端——体现「小需求、快交付、大场景」。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07 / 13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三、Skill 抽象与复用&lt;/Text&gt;&#10;  &lt;/Box&gt;&#10;&#10;  &lt;Box style={{ position:'absolute', left:56, top:118, right:56, background:'#052B7C', borderRadius:10, padding:'14px 22px' }}&gt;&#10;    &lt;Text style={{ fontSize:17, color:'#FFFFFF', lineHeight:1.5 }}&gt;与「建应用」并列的内部第二条交付路径：复现工作场景 → 抽象输入输出 → 复用 / 赋能业务自建。&lt;/Text&gt;&#10;  &lt;/Box&gt;&#10;&#10;  &lt;Box style={{ position:'absolute', left:56, top:200, right:56, flexDirection:'row', gap:28 }}&gt;&#10;    &lt;Box style={{ flex:1, background:'#F4F7FC', borderRadius:12, padding:24, flexDirection:'column', gap:12 }}&gt;&#10;      &lt;Text style={{ fontSize:22, fontWeight:'bold', color:'#4472C4' }}&gt;tax-refund-audit（退税审单 Skill）&lt;/Text&gt;&#10;      &lt;Text style={{ fontSize:17, color:'#1A1A1A', lineHeight:1.7 }}&gt;· 抽象退税审单工作流为可复用 Skill，交付财务部&lt;/Text&gt;&#10;      &lt;Text style={{ fontSize:17, color:'#1A1A1A', lineHeight:1.7 }}&gt;· 与 Tax_check 应用互补：应用做 OCR + 条款矩阵「体检」，Skill 做审单流程复用与下沉&lt;/Text&gt;&#10;      &lt;Text style={{ fontSize:17, color:'#1A1A1A', lineHeight:1.7 }}&gt;· 降低对专人 / 专工具的依赖&lt;/Text&gt;&#10;      &lt;Box style={{ marginTop:4, background:'#DAE3F3', borderRadius:6, padding:'6px 12px', alignSelf:'flex-start' }}&gt;&lt;Text style={{ fontSize:15, fontWeight:'bold', color:'#052B7C' }}&gt;状态：已交付财务使用&lt;/Text&gt;&lt;/Box&gt;&#10;    &lt;/Box&gt;&#10;    &lt;Box style={{ flex:1, background:'#F4F7FC', borderRadius:12, padding:24, flexDirection:'column', gap:12 }}&gt;&#10;      &lt;Text style={{ fontSize:22, fontWeight:'bold', color:'#4472C4' }}&gt;daily-commodity-price-scraper（价格爬取 Skill）&lt;/Text&gt;&#10;      &lt;Text style={{ fontSize:17, color:'#1A1A1A', lineHeight:1.7 }}&gt;· 作为「钩子」培养采购部门自主制作 Skill 的能力&lt;/Text&gt;&#10;      &lt;Text style={{ fontSize:17, color:'#1A1A1A', lineHeight:1.7 }}&gt;· 后续仍回采购部门培训，巩固「自建 Skill」能力&lt;/Text&gt;&#10;      &lt;Text style={{ fontSize:17, color:'#1A1A1A', lineHeight:1.7 }}&gt;· 体现理念：赋能业务自建，AI 小组退后为把关角色&lt;/Text&gt;&#10;      &lt;Box style={{ marginTop:4, background:'#DAE3F3', borderRadius:6, padding:'6px 12px', alignSelf:'flex-start' }}&gt;&lt;Text style={{ fontSize:15, fontWeight:'bold', color:'#052B7C' }}&gt;状态：赋能中（回培训）&lt;/Text&gt;&lt;/Box&gt;&#10;    &lt;/Box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8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01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705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三、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Skill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抽象与复用</a:t>
            </a:r>
            <a:endParaRPr/>
          </a:p>
        </p:txBody>
      </p:sp>
      <p:sp>
        <p:nvSpPr>
          <p:cNvPr id="203" name=""/>
          <p:cNvSpPr/>
          <p:nvPr/>
        </p:nvSpPr>
        <p:spPr>
          <a:xfrm rot="0" flipH="0" flipV="0">
            <a:off x="533400" y="1123950"/>
            <a:ext cx="11125200" cy="561975"/>
          </a:xfrm>
          <a:prstGeom prst="roundRect">
            <a:avLst>
              <a:gd name="adj" fmla="val 16949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42950" y="1257300"/>
            <a:ext cx="10706100" cy="2952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与「建应用」并列的内部第二条交付路径：复现工作场景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抽象输入输出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→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复用</a:t>
            </a:r>
            <a:r>
              <a:rPr lang="en-US" sz="1275">
                <a:solidFill>
                  <a:srgbClr val="FFFFFF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FFFFFF"/>
                </a:solidFill>
                <a:latin typeface="微软雅黑"/>
                <a:ea typeface="微软雅黑"/>
              </a:rPr>
              <a:t>赋能业务自建。</a:t>
            </a:r>
            <a:endParaRPr/>
          </a:p>
        </p:txBody>
      </p:sp>
      <p:sp>
        <p:nvSpPr>
          <p:cNvPr id="205" name=""/>
          <p:cNvSpPr/>
          <p:nvPr/>
        </p:nvSpPr>
        <p:spPr>
          <a:xfrm rot="0" flipH="0" flipV="0">
            <a:off x="533400" y="1905000"/>
            <a:ext cx="5429250" cy="2828925"/>
          </a:xfrm>
          <a:prstGeom prst="roundRect">
            <a:avLst>
              <a:gd name="adj" fmla="val 4040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762000" y="2133600"/>
            <a:ext cx="49720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472C4"/>
                </a:solidFill>
                <a:latin typeface="微软雅黑"/>
                <a:ea typeface="微软雅黑"/>
              </a:rPr>
              <a:t>tax-refund-audit</a:t>
            </a:r>
            <a:r>
              <a:rPr lang="zh-CN" sz="1650" b="1">
                <a:solidFill>
                  <a:srgbClr val="4472C4"/>
                </a:solidFill>
                <a:latin typeface="微软雅黑"/>
                <a:ea typeface="微软雅黑"/>
              </a:rPr>
              <a:t>（退税审单</a:t>
            </a:r>
            <a:r>
              <a:rPr lang="en-US" sz="1650" b="1">
                <a:solidFill>
                  <a:srgbClr val="4472C4"/>
                </a:solidFill>
                <a:latin typeface="微软雅黑"/>
                <a:ea typeface="微软雅黑"/>
              </a:rPr>
              <a:t> Skill</a:t>
            </a:r>
            <a:r>
              <a:rPr lang="zh-CN" sz="1650" b="1">
                <a:solidFill>
                  <a:srgbClr val="4472C4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762000" y="250507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抽象退税审单工作流为可复用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，交付财务部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762000" y="2952750"/>
            <a:ext cx="4972050" cy="6667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与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Tax_check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应用互补：应用做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OCR +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条款矩阵「体检」，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Skill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做审单流程复用与下沉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762000" y="37338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降低对专人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专工具的依赖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762000" y="4219575"/>
            <a:ext cx="1657350" cy="285750"/>
          </a:xfrm>
          <a:prstGeom prst="roundRect">
            <a:avLst>
              <a:gd name="adj" fmla="val 20000"/>
            </a:avLst>
          </a:prstGeom>
          <a:solidFill>
            <a:srgbClr val="DAE3F3"/>
          </a:solidFill>
          <a:ln/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876300" y="4276725"/>
            <a:ext cx="14287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52B7C"/>
                </a:solidFill>
                <a:latin typeface="微软雅黑"/>
                <a:ea typeface="微软雅黑"/>
              </a:rPr>
              <a:t>状态：已交付财务使用</a:t>
            </a:r>
            <a:endParaRPr/>
          </a:p>
        </p:txBody>
      </p:sp>
      <p:sp>
        <p:nvSpPr>
          <p:cNvPr id="212" name=""/>
          <p:cNvSpPr/>
          <p:nvPr/>
        </p:nvSpPr>
        <p:spPr>
          <a:xfrm rot="0" flipH="0" flipV="0">
            <a:off x="6229350" y="1905000"/>
            <a:ext cx="5429250" cy="2828925"/>
          </a:xfrm>
          <a:prstGeom prst="roundRect">
            <a:avLst>
              <a:gd name="adj" fmla="val 4040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6457950" y="2133600"/>
            <a:ext cx="4972050" cy="504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4472C4"/>
                </a:solidFill>
                <a:latin typeface="微软雅黑"/>
                <a:ea typeface="微软雅黑"/>
              </a:rPr>
              <a:t>daily-commodity-price-scraper</a:t>
            </a:r>
            <a:r>
              <a:rPr lang="zh-CN" sz="1650" b="1">
                <a:solidFill>
                  <a:srgbClr val="4472C4"/>
                </a:solidFill>
                <a:latin typeface="微软雅黑"/>
                <a:ea typeface="微软雅黑"/>
              </a:rPr>
              <a:t>（价格爬取</a:t>
            </a:r>
            <a:r>
              <a:rPr lang="en-US" sz="1650" b="1">
                <a:solidFill>
                  <a:srgbClr val="4472C4"/>
                </a:solidFill>
                <a:latin typeface="微软雅黑"/>
                <a:ea typeface="微软雅黑"/>
              </a:rPr>
              <a:t> Skill</a:t>
            </a:r>
            <a:r>
              <a:rPr lang="zh-CN" sz="1650" b="1">
                <a:solidFill>
                  <a:srgbClr val="4472C4"/>
                </a:solidFill>
                <a:latin typeface="微软雅黑"/>
                <a:ea typeface="微软雅黑"/>
              </a:rPr>
              <a:t>）</a:t>
            </a:r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457950" y="275272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作为「钩子」培养采购部门自主制作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的能力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457950" y="3200400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后续仍回采购部门培训，巩固「自建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」能力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6457950" y="3648075"/>
            <a:ext cx="4972050" cy="3333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·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体现理念：赋能业务自建，</a:t>
            </a:r>
            <a:r>
              <a:rPr lang="en-US" sz="1275">
                <a:solidFill>
                  <a:srgbClr val="1A1A1A"/>
                </a:solidFill>
                <a:latin typeface="微软雅黑"/>
                <a:ea typeface="微软雅黑"/>
              </a:rPr>
              <a:t>AI </a:t>
            </a:r>
            <a:r>
              <a:rPr lang="zh-CN" sz="1275">
                <a:solidFill>
                  <a:srgbClr val="1A1A1A"/>
                </a:solidFill>
                <a:latin typeface="微软雅黑"/>
                <a:ea typeface="微软雅黑"/>
              </a:rPr>
              <a:t>小组退后为把关角色</a:t>
            </a:r>
            <a:endParaRPr/>
          </a:p>
        </p:txBody>
      </p:sp>
      <p:sp>
        <p:nvSpPr>
          <p:cNvPr id="217" name=""/>
          <p:cNvSpPr/>
          <p:nvPr/>
        </p:nvSpPr>
        <p:spPr>
          <a:xfrm rot="0" flipH="0" flipV="0">
            <a:off x="6457950" y="4133850"/>
            <a:ext cx="1800225" cy="285750"/>
          </a:xfrm>
          <a:prstGeom prst="roundRect">
            <a:avLst>
              <a:gd name="adj" fmla="val 20000"/>
            </a:avLst>
          </a:prstGeom>
          <a:solidFill>
            <a:srgbClr val="DAE3F3"/>
          </a:solidFill>
          <a:ln/>
        </p:spPr>
        <p:txBody>
          <a:bodyPr/>
          <a:p/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572250" y="4191000"/>
            <a:ext cx="15716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052B7C"/>
                </a:solidFill>
                <a:latin typeface="微软雅黑"/>
                <a:ea typeface="微软雅黑"/>
              </a:rPr>
              <a:t>状态：赋能中（回培训）</a:t>
            </a:r>
            <a:endParaRPr/>
          </a:p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08 / 13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221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四、培训与推广&lt;/Text&gt;&#10;  &lt;/Box&gt;&#10;&#10;  &lt;Box style={{ position:'absolute', left:56, top:120, right:56 }}&gt;&#10;    &lt;Table&#10;      style={{ width:'100%', height:430 }}&#10;      defaultTextStyle={{ fontSize:15, textAlign:'center', color:'#1A1A1A' }}&#10;      defaultCellStyle={{ border:{ left:{width:1,color:'#CCCCCC'}, right:{width:1,color:'#CCCCCC'}, top:{width:1,color:'#CCCCCC'}, bottom:{width:1,color:'#CCCCCC'} } }}&#10;      cells={[&#10;        [ {text:'月份', textStyle:{bold:true,color:'#1A1A1A'}, cellStyle:{background:{color:'#DAE3F3'}}},&#10;          {text:'主导', textStyle:{bold:true,color:'#1A1A1A'}, cellStyle:{background:{color:'#DAE3F3'}}},&#10;          {text:'协助 / 参与', textStyle:{bold:true,color:'#1A1A1A'}, cellStyle:{background:{color:'#DAE3F3'}}},&#10;          {text:'主要培训主题', textStyle:{bold:true,color:'#1A1A1A',textAlign:'left'}, cellStyle:{background:{color:'#DAE3F3'}}} ],&#10;        [ '4 月', '1', '2', {text:'Claude Code + 前后端数据库组内培训(04-30)；协助研发部培训；协助采购部 OpenClaw 部署(04-24)', textStyle:{textAlign:'left'}} ],&#10;        [ '5 月', '1', '3', {text:'AI 小组软件开发流程培训 + 作业(05-08)；参与视频生成 / AI 培训助手 / PBC 培训', textStyle:{textAlign:'left'}} ],&#10;        [ '6 月', '3', '1', {text:'月度培训 ×2（AI 工具推荐 / AI 黑话扫盲）、总经办 mmxCode/codex 培训(06-05)；协助销售五部三合一(06-22)', textStyle:{textAlign:'left'}} ],&#10;        [ '7 月', '1', '0', {text:'船务部 shipping-helper 使用培训(07-24)', textStyle:{textAlign:'left'}} ],&#10;        [ {text:'合计', textStyle:{bold:true}, cellStyle:{background:{color:'#FCE4D6'}}},&#10;          {text:'6', textStyle:{bold:true}, cellStyle:{background:{color:'#FCE4D6'}}},&#10;          {text:'6', textStyle:{bold:true}, cellStyle:{background:{color:'#FCE4D6'}}},&#10;          {text:'12 场，覆盖采购 / 船务 / 销售五部 / 研发 / 总经办等多部门', textStyle:{bold:true,textAlign:'left'}, cellStyle:{background:{color:'#FCE4D6'}}} ],&#10;      ]}&#10;    /&gt;&#10;  &lt;/Box&gt;&#10;&#10;  &lt;Box style={{ position:'absolute', left:56, top:565, right:56 }}&gt;&#10;    &lt;Text style={{ fontSize:16, color:'#1A1A1A', lineHeight:1.5 }}&gt;推广与采纳驱动是交付物产生业务价值的「最后一公里」——培训不止「讲」，更含采纳驱动与内部宣推：06-22 销售五部三合一、07-24 船务部使用培训直接对应两个自研工具的上手落地；价格爬取 Skill 以「回采购培训」巩固自建能力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09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223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20002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四、培训与推广</a:t>
            </a:r>
            <a:endParaRPr/>
          </a:p>
        </p:txBody>
      </p:sp>
      <p:graphicFrame>
        <p:nvGraphicFramePr>
          <p:cNvPr id="225" name=""/>
          <p:cNvGraphicFramePr/>
          <p:nvPr/>
        </p:nvGraphicFramePr>
        <p:xfrm rot="0" flipH="0" flipV="0">
          <a:off x="533400" y="1143000"/>
          <a:ext cx="11125200" cy="4095750"/>
        </p:xfrm>
        <a:graphic>
          <a:graphicData uri="http://schemas.openxmlformats.org/drawingml/2006/table">
            <a:tbl>
              <a:tblGrid>
                <a:gridCol w="468978">
                  <a:extLst>
                    <a:ext uri="{9D8B030D-6E8A-4147-A177-3AD203B41FA5}">
                      <a16:colId val="1"/>
                    </a:ext>
                  </a:extLst>
                </a:gridCol>
                <a:gridCol w="468978">
                  <a:extLst>
                    <a:ext uri="{9D8B030D-6E8A-4147-A177-3AD203B41FA5}">
                      <a16:colId val="2"/>
                    </a:ext>
                  </a:extLst>
                </a:gridCol>
                <a:gridCol w="1025593">
                  <a:extLst>
                    <a:ext uri="{9D8B030D-6E8A-4147-A177-3AD203B41FA5}">
                      <a16:colId val="3"/>
                    </a:ext>
                  </a:extLst>
                </a:gridCol>
                <a:gridCol w="9161651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月份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协助 / 参与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主要培训主题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Claude Code + 前后端数据库组内培训(04-30)；协助研发部培训；协助采购部 OpenClaw 部署(04-24)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AI 小组软件开发流程培训 + 作业(05-08)；参与视频生成 / AI 培训助手 / PBC 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月度培训 ×2（AI 工具推荐 / AI 黑话扫盲）、总经办 mmxCode/codex 培训(06-05)；协助销售五部三合一(06-22)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0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船务部 shipping-helper 使用培训(07-24)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  <a:tr h="682625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合计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12 场，覆盖采购 / 船务 / 销售五部 / 研发 / 总经办等多部门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val="6"/>
                  </a:ext>
                </a:extLst>
              </a:tr>
            </a:tbl>
          </a:graphicData>
        </a:graphic>
      </p:graphicFrame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533400" y="5381625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推广与采纳驱动是交付物产生业务价值的「最后一公里」——培训不止「讲」，更含采纳驱动与内部宣推：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06-22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销售五部三合一、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07-24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船务部使用培训直接对应两个自研工具的上手落地；价格爬取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以「回采购培训」巩固自建能力。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09 / 13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12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五、宏昊AI助手 · 验收运营&lt;/Text&gt;&#10;  &lt;/Box&gt;&#10;&#10;  &lt;Box style={{ position:'absolute', left:56, top:130, right:56, flexDirection:'row', gap:22 }}&gt;&#10;    {[['37','平台验收项'],['19','问题反馈闭环'],['93.3%','6 月单月通过率']].map((c, i) =&gt; (&#10;      &lt;Box key={i} style={{ flex:1, background:'#F4F7FC', borderRadius:10, padding:'22px 18px', alignItems:'center' }}&gt;&#10;        &lt;Text style={{ fontSize:56, fontWeight:'bold', color:'#4472C4' }}&gt;{c[0]}&lt;/Text&gt;&#10;        &lt;Text style={{ fontSize:18, color:'#1A1A1A', marginTop:6 }}&gt;{c[1]}&lt;/Text&gt;&#10;      &lt;/Box&gt;&#10;    ))}&#10;  &lt;/Box&gt;&#10;&#10;  &lt;Box style={{ position:'absolute', left:56, top:300, right:56, background:'#052B7C', borderRadius:10, padding:'16px 22px' }}&gt;&#10;    &lt;Text style={{ fontSize:18, color:'#FFFFFF', lineHeight:1.5 }}&gt;入职以来 &lt;span style={{ fontWeight:'bold' }}&gt;37 项验收 + 19 项问题反馈闭环&lt;/span&gt;，6 月单月通过率 93.3% → 把「供应商交付」变「可度量、可追溯、有退回机制」的质量门槛。&lt;/Text&gt;&#10;  &lt;/Box&gt;&#10;&#10;  &lt;Box style={{ position:'absolute', left:56, top:400, right:56 }}&gt;&#10;    &lt;Table&#10;      style={{ width:'100%', height:230 }}&#10;      defaultTextStyle={{ fontSize:15, textAlign:'center', color:'#1A1A1A' }}&#10;      defaultCellStyle={{ border:{ left:{width:1,color:'#CCCCCC'}, right:{width:1,color:'#CCCCCC'}, top:{width:1,color:'#CCCCCC'}, bottom:{width:1,color:'#CCCCCC'} } }}&#10;      cells={[&#10;        [ {text:'周期', textStyle:{bold:true,color:'#1A1A1A'}, cellStyle:{background:{color:'#DAE3F3'}}},&#10;          {text:'验收产出', textStyle:{bold:true,color:'#1A1A1A'}, cellStyle:{background:{color:'#DAE3F3'}}},&#10;          {text:'问题反馈', textStyle:{bold:true,color:'#1A1A1A'}, cellStyle:{background:{color:'#DAE3F3'}}},&#10;          {text:'通过情况', textStyle:{bold:true,color:'#1A1A1A'}, cellStyle:{background:{color:'#DAE3F3'}}} ],&#10;        [ '4 月', '3 测试 + 2 验收（5 项）', '4', '—' ],&#10;        [ '5 月', '9 项测试验收', '3', '—' ],&#10;        [ '6 月', '15 用例（5 批次）', '8', {text:'14/15 通过（93.3%）', textStyle:{bold:true,color:'#4472C4'}} ],&#10;        [ '7 月（2607）', '5 轮验收（8 项）', '4', '—' ],&#10;      ]}&#10;    /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10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14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671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五、宏昊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助手</a:t>
            </a:r>
            <a:r>
              <a:rPr lang="en-US" sz="2250" b="1">
                <a:solidFill>
                  <a:srgbClr val="052B7C"/>
                </a:solidFill>
                <a:latin typeface="微软雅黑"/>
                <a:ea typeface="微软雅黑"/>
              </a:rPr>
              <a:t> · </a:t>
            </a: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验收运营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533400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19812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37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1895475" y="2152650"/>
            <a:ext cx="8572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平台验收项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4314825" y="1238250"/>
            <a:ext cx="3562350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5753100" y="1447800"/>
            <a:ext cx="685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19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5581650" y="2152650"/>
            <a:ext cx="10287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问题反馈闭环</a:t>
            </a:r>
            <a:endParaRPr/>
          </a:p>
        </p:txBody>
      </p:sp>
      <p:sp>
        <p:nvSpPr>
          <p:cNvPr id="22" name=""/>
          <p:cNvSpPr/>
          <p:nvPr/>
        </p:nvSpPr>
        <p:spPr>
          <a:xfrm rot="0" flipH="0" flipV="0">
            <a:off x="8086725" y="1238250"/>
            <a:ext cx="3571875" cy="1333500"/>
          </a:xfrm>
          <a:prstGeom prst="roundRect">
            <a:avLst>
              <a:gd name="adj" fmla="val 7143"/>
            </a:avLst>
          </a:prstGeom>
          <a:solidFill>
            <a:srgbClr val="F4F7FC"/>
          </a:solidFill>
          <a:ln/>
        </p:spPr>
        <p:txBody>
          <a:bodyPr/>
          <a:p/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8963025" y="1447800"/>
            <a:ext cx="1828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4472C4"/>
                </a:solidFill>
                <a:latin typeface="微软雅黑"/>
                <a:ea typeface="微软雅黑"/>
              </a:rPr>
              <a:t>93.3%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9286875" y="2152650"/>
            <a:ext cx="11811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350">
                <a:solidFill>
                  <a:srgbClr val="1A1A1A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1A1A1A"/>
                </a:solidFill>
                <a:latin typeface="微软雅黑"/>
                <a:ea typeface="微软雅黑"/>
              </a:rPr>
              <a:t>月单月通过率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33400" y="2857500"/>
            <a:ext cx="11125200" cy="619125"/>
          </a:xfrm>
          <a:prstGeom prst="roundRect">
            <a:avLst>
              <a:gd name="adj" fmla="val 15385"/>
            </a:avLst>
          </a:prstGeom>
          <a:solidFill>
            <a:srgbClr val="052B7C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742950" y="3009900"/>
            <a:ext cx="10706100" cy="3143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入职以来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37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项验收</a:t>
            </a:r>
            <a:r>
              <a:rPr lang="en-US" sz="1350" b="1">
                <a:solidFill>
                  <a:srgbClr val="FFFFFF"/>
                </a:solidFill>
                <a:latin typeface="微软雅黑"/>
                <a:ea typeface="微软雅黑"/>
              </a:rPr>
              <a:t> + 19 </a:t>
            </a:r>
            <a:r>
              <a:rPr lang="zh-CN" sz="1350" b="1">
                <a:solidFill>
                  <a:srgbClr val="FFFFFF"/>
                </a:solidFill>
                <a:latin typeface="微软雅黑"/>
                <a:ea typeface="微软雅黑"/>
              </a:rPr>
              <a:t>项问题反馈闭环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，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6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月单月通过率</a:t>
            </a:r>
            <a:r>
              <a:rPr lang="en-US" sz="1350">
                <a:solidFill>
                  <a:srgbClr val="FFFFFF"/>
                </a:solidFill>
                <a:latin typeface="微软雅黑"/>
                <a:ea typeface="微软雅黑"/>
              </a:rPr>
              <a:t> 93.3% → </a:t>
            </a:r>
            <a:r>
              <a:rPr lang="zh-CN" sz="1350">
                <a:solidFill>
                  <a:srgbClr val="FFFFFF"/>
                </a:solidFill>
                <a:latin typeface="微软雅黑"/>
                <a:ea typeface="微软雅黑"/>
              </a:rPr>
              <a:t>把「供应商交付」变「可度量、可追溯、有退回机制」的质量门槛。</a:t>
            </a:r>
            <a:endParaRPr/>
          </a:p>
        </p:txBody>
      </p:sp>
      <p:graphicFrame>
        <p:nvGraphicFramePr>
          <p:cNvPr id="27" name=""/>
          <p:cNvGraphicFramePr/>
          <p:nvPr/>
        </p:nvGraphicFramePr>
        <p:xfrm rot="0" flipH="0" flipV="0">
          <a:off x="533400" y="3810000"/>
          <a:ext cx="11125200" cy="2190750"/>
        </p:xfrm>
        <a:graphic>
          <a:graphicData uri="http://schemas.openxmlformats.org/drawingml/2006/table">
            <a:tbl>
              <a:tblGrid>
                <a:gridCol w="2249357">
                  <a:extLst>
                    <a:ext uri="{9D8B030D-6E8A-4147-A177-3AD203B41FA5}">
                      <a16:colId val="1"/>
                    </a:ext>
                  </a:extLst>
                </a:gridCol>
                <a:gridCol w="3790905">
                  <a:extLst>
                    <a:ext uri="{9D8B030D-6E8A-4147-A177-3AD203B41FA5}">
                      <a16:colId val="2"/>
                    </a:ext>
                  </a:extLst>
                </a:gridCol>
                <a:gridCol w="1511151">
                  <a:extLst>
                    <a:ext uri="{9D8B030D-6E8A-4147-A177-3AD203B41FA5}">
                      <a16:colId val="3"/>
                    </a:ext>
                  </a:extLst>
                </a:gridCol>
                <a:gridCol w="3573786">
                  <a:extLst>
                    <a:ext uri="{9D8B030D-6E8A-4147-A177-3AD203B41FA5}">
                      <a16:colId val="4"/>
                    </a:ext>
                  </a:extLst>
                </a:gridCol>
              </a:tblGrid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周期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验收产出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问题反馈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通过情况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测试 + 2 验收（5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9 项测试验收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15 用例（5 批次）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8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4472C4"/>
                          </a:solidFill>
                          <a:latin typeface="Microsoft YaHei"/>
                          <a:ea typeface="Microsoft YaHei"/>
                        </a:rPr>
                        <a:t>14/15 通过（93.3%）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43815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月（2607）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5 轮验收（8 项）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4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29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10 / 13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a16="http://schemas.microsoft.com/office/drawing/2014/main" xmlns:mc="http://schemas.openxmlformats.org/markup-compatibility/2006" mc:Ignorable="a16">
  <p:cSld>
    <p:spTree>
      <p:nvGrpSpPr>
        <p:cNvPr id="30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五、智能体矩阵与内容生成&lt;/Text&gt;&#10;  &lt;/Box&gt;&#10;&#10;  &lt;Box style={{ position:'absolute', left:56, top:120, right:56 }}&gt;&#10;    &lt;Table&#10;      style={{ width:'100%', height:440 }}&#10;      defaultTextStyle={{ fontSize:15, textAlign:'center', color:'#1A1A1A' }}&#10;      defaultCellStyle={{ border:{ left:{width:1,color:'#CCCCCC'}, right:{width:1,color:'#CCCCCC'}, top:{width:1,color:'#CCCCCC'}, bottom:{width:1,color:'#CCCCCC'} } }}&#10;      cells={[&#10;        [ {text:'智能体', textStyle:{bold:true,color:'#1A1A1A'}, cellStyle:{background:{color:'#DAE3F3'}}},&#10;          {text:'面向', textStyle:{bold:true,color:'#1A1A1A'}, cellStyle:{background:{color:'#DAE3F3'}}},&#10;          {text:'知识规模', textStyle:{bold:true,color:'#1A1A1A'}, cellStyle:{background:{color:'#DAE3F3'}}},&#10;          {text:'结构规模', textStyle:{bold:true,color:'#1A1A1A'}, cellStyle:{background:{color:'#DAE3F3'}}},&#10;          {text:'状态', textStyle:{bold:true,color:'#1A1A1A'}, cellStyle:{background:{color:'#DAE3F3'}}},&#10;          {text:'核心价值', textStyle:{bold:true,color:'#1A1A1A',textAlign:'left'}, cellStyle:{background:{color:'#DAE3F3'}}} ],&#10;        [ '说明书助手', '销售 / 业务', 'TDS 产品库', '6 模式 / 16 节提示词', '已上线', {text:'TDS 咨询秒级应答、选型有据不误导客户', textStyle:{textAlign:'left'}} ],&#10;        [ '销售 SOP / 全能助手', '销售', '7 份 SOP 源文件', '6 场景触发', '已上线', {text:'销售动作标准化、话术统一、新人即上手', textStyle:{textAlign:'left'}} ],&#10;        [ '业务智能助理', '营销中心 / 业务', 'SKILL.md + templates + role', '3 阶段 / 4 岗位自适应', {text:'迭代中 v5', textStyle:{color:'#C0504D',bold:true}}, {text:'客户问题全流程 AI 化 + 合规红线校验', textStyle:{textAlign:'left'}} ],&#10;        [ '应用工艺助手', '研发为主 + 业务', '工艺手册 + 研发培训', '20+ 疵病排查', '已上线', {text:'染整专业问答、客户质疑标准答案', textStyle:{textAlign:'left'}} ],&#10;      ]}&#10;    /&gt;&#10;  &lt;/Box&gt;&#10;&#10;  &lt;Box style={{ position:'absolute', left:56, top:568, right:56 }}&gt;&#10;    &lt;Text style={{ fontSize:16, color:'#1A1A1A', lineHeight:1.5 }}&gt;另有「培训助手」「视频 / 图片生成助手」等能力，构成平台智能体矩阵；06-12 提出 seedance/seedream 独立化诉求，07-14 图片 · 视频生成独立应用落地（营销 / 销售自助生产素材）。&lt;/Text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11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32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42900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五、智能体矩阵与内容生成</a:t>
            </a:r>
            <a:endParaRPr/>
          </a:p>
        </p:txBody>
      </p:sp>
      <p:graphicFrame>
        <p:nvGraphicFramePr>
          <p:cNvPr id="34" name=""/>
          <p:cNvGraphicFramePr/>
          <p:nvPr/>
        </p:nvGraphicFramePr>
        <p:xfrm rot="0" flipH="0" flipV="0">
          <a:off x="533400" y="1143000"/>
          <a:ext cx="11125200" cy="4191000"/>
        </p:xfrm>
        <a:graphic>
          <a:graphicData uri="http://schemas.openxmlformats.org/drawingml/2006/table">
            <a:tbl>
              <a:tblGrid>
                <a:gridCol w="1661671">
                  <a:extLst>
                    <a:ext uri="{9D8B030D-6E8A-4147-A177-3AD203B41FA5}">
                      <a16:colId val="1"/>
                    </a:ext>
                  </a:extLst>
                </a:gridCol>
                <a:gridCol w="1339556">
                  <a:extLst>
                    <a:ext uri="{9D8B030D-6E8A-4147-A177-3AD203B41FA5}">
                      <a16:colId val="2"/>
                    </a:ext>
                  </a:extLst>
                </a:gridCol>
                <a:gridCol w="2372547">
                  <a:extLst>
                    <a:ext uri="{9D8B030D-6E8A-4147-A177-3AD203B41FA5}">
                      <a16:colId val="3"/>
                    </a:ext>
                  </a:extLst>
                </a:gridCol>
                <a:gridCol w="1739423">
                  <a:extLst>
                    <a:ext uri="{9D8B030D-6E8A-4147-A177-3AD203B41FA5}">
                      <a16:colId val="4"/>
                    </a:ext>
                  </a:extLst>
                </a:gridCol>
                <a:gridCol w="861936">
                  <a:extLst>
                    <a:ext uri="{9D8B030D-6E8A-4147-A177-3AD203B41FA5}">
                      <a16:colId val="5"/>
                    </a:ext>
                  </a:extLst>
                </a:gridCol>
                <a:gridCol w="3150067">
                  <a:extLst>
                    <a:ext uri="{9D8B030D-6E8A-4147-A177-3AD203B41FA5}">
                      <a16:colId val="6"/>
                    </a:ext>
                  </a:extLst>
                </a:gridCol>
              </a:tblGrid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智能体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面向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知识规模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结构规模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状态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核心价值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AE3F3"/>
                    </a:solidFill>
                  </a:tcPr>
                </a:tc>
                <a:extLst>
                  <a:ext uri="{0D108BD9-81ED-4DB2-BD59-A6C34878D82A}">
                    <a16:rowId val="1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说明书助手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产品库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模式 / 16 节提示词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TDS 咨询秒级应答、选型有据不误导客户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2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 SOP / 全能助手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7 份 SOP 源文件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6 场景触发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销售动作标准化、话术统一、新人即上手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3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业务智能助理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营销中心 /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SKILL.md + templates + role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3 阶段 / 4 岗位自适应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 b="1">
                          <a:solidFill>
                            <a:srgbClr val="C0504D"/>
                          </a:solidFill>
                          <a:latin typeface="Microsoft YaHei"/>
                          <a:ea typeface="Microsoft YaHei"/>
                        </a:rPr>
                        <a:t>迭代中 v5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客户问题全流程 AI 化 + 合规红线校验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4"/>
                  </a:ext>
                </a:extLst>
              </a:tr>
              <a:tr h="838200"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应用工艺助手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研发为主 + 业务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工艺手册 + 研发培训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20+ 疵病排查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已上线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 wrap="square" lIns="0" tIns="0" rIns="0" bIns="0" anchor="ctr">
                      <a:normAutofit/>
                    </a:bodyPr>
                    <a:p>
                      <a:pPr marL="114300" marR="114300" algn="l">
                        <a:lnSpc>
                          <a:spcPct val="120000"/>
                        </a:lnSpc>
                      </a:pPr>
                      <a:r>
                        <a:rPr sz="1125">
                          <a:solidFill>
                            <a:srgbClr val="1A1A1A"/>
                          </a:solidFill>
                          <a:latin typeface="Microsoft YaHei"/>
                          <a:ea typeface="Microsoft YaHei"/>
                        </a:rPr>
                        <a:t>染整专业问答、客户质疑标准答案</a:t>
                      </a:r>
                      <a:endParaRPr/>
                    </a:p>
                  </a:txBody>
                  <a:tcPr marL="45720" marR="4572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val="5"/>
                  </a:ext>
                </a:extLst>
              </a:tr>
            </a:tbl>
          </a:graphicData>
        </a:graphic>
      </p:graphicFrame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533400" y="5410200"/>
            <a:ext cx="11125200" cy="5524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另有「培训助手」「视频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图片生成助手」等能力，构成平台智能体矩阵；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06-12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提出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seedance/seedream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独立化诉求，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07-14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图片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·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视频生成独立应用落地（营销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销售自助生产素材）。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11 / 13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38" name="" descr="&lt;Slide style={{ width:'1280px', height:'720px', position:'relative', background:'#FFFFFF', fontFamily:'微软雅黑' }}&gt;&#10;  &lt;Box style={{ position:'absolute', left:56, top:36, flexDirection:'row', alignItems:'center', gap:12 }}&gt;&#10;    &lt;Box style={{ width:8, height:34, background:'#4472C4' }} /&gt;&#10;    &lt;Text style={{ fontSize:30, fontWeight:'bold', color:'#052B7C' }}&gt;六、下阶段计划与需支持事项&lt;/Text&gt;&#10;  &lt;/Box&gt;&#10;&#10;  &lt;Box style={{ position:'absolute', left:56, top:130, right:56, flexDirection:'row', gap:36 }}&gt;&#10;    &lt;Box style={{ flex:1.4, flexDirection:'column', gap:14 }}&gt;&#10;      &lt;Text style={{ fontSize:20, fontWeight:'bold', color:'#052B7C' }}&gt;下阶段计划&lt;/Text&gt;&#10;      {['业务智能助理上线前完成检索稳定性测试，沉淀为营销中心标准智能体','推动供应商修复待解项（图片变视频范围、竖屏不支持）','建立工具活跃度 / 采纳率轻量看板','补采采购 / 船务「节省工时」量化，用于增量价值申报','Tax_check / Data_masking 持续运营深化','价格爬取 Skill 回采购培训，巩固「自建 Skill」能力'].map((t, i) =&gt; (&#10;        &lt;Box key={i} style={{ flexDirection:'row', alignItems:'flex-start', gap:12 }}&gt;&#10;          &lt;Box style={{ width:8, height:8, background:'#4472C4', borderRadius:2, marginTop:8 }} /&gt;&#10;          &lt;Text style={{ fontSize:16, color:'#1A1A1A', lineHeight:1.5 }}&gt;{t}&lt;/Text&gt;&#10;        &lt;/Box&gt;&#10;      ))}&#10;    &lt;/Box&gt;&#10;&#10;    &lt;Box style={{ flex:1, flexDirection:'column', gap:14 }}&gt;&#10;      &lt;Text style={{ fontSize:20, fontWeight:'bold', color:'#C0504D' }}&gt;需支持事项&lt;/Text&gt;&#10;      {['业务智能助理检索测试需营销中心提供真实客户问题样本','待解项修复依赖供应商排期，需领导推动优先级','工时量化需业务方配合记录使用前后耗时','采纳率看板需 IT / 数据侧轻量支持'].map((t, i) =&gt; (&#10;        &lt;Box key={i} style={{ flexDirection:'row', alignItems:'flex-start', gap:12 }}&gt;&#10;          &lt;Box style={{ width:8, height:8, background:'#C0504D', borderRadius:2, marginTop:8 }} /&gt;&#10;          &lt;Text style={{ fontSize:16, color:'#1A1A1A', lineHeight:1.5 }}&gt;{t}&lt;/Text&gt;&#10;        &lt;/Box&gt;&#10;      ))}&#10;    &lt;/Box&gt;&#10;  &lt;/Box&gt;&#10;&#10;  &lt;Box style={{ position:'absolute', left:56, top:668, right:56, flexDirection:'row', justifyContent:'space-between' }}&gt;&#10;    &lt;Text style={{ fontSize:14, color:'#888' }}&gt;入职以来 AI 工作复盘&lt;/Text&gt;&#10;    &lt;Text style={{ fontSize:14, color:'#888' }}&gt;12 / 13&lt;/Text&gt;&#10;  &lt;/Box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40" name=""/>
          <p:cNvSpPr/>
          <p:nvPr/>
        </p:nvSpPr>
        <p:spPr>
          <a:xfrm rot="0" flipH="0" flipV="0">
            <a:off x="533400" y="352425"/>
            <a:ext cx="76200" cy="3238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1" name="" descr="{&quot;isTemplate&quot;:true,&quot;type&quot;:&quot;text&quot;}"/>
          <p:cNvSpPr txBox="1"/>
          <p:nvPr/>
        </p:nvSpPr>
        <p:spPr>
          <a:xfrm rot="0" flipH="0" flipV="0">
            <a:off x="723900" y="342900"/>
            <a:ext cx="3714750" cy="342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250" b="1">
                <a:solidFill>
                  <a:srgbClr val="052B7C"/>
                </a:solidFill>
                <a:latin typeface="微软雅黑"/>
                <a:ea typeface="微软雅黑"/>
              </a:rPr>
              <a:t>六、下阶段计划与需支持事项</a:t>
            </a:r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533400" y="1238250"/>
            <a:ext cx="6286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052B7C"/>
                </a:solidFill>
                <a:latin typeface="微软雅黑"/>
                <a:ea typeface="微软雅黑"/>
              </a:rPr>
              <a:t>下阶段计划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5334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723900" y="1600200"/>
            <a:ext cx="4724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业务智能助理上线前完成检索稳定性测试，沉淀为营销中心标准智能体</a:t>
            </a:r>
            <a:endParaRPr/>
          </a:p>
        </p:txBody>
      </p:sp>
      <p:sp>
        <p:nvSpPr>
          <p:cNvPr id="45" name=""/>
          <p:cNvSpPr/>
          <p:nvPr/>
        </p:nvSpPr>
        <p:spPr>
          <a:xfrm rot="0" flipH="0" flipV="0">
            <a:off x="5334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23900" y="2009775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推动供应商修复待解项（图片变视频范围、竖屏不支持）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5334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48" name="" descr="{&quot;isTemplate&quot;:true,&quot;type&quot;:&quot;text&quot;}"/>
          <p:cNvSpPr txBox="1"/>
          <p:nvPr/>
        </p:nvSpPr>
        <p:spPr>
          <a:xfrm rot="0" flipH="0" flipV="0">
            <a:off x="723900" y="2419350"/>
            <a:ext cx="22955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建立工具活跃度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采纳率轻量看板</a:t>
            </a:r>
            <a:endParaRPr/>
          </a:p>
        </p:txBody>
      </p:sp>
      <p:sp>
        <p:nvSpPr>
          <p:cNvPr id="49" name=""/>
          <p:cNvSpPr/>
          <p:nvPr/>
        </p:nvSpPr>
        <p:spPr>
          <a:xfrm rot="0" flipH="0" flipV="0">
            <a:off x="5334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723900" y="2828925"/>
            <a:ext cx="36671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补采采购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船务「节省工时」量化，用于增量价值申报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533400" y="33147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723900" y="3238500"/>
            <a:ext cx="276225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Tax_check / Data_masking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持续运营深化</a:t>
            </a:r>
            <a:endParaRPr/>
          </a:p>
        </p:txBody>
      </p:sp>
      <p:sp>
        <p:nvSpPr>
          <p:cNvPr id="53" name=""/>
          <p:cNvSpPr/>
          <p:nvPr/>
        </p:nvSpPr>
        <p:spPr>
          <a:xfrm rot="0" flipH="0" flipV="0">
            <a:off x="533400" y="37242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723900" y="3648075"/>
            <a:ext cx="341947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价格爬取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回采购培训，巩固「自建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Skill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」能力</a:t>
            </a:r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7162800" y="1238250"/>
            <a:ext cx="44958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C0504D"/>
                </a:solidFill>
                <a:latin typeface="微软雅黑"/>
                <a:ea typeface="微软雅黑"/>
              </a:rPr>
              <a:t>需支持事项</a:t>
            </a:r>
            <a:endParaRPr/>
          </a:p>
        </p:txBody>
      </p:sp>
      <p:sp>
        <p:nvSpPr>
          <p:cNvPr id="56" name=""/>
          <p:cNvSpPr/>
          <p:nvPr/>
        </p:nvSpPr>
        <p:spPr>
          <a:xfrm rot="0" flipH="0" flipV="0">
            <a:off x="7162800" y="167640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7353300" y="1600200"/>
            <a:ext cx="38100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业务智能助理检索测试需营销中心提供真实客户问题样本</a:t>
            </a:r>
            <a:endParaRPr/>
          </a:p>
        </p:txBody>
      </p:sp>
      <p:sp>
        <p:nvSpPr>
          <p:cNvPr id="58" name=""/>
          <p:cNvSpPr/>
          <p:nvPr/>
        </p:nvSpPr>
        <p:spPr>
          <a:xfrm rot="0" flipH="0" flipV="0">
            <a:off x="7162800" y="208597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7353300" y="2009775"/>
            <a:ext cx="32004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待解项修复依赖供应商排期，需领导推动优先级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162800" y="2495550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7353300" y="2419350"/>
            <a:ext cx="2743200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工时量化需业务方配合记录使用前后耗时</a:t>
            </a:r>
            <a:endParaRPr/>
          </a:p>
        </p:txBody>
      </p:sp>
      <p:sp>
        <p:nvSpPr>
          <p:cNvPr id="62" name=""/>
          <p:cNvSpPr/>
          <p:nvPr/>
        </p:nvSpPr>
        <p:spPr>
          <a:xfrm rot="0" flipH="0" flipV="0">
            <a:off x="7162800" y="2905125"/>
            <a:ext cx="76200" cy="76200"/>
          </a:xfrm>
          <a:prstGeom prst="roundRect">
            <a:avLst>
              <a:gd name="adj" fmla="val 25000"/>
            </a:avLst>
          </a:prstGeom>
          <a:solidFill>
            <a:srgbClr val="C0504D"/>
          </a:solidFill>
          <a:ln/>
        </p:spPr>
        <p:txBody>
          <a:bodyPr/>
          <a:p/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7353300" y="2828925"/>
            <a:ext cx="2333625" cy="2762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采纳率看板需</a:t>
            </a:r>
            <a:r>
              <a:rPr lang="en-US" sz="1200">
                <a:solidFill>
                  <a:srgbClr val="1A1A1A"/>
                </a:solidFill>
                <a:latin typeface="微软雅黑"/>
                <a:ea typeface="微软雅黑"/>
              </a:rPr>
              <a:t> IT / </a:t>
            </a:r>
            <a:r>
              <a:rPr lang="zh-CN" sz="1200">
                <a:solidFill>
                  <a:srgbClr val="1A1A1A"/>
                </a:solidFill>
                <a:latin typeface="微软雅黑"/>
                <a:ea typeface="微软雅黑"/>
              </a:rPr>
              <a:t>数据侧轻量支持</a:t>
            </a:r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533400" y="6362700"/>
            <a:ext cx="1285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入职以来</a:t>
            </a: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 AI </a:t>
            </a:r>
            <a:r>
              <a:rPr lang="zh-CN" sz="1050">
                <a:solidFill>
                  <a:srgbClr val="888888"/>
                </a:solidFill>
                <a:latin typeface="微软雅黑"/>
                <a:ea typeface="微软雅黑"/>
              </a:rPr>
              <a:t>工作复盘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1229975" y="6362700"/>
            <a:ext cx="4286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>
                <a:solidFill>
                  <a:srgbClr val="888888"/>
                </a:solidFill>
                <a:latin typeface="微软雅黑"/>
                <a:ea typeface="微软雅黑"/>
              </a:rPr>
              <a:t>12 / 13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66" name="" descr="&lt;Slide style={{ width:'1280px', height:'720px', position:'relative', background:'#FFFFFF', fontFamily:'微软雅黑' }}&gt;&#10;  &lt;Box style={{ position:'absolute', left:0, top:300, width:1280, height:230, background:'#4472C4', justifyContent:'center', alignItems:'center' }}&gt;&#10;    &lt;Text style={{ fontSize:56, fontWeight:'bold', color:'#FFFFFF' }}&gt;汇报完毕！&lt;/Text&gt;&#10;    &lt;Text style={{ fontSize:26, color:'#FFFFFF', marginTop:16 }}&gt;没有绩效，一切无效&lt;/Text&gt;&#10;  &lt;/Box&gt;&#10;&#10;  &lt;Box style={{ position:'absolute', left:80, top:120, flexDirection:'row', alignItems:'center', gap:12 }}&gt;&#10;    &lt;Box style={{ width:48, height:3, background:'#4472C4' }} /&gt;&#10;    &lt;Text style={{ fontSize:16, color:'#052B7C' }}&gt;助力企业利润持续增长&lt;/Text&gt;&#10;  &lt;/Box&gt;&#10;&#10;  &lt;Box style={{ position:'absolute', left:80, top:580, flexDirection:'column', gap:10 }}&gt;&#10;    &lt;Text style={{ fontSize:18, color:'#052B7C' }}&gt;部　　门：AI 技术专员（宏昊AI助手平台）&lt;/Text&gt;&#10;    &lt;Text style={{ fontSize:18, color:'#052B7C' }}&gt;汇报人：肖聪&lt;/Text&gt;&#10;    &lt;Text style={{ fontSize:18, color:'#052B7C' }}&gt;汇报期间：2026.04.15 – 2026.07.31（入职以来）&lt;/Text&gt;&#10;  &lt;/Box&gt;&#10;&#10;  &lt;Text style={{ position:'absolute', right:80, bottom:60, fontSize:16, color:'#052B7C', fontWeight:'bold' }}&gt;- 机密受控 -&lt;/Text&gt;&#10;&lt;/Slide&gt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p/>
        </p:txBody>
      </p:sp>
      <p:sp>
        <p:nvSpPr>
          <p:cNvPr id="68" name=""/>
          <p:cNvSpPr/>
          <p:nvPr/>
        </p:nvSpPr>
        <p:spPr>
          <a:xfrm rot="0" flipH="0" flipV="0">
            <a:off x="0" y="2857500"/>
            <a:ext cx="12192000" cy="2190750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4762500" y="3400425"/>
            <a:ext cx="26670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FFFFFF"/>
                </a:solidFill>
                <a:latin typeface="微软雅黑"/>
                <a:ea typeface="微软雅黑"/>
              </a:rPr>
              <a:t>汇报完毕！</a:t>
            </a:r>
            <a:endParaRPr/>
          </a:p>
        </p:txBody>
      </p:sp>
      <p:sp>
        <p:nvSpPr>
          <p:cNvPr id="70" name="" descr="{&quot;isTemplate&quot;:true,&quot;type&quot;:&quot;text&quot;}"/>
          <p:cNvSpPr txBox="1"/>
          <p:nvPr/>
        </p:nvSpPr>
        <p:spPr>
          <a:xfrm rot="0" flipH="0" flipV="0">
            <a:off x="4981575" y="4200525"/>
            <a:ext cx="22288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950">
                <a:solidFill>
                  <a:srgbClr val="FFFFFF"/>
                </a:solidFill>
                <a:latin typeface="微软雅黑"/>
                <a:ea typeface="微软雅黑"/>
              </a:rPr>
              <a:t>没有绩效，一切无效</a:t>
            </a:r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762000" y="1228725"/>
            <a:ext cx="457200" cy="28575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p/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1333500" y="1143000"/>
            <a:ext cx="15240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052B7C"/>
                </a:solidFill>
                <a:latin typeface="微软雅黑"/>
                <a:ea typeface="微软雅黑"/>
              </a:rPr>
              <a:t>助力企业利润持续增长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762000" y="55245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部　　门：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 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技术专员（宏昊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AI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助手平台）</a:t>
            </a:r>
            <a:endParaRPr/>
          </a:p>
        </p:txBody>
      </p:sp>
      <p:sp>
        <p:nvSpPr>
          <p:cNvPr id="74" name="" descr="{&quot;isTemplate&quot;:true,&quot;type&quot;:&quot;text&quot;}"/>
          <p:cNvSpPr txBox="1"/>
          <p:nvPr/>
        </p:nvSpPr>
        <p:spPr>
          <a:xfrm rot="0" flipH="0" flipV="0">
            <a:off x="762000" y="58293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汇报人：肖聪</a:t>
            </a:r>
            <a:endParaRPr/>
          </a:p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762000" y="6134100"/>
            <a:ext cx="37814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汇报期间：</a:t>
            </a:r>
            <a:r>
              <a:rPr lang="en-US" sz="1350">
                <a:solidFill>
                  <a:srgbClr val="052B7C"/>
                </a:solidFill>
                <a:latin typeface="微软雅黑"/>
                <a:ea typeface="微软雅黑"/>
              </a:rPr>
              <a:t>2026.04.15 – 2026.07.31</a:t>
            </a:r>
            <a:r>
              <a:rPr lang="zh-CN" sz="1350">
                <a:solidFill>
                  <a:srgbClr val="052B7C"/>
                </a:solidFill>
                <a:latin typeface="微软雅黑"/>
                <a:ea typeface="微软雅黑"/>
              </a:rPr>
              <a:t>（入职以来）</a:t>
            </a:r>
            <a:endParaRPr/>
          </a:p>
        </p:txBody>
      </p:sp>
      <p:sp>
        <p:nvSpPr>
          <p:cNvPr id="76" name="" descr="{&quot;isTemplate&quot;:true,&quot;type&quot;:&quot;text&quot;}"/>
          <p:cNvSpPr txBox="1"/>
          <p:nvPr/>
        </p:nvSpPr>
        <p:spPr>
          <a:xfrm rot="0" flipH="0" flipV="0">
            <a:off x="10591800" y="6096000"/>
            <a:ext cx="838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- </a:t>
            </a:r>
            <a:r>
              <a:rPr lang="zh-CN" sz="1200" b="1">
                <a:solidFill>
                  <a:srgbClr val="052B7C"/>
                </a:solidFill>
                <a:latin typeface="微软雅黑"/>
                <a:ea typeface="微软雅黑"/>
              </a:rPr>
              <a:t>机密受控</a:t>
            </a:r>
            <a:r>
              <a:rPr lang="en-US" sz="1200" b="1">
                <a:solidFill>
                  <a:srgbClr val="052B7C"/>
                </a:solidFill>
                <a:latin typeface="微软雅黑"/>
                <a:ea typeface="微软雅黑"/>
              </a:rPr>
              <a:t> -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2026-08-17T17:34:54Z</dcterms:created>
  <dcterms:modified xsi:type="dcterms:W3CDTF">2026-08-17T17:34:54Z</dcterms:modified>
</cp:coreProperties>
</file>