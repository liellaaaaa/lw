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4" Type="http://schemas.openxmlformats.org/officeDocument/2006/relationships/slide" Target="slides/slide4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4" Type="http://schemas.openxmlformats.org/officeDocument/2006/relationships/notesMaster" Target="notesMasters/notesMaster1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6" Type="http://schemas.openxmlformats.org/officeDocument/2006/relationships/slide" Target="slides/slide6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133475"/>
            <a:ext cx="457200" cy="28575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333500" y="104775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52B7C"/>
                </a:solidFill>
                <a:latin typeface="微软雅黑"/>
                <a:ea typeface="微软雅黑"/>
              </a:rPr>
              <a:t>助力企业利润持续增长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0" y="2857500"/>
            <a:ext cx="12192000" cy="21907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181350" y="3457575"/>
            <a:ext cx="58293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/>
                <a:ea typeface="微软雅黑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/>
                <a:ea typeface="微软雅黑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/>
                <a:ea typeface="微软雅黑"/>
              </a:rPr>
              <a:t>应用交付复盘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076700" y="41910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/>
                <a:ea typeface="微软雅黑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/>
                <a:ea typeface="微软雅黑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/>
                <a:ea typeface="微软雅黑"/>
              </a:rPr>
              <a:t>技术专员工作复盘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55245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部　　门：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AI 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技术专员（宏昊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AI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助手平台）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58293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汇报人：肖聪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61341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汇报期间：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2026.04.15 – 2026.07.31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（入职以来）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10591800" y="609600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52B7C"/>
                </a:solidFill>
                <a:latin typeface="微软雅黑"/>
                <a:ea typeface="微软雅黑"/>
              </a:rPr>
              <a:t>- </a:t>
            </a:r>
            <a:r>
              <a:rPr lang="zh-CN" sz="1200" b="1">
                <a:solidFill>
                  <a:srgbClr val="052B7C"/>
                </a:solidFill>
                <a:latin typeface="微软雅黑"/>
                <a:ea typeface="微软雅黑"/>
              </a:rPr>
              <a:t>机密受控</a:t>
            </a:r>
            <a:r>
              <a:rPr lang="en-US" sz="1200" b="1">
                <a:solidFill>
                  <a:srgbClr val="052B7C"/>
                </a:solidFill>
                <a:latin typeface="微软雅黑"/>
                <a:ea typeface="微软雅黑"/>
              </a:rPr>
              <a:t> -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533400" y="2752725"/>
            <a:ext cx="2857500" cy="619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/>
                <a:ea typeface="微软雅黑"/>
              </a:rPr>
              <a:t>目录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533400" y="3448050"/>
            <a:ext cx="2857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/>
                <a:ea typeface="微软雅黑"/>
              </a:rPr>
              <a:t>CONTENTS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324350" y="1933575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一、工作概览与量化总览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324350" y="2400300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二、内部工作：自研应用交付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324350" y="2867025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/>
                <a:ea typeface="微软雅黑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抽象与复用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4324350" y="3333750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四、内部工作：培训与推广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4324350" y="3800475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/>
                <a:ea typeface="微软雅黑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助手平台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4324350" y="4267200"/>
            <a:ext cx="73342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/>
                <a:ea typeface="微软雅黑"/>
              </a:rPr>
              <a:t>六、下阶段计划与需支持事项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2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一、工作概览与量化总览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2152650" y="144780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714500" y="2152650"/>
            <a:ext cx="1209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自研应用</a:t>
            </a:r>
            <a:r>
              <a:rPr lang="en-US" sz="135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工具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924550" y="144780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2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743575" y="2152650"/>
            <a:ext cx="704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9705975" y="144780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4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9448800" y="2152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业务智能体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533400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1981200" y="2990850"/>
            <a:ext cx="685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37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95475" y="36957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平台验收项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4314825" y="27813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5753100" y="2990850"/>
            <a:ext cx="685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12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5753100" y="36957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培训场次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8086725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9705975" y="2990850"/>
            <a:ext cx="3429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7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534525" y="36957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覆盖部门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533400" y="533400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42950" y="5486400"/>
            <a:ext cx="107061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天）、持续迭代（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110+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条代码）。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03 / 13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8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二、自研应用交付总览</a:t>
            </a:r>
            <a:endParaRPr/>
          </a:p>
        </p:txBody>
      </p:sp>
      <p:graphicFrame>
        <p:nvGraphicFramePr>
          <p:cNvPr id="120" name=""/>
          <p:cNvGraphicFramePr/>
          <p:nvPr/>
        </p:nvGraphicFramePr>
        <p:xfrm rot="0" flipH="0" flipV="0">
          <a:off x="533400" y="1143000"/>
          <a:ext cx="11125200" cy="4000500"/>
        </p:xfrm>
        <a:graphic>
          <a:graphicData uri="http://schemas.openxmlformats.org/drawingml/2006/table">
            <a:tbl>
              <a:tblGrid>
                <a:gridCol w="3469956">
                  <a:extLst>
                    <a:ext uri="{9D8B030D-6E8A-4147-A177-3AD203B41FA5}">
                      <a16:colId val="1"/>
                    </a:ext>
                  </a:extLst>
                </a:gridCol>
                <a:gridCol w="1375336">
                  <a:extLst>
                    <a:ext uri="{9D8B030D-6E8A-4147-A177-3AD203B41FA5}">
                      <a16:colId val="2"/>
                    </a:ext>
                  </a:extLst>
                </a:gridCol>
                <a:gridCol w="2007674">
                  <a:extLst>
                    <a:ext uri="{9D8B030D-6E8A-4147-A177-3AD203B41FA5}">
                      <a16:colId val="3"/>
                    </a:ext>
                  </a:extLst>
                </a:gridCol>
                <a:gridCol w="1375336">
                  <a:extLst>
                    <a:ext uri="{9D8B030D-6E8A-4147-A177-3AD203B41FA5}">
                      <a16:colId val="4"/>
                    </a:ext>
                  </a:extLst>
                </a:gridCol>
                <a:gridCol w="2896899">
                  <a:extLst>
                    <a:ext uri="{9D8B030D-6E8A-4147-A177-3AD203B41FA5}">
                      <a16:colId val="5"/>
                    </a:ext>
                  </a:extLst>
                </a:gridCol>
              </a:tblGrid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应用 / 工具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交付时间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形态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主要对象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采购分析助手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05-29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前后端 Web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采购部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维护中（至 07-30）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船务 T/T 协议自动化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06-22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前后端 Web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船务部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95%+ 试用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数据脱敏 Data_masking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07-28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桌面 .exe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财务部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长期优化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对账单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已交付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纯前端 HTML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财务部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已交付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Tax_check 退税审单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08-01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桌面 .exe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财务部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已交付运营（收尾）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33400" y="5334000"/>
            <a:ext cx="1112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自研平均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/>
                <a:ea typeface="微软雅黑"/>
              </a:rPr>
              <a:t>~25 </a:t>
            </a:r>
            <a:r>
              <a:rPr lang="zh-CN" sz="1200" b="1">
                <a:solidFill>
                  <a:srgbClr val="4472C4"/>
                </a:solidFill>
                <a:latin typeface="微软雅黑"/>
                <a:ea typeface="微软雅黑"/>
              </a:rPr>
              <a:t>天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交付；含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1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次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PyQt5→Web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重构（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05-27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）、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2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次架构级重构（采购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06-27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、船务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08-01 JSON→SQLite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）；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110+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条代码迭代。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MSDS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中英文双语生成内嵌于船务助手，不作独立交付项。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24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采购分析助手（ProcurementAnalysis）&lt;/Text&gt;&#10;  &lt;/Box&gt;&#10;&#10;  &lt;Box style={{ position:'absolute', left:56, top:140, right:56, flexDirection:'row', gap:36 }}&gt;&#10;    &lt;Box style={{ width:420, flexDirection:'column', gap:18 }}&gt;&#10;      &lt;Box style={{ background:'#F4F7FC', borderRadius:10, padding:'18px 22px' }}&gt;&#10;        &lt;Text style={{ fontSize:60, fontWeight:'bold', color:'#4472C4' }}&gt;15,227&lt;/Text&gt;&#10;        &lt;Text style={{ fontSize:16, color:'#1A1A1A', marginTop:4 }}&gt;条价格数据（基准价 5,673 + 报价 9,554）&lt;/Text&gt;&#10;      &lt;/Box&gt;&#10;      &lt;Box style={{ flexDirection:'row', gap:18 }}&gt;&#10;        &lt;Box style={{ flex:1, background:'#F4F7FC', borderRadius:10, padding:'16px 18px', alignItems:'center' }}&gt;&#10;          &lt;Text style={{ fontSize:44, fontWeight:'bold', color:'#052B7C' }}&gt;61&lt;/Text&gt;&#10;          &lt;Text style={{ fontSize:15, color:'#1A1A1A', marginTop:2 }}&gt;覆盖品类&lt;/Text&gt;&#10;        &lt;/Box&gt;&#10;        &lt;Box style={{ flex:1, background:'#F4F7FC', borderRadius:10, padding:'16px 18px', alignItems:'center' }}&gt;&#10;          &lt;Text style={{ fontSize:44, fontWeight:'bold', color:'#052B7C' }}&gt;7&lt;/Text&gt;&#10;          &lt;Text style={{ fontSize:15, color:'#1A1A1A', marginTop:2 }}&gt;功能模块&lt;/Text&gt;&#10;        &lt;/Box&gt;&#10;      &lt;/Box&gt;&#10;      &lt;Text style={{ fontSize:16, color:'#1A1A1A' }}&gt;交付周期 &lt;span style={{ fontWeight:'bold', color:'#4472C4' }}&gt;29 天&lt;/span&gt;（04-30 → 05-29 移交采购部）&lt;/Text&gt;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采购原料价格波动大、品类多（61 个），原靠人工盯盘 + Excel，价格异常往往事后才发现，供应商比价缺系统支撑。&lt;/Text&gt;&#10;      &lt;Text style={{ fontSize:18, fontWeight:'bold', color:'#052B7C', marginTop:6 }}&gt;价值&lt;/Text&gt;&#10;      &lt;Text style={{ fontSize:17, color:'#1A1A1A', lineHeight:1.6 }}&gt;15,227 条数据 + 7 模块把价格监控系统化——看板看趋势、预警推异常、供应商看板横向比价；6 月架构重构后查询更快更稳，让「拍脑袋比价」变「看数据决策」。&lt;/Text&gt;&#10;      &lt;Text style={{ fontSize:17, color:'#1A1A1A', marginTop:4 }}&gt;主要对象：&lt;span style={{ fontWeight:'bold' }}&gt;采购部&lt;/span&gt;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5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6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5334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采购分析助手（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ProcurementAnalysis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533400" y="1333500"/>
            <a:ext cx="4000500" cy="1257300"/>
          </a:xfrm>
          <a:prstGeom prst="roundRect">
            <a:avLst>
              <a:gd name="adj" fmla="val 7576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42950" y="1504950"/>
            <a:ext cx="35814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4472C4"/>
                </a:solidFill>
                <a:latin typeface="微软雅黑"/>
                <a:ea typeface="微软雅黑"/>
              </a:rPr>
              <a:t>15,227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42950" y="2228850"/>
            <a:ext cx="3581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条价格数据（基准价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5,673 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报价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9,554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533400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219200" y="2914650"/>
            <a:ext cx="5429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/>
                <a:ea typeface="微软雅黑"/>
              </a:rPr>
              <a:t>61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209675" y="34385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覆盖品类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2619375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3438525" y="2914650"/>
            <a:ext cx="2762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/>
                <a:ea typeface="微软雅黑"/>
              </a:rPr>
              <a:t>7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3295650" y="3438525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功能模块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33400" y="3933825"/>
            <a:ext cx="4000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交付周期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/>
                <a:ea typeface="微软雅黑"/>
              </a:rPr>
              <a:t>29 </a:t>
            </a:r>
            <a:r>
              <a:rPr lang="zh-CN" sz="1200" b="1">
                <a:solidFill>
                  <a:srgbClr val="4472C4"/>
                </a:solidFill>
                <a:latin typeface="微软雅黑"/>
                <a:ea typeface="微软雅黑"/>
              </a:rPr>
              <a:t>天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（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04-30 → 05-29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移交采购部）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876800" y="1476375"/>
            <a:ext cx="678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痛点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876800" y="1819275"/>
            <a:ext cx="6781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采购原料价格波动大、品类多（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61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个），原靠人工盯盘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+ Excel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，价格异常往往事后才发现，供应商比价缺系统支撑。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876800" y="2638425"/>
            <a:ext cx="678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价值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876800" y="2981325"/>
            <a:ext cx="6781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15,227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条数据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+ 7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模块把价格监控系统化——看板看趋势、预警推异常、供应商看板横向比价；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6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月架构重构后查询更快更稳，让「拍脑袋比价」变「看数据决策」。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876800" y="3781425"/>
            <a:ext cx="678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/>
                <a:ea typeface="微软雅黑"/>
              </a:rPr>
              <a:t>采购部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45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船务 T/T 协议自动化（shipping-helper）&lt;/Text&gt;&#10;  &lt;/Box&gt;&#10;&#10;  &lt;Box style={{ position:'absolute', left:56, top:140, right:56, flexDirection:'row', gap:36 }}&gt;&#10;    &lt;Box style={{ width:400, flexDirection:'column', gap:14 }}&gt;&#10;      {[['26 天','首版交付周期（05-28 → 06-22）'],['4 类','支持单证：Booking / LOI / MSDS / 报关'],['389','HS 编码基础数据'],['13+2+3','桶型 / 托盘 / 运输模式'],['95%+','当前进度（07-24 完成培训）']].map((c, i) =&gt; (&#10;        &lt;Box key={i} style={{ flexDirection:'row', alignItems:'center', gap:14, background:'#F4F7FC', borderRadius:10, padding:'12px 18px' }}&gt;&#10;          &lt;Text style={{ fontSize:30, fontWeight:'bold', color:'#4472C4', minWidth:90 }}&gt;{c[0]}&lt;/Text&gt;&#10;          &lt;Text style={{ fontSize:15, color:'#1A1A1A' }}&gt;{c[1]}&lt;/Text&gt;&#10;        &lt;/Box&gt;&#10;      ))}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船务 TT 协议涉及订舱单、保函、MSDS、报关资料多类单证，原靠人工逐项填写，易错、耗时长；HS 编码归类、包装计算尤其易算错，错了即退单 / 延误。&lt;/Text&gt;&#10;      &lt;Text style={{ fontSize:18, fontWeight:'bold', color:'#052B7C', marginTop:6 }}&gt;价值&lt;/Text&gt;&#10;      &lt;Text style={{ fontSize:17, color:'#1A1A1A', lineHeight:1.6 }}&gt;把 14 份梳理文档沉淀的流程变成自动化工具——录入基础数据即生成 4 类单证、自动算包装与 HS 编码；7 月深化后 PI 解析接入 DeepSeek、报关资料自动化，把「人填」变「系统出」。MSDS 双语生成内嵌，免翻译免乱码。&lt;/Text&gt;&#10;      &lt;Text style={{ fontSize:17, color:'#1A1A1A', marginTop:4 }}&gt;主要对象：&lt;span style={{ fontWeight:'bold' }}&gt;船务部&lt;/span&gt;（万凤、潘慧兰）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6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5514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船务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T/T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协议自动化（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shipping-helper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533400" y="13335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04850" y="1447800"/>
            <a:ext cx="857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26 </a:t>
            </a:r>
            <a:r>
              <a:rPr lang="zh-CN" sz="2250" b="1">
                <a:solidFill>
                  <a:srgbClr val="4472C4"/>
                </a:solidFill>
                <a:latin typeface="微软雅黑"/>
                <a:ea typeface="微软雅黑"/>
              </a:rPr>
              <a:t>天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695450" y="1533525"/>
            <a:ext cx="2105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首版交付周期（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05-28 → 06-22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533400" y="20383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704850" y="2152650"/>
            <a:ext cx="857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4 </a:t>
            </a:r>
            <a:r>
              <a:rPr lang="zh-CN" sz="2250" b="1">
                <a:solidFill>
                  <a:srgbClr val="4472C4"/>
                </a:solidFill>
                <a:latin typeface="微软雅黑"/>
                <a:ea typeface="微软雅黑"/>
              </a:rPr>
              <a:t>类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695450" y="2238375"/>
            <a:ext cx="2476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支持单证：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Booking / LOI / MSDS /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报关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533400" y="27432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04850" y="2857500"/>
            <a:ext cx="857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389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695450" y="294322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HS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编码基础数据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533400" y="34480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04850" y="3562350"/>
            <a:ext cx="1200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13+2+3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2038350" y="36480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桶型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托盘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运输模式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533400" y="41529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04850" y="4267200"/>
            <a:ext cx="942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/>
                <a:ea typeface="微软雅黑"/>
              </a:rPr>
              <a:t>95%+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781175" y="4352925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当前进度（</a:t>
            </a:r>
            <a:r>
              <a:rPr lang="en-US" sz="1125">
                <a:solidFill>
                  <a:srgbClr val="1A1A1A"/>
                </a:solidFill>
                <a:latin typeface="微软雅黑"/>
                <a:ea typeface="微软雅黑"/>
              </a:rPr>
              <a:t>07-24 </a:t>
            </a:r>
            <a:r>
              <a:rPr lang="zh-CN" sz="1125">
                <a:solidFill>
                  <a:srgbClr val="1A1A1A"/>
                </a:solidFill>
                <a:latin typeface="微软雅黑"/>
                <a:ea typeface="微软雅黑"/>
              </a:rPr>
              <a:t>完成培训）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4686300" y="1628775"/>
            <a:ext cx="6972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痛点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4686300" y="1971675"/>
            <a:ext cx="69723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船务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TT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协议涉及订舱单、保函、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MSDS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、报关资料多类单证，原靠人工逐项填写，易错、耗时长；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HS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编码归类、包装计算尤其易算错，错了即退单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延误。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686300" y="2790825"/>
            <a:ext cx="6972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/>
                <a:ea typeface="微软雅黑"/>
              </a:rPr>
              <a:t>价值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686300" y="3133725"/>
            <a:ext cx="69723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把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14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份梳理文档沉淀的流程变成自动化工具——录入基础数据即生成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4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类单证、自动算包装与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HS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编码；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7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月深化后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PI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解析接入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DeepSeek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、报关资料自动化，把「人填」变「系统出」。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MSDS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双语生成内嵌，免翻译免乱码。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686300" y="4238625"/>
            <a:ext cx="6972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/>
                <a:ea typeface="微软雅黑"/>
              </a:rPr>
              <a:t>船务部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（万凤、潘慧兰）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06 / 13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7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数据脱敏 / 对账单 / Tax_check&lt;/Text&gt;&#10;  &lt;/Box&gt;&#10;&#10;  &lt;Box style={{ position:'absolute', left:56, top:130, right:56, flexDirection:'row', gap:22 }}&gt;&#10;    &lt;Box style={{ flex:1, background:'#F4F7FC', borderRadius:12, padding:22, flexDirection:'column', gap:10 }}&gt;&#10;      &lt;Text style={{ fontSize:22, fontWeight:'bold', color:'#052B7C' }}&gt;数据脱敏 Data_masking&lt;/Text&gt;&#10;      &lt;Text style={{ fontSize:16, color:'#1A1A1A', lineHeight:1.6 }}&gt;· 12 种脱敏方法（姓名/身份证/手机/银行卡…）&lt;/Text&gt;&#10;      &lt;Text style={{ fontSize:16, color:'#1A1A1A', lineHeight:1.6 }}&gt;· .exe 一键打包，支持 4 种编码&lt;/Text&gt;&#10;      &lt;Text style={{ fontSize:16, color:'#1A1A1A', lineHeight:1.6 }}&gt;· 交付 07-28 财务部&lt;/Text&gt;&#10;      &lt;Box style={{ marginTop:6, background:'#FCE4D6', borderRadius:6, padding:'6px 12px', alignSelf:'flex-start' }}&gt;&lt;Text style={{ fontSize:15, fontWeight:'bold', color:'#C0504D' }}&gt;状态：长期优化（小需求大场景）&lt;/Text&gt;&lt;/Box&gt;&#10;    &lt;/Box&gt;&#10;    &lt;Box style={{ flex:1, background:'#F4F7FC', borderRadius:12, padding:22, flexDirection:'column', gap:10 }}&gt;&#10;      &lt;Text style={{ fontSize:22, fontWeight:'bold', color:'#052B7C' }}&gt;对账单&lt;/Text&gt;&#10;      &lt;Text style={{ fontSize:16, color:'#1A1A1A', lineHeight:1.6 }}&gt;· 纯前端 HTML 单页，零部署即开即用&lt;/Text&gt;&#10;      &lt;Text style={{ fontSize:16, color:'#1A1A1A', lineHeight:1.6 }}&gt;· 财务对账从 Excel 手工 → 网页自助生成&lt;/Text&gt;&#10;      &lt;Text style={{ fontSize:16, color:'#1A1A1A', lineHeight:1.6 }}&gt;· 交付：财务部&lt;/Text&gt;&#10;      &lt;Box style={{ marginTop:6, background:'#DAE3F3', borderRadius:6, padding:'6px 12px', alignSelf:'flex-start' }}&gt;&lt;Text style={{ fontSize:15, fontWeight:'bold', color:'#052B7C' }}&gt;状态：已交付&lt;/Text&gt;&lt;/Box&gt;&#10;    &lt;/Box&gt;&#10;    &lt;Box style={{ flex:1, background:'#F4F7FC', borderRadius:12, padding:22, flexDirection:'column', gap:10 }}&gt;&#10;      &lt;Text style={{ fontSize:22, fontWeight:'bold', color:'#052B7C' }}&gt;Tax_check 退税审单&lt;/Text&gt;&#10;      &lt;Text style={{ fontSize:16, color:'#1A1A1A', lineHeight:1.6 }}&gt;· 16+ 单据 OCR + 价格条款矩阵体检&lt;/Text&gt;&#10;      &lt;Text style={{ fontSize:16, color:'#1A1A1A', lineHeight:1.6 }}&gt;· 本地 .exe 运行，数据不出境&lt;/Text&gt;&#10;      &lt;Text style={{ fontSize:16, color:'#1A1A1A', lineHeight:1.6 }}&gt;· 交付 08-01 财务部&lt;/Text&gt;&#10;      &lt;Box style={{ marginTop:6, background:'#DAE3F3', borderRadius:6, padding:'6px 12px', alignSelf:'flex-start' }}&gt;&lt;Text style={{ fontSize:15, fontWeight:'bold', color:'#052B7C' }}&gt;状态：已交付运营（收尾）&lt;/Text&gt;&lt;/Box&gt;&#10;    &lt;/Box&gt;&#10;  &lt;/Box&gt;&#10;&#10;  &lt;Box style={{ position:'absolute', left:56, top:560, right:56 }}&gt;&#10;    &lt;Text style={{ fontSize:16, color:'#1A1A1A', lineHeight:1.5 }}&gt;三项均为财务侧合规 / 效率工具：数据脱敏与 Tax_check 为桌面 .exe（满足敏感数据不出境），对账单为轻量纯前端——体现「小需求、快交付、大场景」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7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3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4200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数据脱敏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/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对账单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/ Tax_check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533400" y="1238250"/>
            <a:ext cx="3571875" cy="2581275"/>
          </a:xfrm>
          <a:prstGeom prst="roundRect">
            <a:avLst>
              <a:gd name="adj" fmla="val 4428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42950" y="1447800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/>
                <a:ea typeface="微软雅黑"/>
              </a:rPr>
              <a:t>数据脱敏</a:t>
            </a:r>
            <a:r>
              <a:rPr lang="en-US" sz="1650" b="1">
                <a:solidFill>
                  <a:srgbClr val="052B7C"/>
                </a:solidFill>
                <a:latin typeface="微软雅黑"/>
                <a:ea typeface="微软雅黑"/>
              </a:rPr>
              <a:t> Data_masking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42950" y="1800225"/>
            <a:ext cx="31527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12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种脱敏方法（姓名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身份证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手机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银行卡…）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42950" y="2486025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.exe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一键打包，支持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4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种编码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42950" y="2876550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07-28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财务部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742950" y="3324225"/>
            <a:ext cx="2371725" cy="285750"/>
          </a:xfrm>
          <a:prstGeom prst="roundRect">
            <a:avLst>
              <a:gd name="adj" fmla="val 20000"/>
            </a:avLst>
          </a:prstGeom>
          <a:solidFill>
            <a:srgbClr val="FCE4D6"/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57250" y="3381375"/>
            <a:ext cx="214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C0504D"/>
                </a:solidFill>
                <a:latin typeface="微软雅黑"/>
                <a:ea typeface="微软雅黑"/>
              </a:rPr>
              <a:t>状态：长期优化（小需求大场景）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4314825" y="1238250"/>
            <a:ext cx="3562350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524375" y="1447800"/>
            <a:ext cx="31432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/>
                <a:ea typeface="微软雅黑"/>
              </a:rPr>
              <a:t>对账单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4524375" y="1800225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纯前端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HTML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单页，零部署即开即用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4524375" y="2190750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财务对账从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Excel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手工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→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网页自助生成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4524375" y="2581275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交付：财务部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4524375" y="3028950"/>
            <a:ext cx="10858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638675" y="3086100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状态：已交付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8086725" y="1238250"/>
            <a:ext cx="3571875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296275" y="1447800"/>
            <a:ext cx="3152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52B7C"/>
                </a:solidFill>
                <a:latin typeface="微软雅黑"/>
                <a:ea typeface="微软雅黑"/>
              </a:rPr>
              <a:t>Tax_check </a:t>
            </a:r>
            <a:r>
              <a:rPr lang="zh-CN" sz="1650" b="1">
                <a:solidFill>
                  <a:srgbClr val="052B7C"/>
                </a:solidFill>
                <a:latin typeface="微软雅黑"/>
                <a:ea typeface="微软雅黑"/>
              </a:rPr>
              <a:t>退税审单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8296275" y="1800225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16+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单据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OCR +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价格条款矩阵体检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8296275" y="2190750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本地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.exe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运行，数据不出境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8296275" y="2581275"/>
            <a:ext cx="31527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08-01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财务部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8296275" y="3028950"/>
            <a:ext cx="194310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410575" y="308610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状态：已交付运营（收尾）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533400" y="5334000"/>
            <a:ext cx="11125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三项均为财务侧合规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效率工具：数据脱敏与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Tax_check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为桌面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.exe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（满足敏感数据不出境），对账单为轻量纯前端——体现「小需求、快交付、大场景」。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1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2705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抽象与复用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42950" y="1257300"/>
            <a:ext cx="107061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/>
                <a:ea typeface="微软雅黑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/>
                <a:ea typeface="微软雅黑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/>
                <a:ea typeface="微软雅黑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/>
                <a:ea typeface="微软雅黑"/>
              </a:rPr>
              <a:t>赋能业务自建。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62000" y="21336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62000" y="2505075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，交付财务部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62000" y="2952750"/>
            <a:ext cx="49720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做审单流程复用与下沉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62000" y="3733800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专工具的依赖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876300" y="4276725"/>
            <a:ext cx="142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状态：已交付财务使用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457950" y="2133600"/>
            <a:ext cx="49720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/>
                <a:ea typeface="微软雅黑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/>
                <a:ea typeface="微软雅黑"/>
              </a:rPr>
              <a:t>）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457950" y="2752725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的能力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457950" y="3200400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」能力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457950" y="3648075"/>
            <a:ext cx="49720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/>
                <a:ea typeface="微软雅黑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/>
                <a:ea typeface="微软雅黑"/>
              </a:rPr>
              <a:t>小组退后为把关角色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0" y="4191000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/>
                <a:ea typeface="微软雅黑"/>
              </a:rPr>
              <a:t>状态：赋能中（回培训）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08 / 13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四、培训与推广&lt;/Text&gt;&#10;  &lt;/Box&gt;&#10;&#10;  &lt;Box style={{ position:'absolute', left:56, top:120, right:56 }}&gt;&#10;    &lt;Table&#10;      style={{ width:'100%', height:4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月份', textStyle:{bold:true,color:'#1A1A1A'}, cellStyle:{background:{color:'#DAE3F3'}}},&#10;          {text:'主导', textStyle:{bold:true,color:'#1A1A1A'}, cellStyle:{background:{color:'#DAE3F3'}}},&#10;          {text:'协助 / 参与', textStyle:{bold:true,color:'#1A1A1A'}, cellStyle:{background:{color:'#DAE3F3'}}},&#10;          {text:'主要培训主题', textStyle:{bold:true,color:'#1A1A1A',textAlign:'left'}, cellStyle:{background:{color:'#DAE3F3'}}} ],&#10;        [ '4 月', '1', '2', {text:'Claude Code + 前后端数据库组内培训(04-30)；协助研发部培训；协助采购部 OpenClaw 部署(04-24)', textStyle:{textAlign:'left'}} ],&#10;        [ '5 月', '1', '3', {text:'AI 小组软件开发流程培训 + 作业(05-08)；参与视频生成 / AI 培训助手 / PBC 培训', textStyle:{textAlign:'left'}} ],&#10;        [ '6 月', '3', '1', {text:'月度培训 ×2（AI 工具推荐 / AI 黑话扫盲）、总经办 mmxCode/codex 培训(06-05)；协助销售五部三合一(06-22)', textStyle:{textAlign:'left'}} ],&#10;        [ '7 月', '1', '0', {text:'船务部 shipping-helper 使用培训(07-24)', textStyle:{textAlign:'left'}} ],&#10;        [ {text:'合计', textStyle:{bold:true}, cellStyle:{background:{color:'#FCE4D6'}}},&#10;          {text:'6', textStyle:{bold:true}, cellStyle:{background:{color:'#FCE4D6'}}},&#10;          {text:'6', textStyle:{bold:true}, cellStyle:{background:{color:'#FCE4D6'}}},&#10;          {text:'12 场，覆盖采购 / 船务 / 销售五部 / 研发 / 总经办等多部门', textStyle:{bold:true,textAlign:'left'}, cellStyle:{background:{color:'#FCE4D6'}}} ],&#10;      ]}&#10;    /&gt;&#10;  &lt;/Box&gt;&#10;&#10;  &lt;Box style={{ position:'absolute', left:56, top:565, right:56 }}&gt;&#10;    &lt;Text style={{ fontSize:16, color:'#1A1A1A', lineHeight:1.5 }}&gt;推广与采纳驱动是交付物产生业务价值的「最后一公里」——培训不止「讲」，更含采纳驱动与内部宣推：06-22 销售五部三合一、07-24 船务部使用培训直接对应两个自研工具的上手落地；价格爬取 Skill 以「回采购培训」巩固自建能力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9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四、培训与推广</a:t>
            </a:r>
            <a:endParaRPr/>
          </a:p>
        </p:txBody>
      </p:sp>
      <p:graphicFrame>
        <p:nvGraphicFramePr>
          <p:cNvPr id="225" name=""/>
          <p:cNvGraphicFramePr/>
          <p:nvPr/>
        </p:nvGraphicFramePr>
        <p:xfrm rot="0" flipH="0" flipV="0">
          <a:off x="533400" y="1143000"/>
          <a:ext cx="11125200" cy="4095750"/>
        </p:xfrm>
        <a:graphic>
          <a:graphicData uri="http://schemas.openxmlformats.org/drawingml/2006/table">
            <a:tbl>
              <a:tblGrid>
                <a:gridCol w="468978">
                  <a:extLst>
                    <a:ext uri="{9D8B030D-6E8A-4147-A177-3AD203B41FA5}">
                      <a16:colId val="1"/>
                    </a:ext>
                  </a:extLst>
                </a:gridCol>
                <a:gridCol w="468978">
                  <a:extLst>
                    <a:ext uri="{9D8B030D-6E8A-4147-A177-3AD203B41FA5}">
                      <a16:colId val="2"/>
                    </a:ext>
                  </a:extLst>
                </a:gridCol>
                <a:gridCol w="1025593">
                  <a:extLst>
                    <a:ext uri="{9D8B030D-6E8A-4147-A177-3AD203B41FA5}">
                      <a16:colId val="3"/>
                    </a:ext>
                  </a:extLst>
                </a:gridCol>
                <a:gridCol w="916165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6826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月份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主导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协助 / 参与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主要培训主题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826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4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Claude Code + 前后端数据库组内培训(04-30)；协助研发部培训；协助采购部 OpenClaw 部署(04-24)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826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5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AI 小组软件开发流程培训 + 作业(05-08)；参与视频生成 / AI 培训助手 / PBC 培训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826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6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月度培训 ×2（AI 工具推荐 / AI 黑话扫盲）、总经办 mmxCode/codex 培训(06-05)；协助销售五部三合一(06-22)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826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7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船务部 shipping-helper 使用培训(07-24)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826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12 场，覆盖采购 / 船务 / 销售五部 / 研发 / 总经办等多部门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E4D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533400" y="5381625"/>
            <a:ext cx="1112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推广与采纳驱动是交付物产生业务价值的「最后一公里」——培训不止「讲」，更含采纳驱动与内部宣推：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06-22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销售五部三合一、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07-24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船务部使用培训直接对应两个自研工具的上手落地；价格爬取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以「回采购培训」巩固自建能力。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09 / 13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五、宏昊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/>
                <a:ea typeface="微软雅黑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验收运营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981200" y="1447800"/>
            <a:ext cx="685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37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895475" y="2152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平台验收项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753100" y="1447800"/>
            <a:ext cx="685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19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5581650" y="21526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问题反馈闭环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963025" y="1447800"/>
            <a:ext cx="18288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/>
                <a:ea typeface="微软雅黑"/>
              </a:rPr>
              <a:t>93.3%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9286875" y="2152650"/>
            <a:ext cx="118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1A1A"/>
                </a:solidFill>
                <a:latin typeface="微软雅黑"/>
                <a:ea typeface="微软雅黑"/>
              </a:rPr>
              <a:t>6 </a:t>
            </a:r>
            <a:r>
              <a:rPr lang="zh-CN" sz="1350">
                <a:solidFill>
                  <a:srgbClr val="1A1A1A"/>
                </a:solidFill>
                <a:latin typeface="微软雅黑"/>
                <a:ea typeface="微软雅黑"/>
              </a:rPr>
              <a:t>月单月通过率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533400" y="285750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42950" y="3009900"/>
            <a:ext cx="107061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/>
                <a:ea typeface="微软雅黑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/>
                <a:ea typeface="微软雅黑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/>
                <a:ea typeface="微软雅黑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/>
                <a:ea typeface="微软雅黑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/>
                <a:ea typeface="微软雅黑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/>
                <a:ea typeface="微软雅黑"/>
              </a:rPr>
              <a:t>把「供应商交付」变「可度量、可追溯、有退回机制」的质量门槛。</a:t>
            </a:r>
            <a:endParaRPr/>
          </a:p>
        </p:txBody>
      </p:sp>
      <p:graphicFrame>
        <p:nvGraphicFramePr>
          <p:cNvPr id="27" name=""/>
          <p:cNvGraphicFramePr/>
          <p:nvPr/>
        </p:nvGraphicFramePr>
        <p:xfrm rot="0" flipH="0" flipV="0">
          <a:off x="533400" y="3810000"/>
          <a:ext cx="11125200" cy="2190750"/>
        </p:xfrm>
        <a:graphic>
          <a:graphicData uri="http://schemas.openxmlformats.org/drawingml/2006/table">
            <a:tbl>
              <a:tblGrid>
                <a:gridCol w="2249357">
                  <a:extLst>
                    <a:ext uri="{9D8B030D-6E8A-4147-A177-3AD203B41FA5}">
                      <a16:colId val="1"/>
                    </a:ext>
                  </a:extLst>
                </a:gridCol>
                <a:gridCol w="3790905">
                  <a:extLst>
                    <a:ext uri="{9D8B030D-6E8A-4147-A177-3AD203B41FA5}">
                      <a16:colId val="2"/>
                    </a:ext>
                  </a:extLst>
                </a:gridCol>
                <a:gridCol w="1511151">
                  <a:extLst>
                    <a:ext uri="{9D8B030D-6E8A-4147-A177-3AD203B41FA5}">
                      <a16:colId val="3"/>
                    </a:ext>
                  </a:extLst>
                </a:gridCol>
                <a:gridCol w="357378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381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周期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验收产出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问题反馈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通过情况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381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4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 测试 + 2 验收（5 项）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381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5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9 项测试验收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381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6 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15 用例（5 批次）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472C4"/>
                          </a:solidFill>
                          <a:latin typeface="Microsoft YaHei"/>
                          <a:ea typeface="Microsoft YaHei"/>
                        </a:rPr>
                        <a:t>14/15 通过（93.3%）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381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7 月（2607）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5 轮验收（8 项）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10 / 13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五、智能体矩阵与内容生成</a:t>
            </a:r>
            <a:endParaRPr/>
          </a:p>
        </p:txBody>
      </p:sp>
      <p:graphicFrame>
        <p:nvGraphicFramePr>
          <p:cNvPr id="34" name=""/>
          <p:cNvGraphicFramePr/>
          <p:nvPr/>
        </p:nvGraphicFramePr>
        <p:xfrm rot="0" flipH="0" flipV="0">
          <a:off x="533400" y="1143000"/>
          <a:ext cx="11125200" cy="4191000"/>
        </p:xfrm>
        <a:graphic>
          <a:graphicData uri="http://schemas.openxmlformats.org/drawingml/2006/table">
            <a:tbl>
              <a:tblGrid>
                <a:gridCol w="1661671">
                  <a:extLst>
                    <a:ext uri="{9D8B030D-6E8A-4147-A177-3AD203B41FA5}">
                      <a16:colId val="1"/>
                    </a:ext>
                  </a:extLst>
                </a:gridCol>
                <a:gridCol w="1339556">
                  <a:extLst>
                    <a:ext uri="{9D8B030D-6E8A-4147-A177-3AD203B41FA5}">
                      <a16:colId val="2"/>
                    </a:ext>
                  </a:extLst>
                </a:gridCol>
                <a:gridCol w="2372547">
                  <a:extLst>
                    <a:ext uri="{9D8B030D-6E8A-4147-A177-3AD203B41FA5}">
                      <a16:colId val="3"/>
                    </a:ext>
                  </a:extLst>
                </a:gridCol>
                <a:gridCol w="1739423">
                  <a:extLst>
                    <a:ext uri="{9D8B030D-6E8A-4147-A177-3AD203B41FA5}">
                      <a16:colId val="4"/>
                    </a:ext>
                  </a:extLst>
                </a:gridCol>
                <a:gridCol w="861936">
                  <a:extLst>
                    <a:ext uri="{9D8B030D-6E8A-4147-A177-3AD203B41FA5}">
                      <a16:colId val="5"/>
                    </a:ext>
                  </a:extLst>
                </a:gridCol>
                <a:gridCol w="3150067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8382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智能体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面向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知识规模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结构规模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核心价值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8382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说明书助手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销售 / 业务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TDS 产品库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6 模式 / 16 节提示词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已上线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TDS 咨询秒级应答、选型有据不误导客户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8382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销售 SOP / 全能助手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销售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7 份 SOP 源文件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6 场景触发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已上线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销售动作标准化、话术统一、新人即上手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8382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业务智能助理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营销中心 / 业务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SKILL.md + templates + 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3 阶段 / 4 岗位自适应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C0504D"/>
                          </a:solidFill>
                          <a:latin typeface="Microsoft YaHei"/>
                          <a:ea typeface="Microsoft YaHei"/>
                        </a:rPr>
                        <a:t>迭代中 v5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客户问题全流程 AI 化 + 合规红线校验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8382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应用工艺助手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研发为主 + 业务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工艺手册 + 研发培训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20+ 疵病排查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已上线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</a:rPr>
                        <a:t>染整专业问答、客户质疑标准答案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33400" y="5410200"/>
            <a:ext cx="11125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另有「培训助手」「视频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图片生成助手」等能力，构成平台智能体矩阵；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06-12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提出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seedance/seedream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独立化诉求，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07-14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图片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·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视频生成独立应用落地（营销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销售自助生产素材）。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11 / 13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23900" y="342900"/>
            <a:ext cx="3714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/>
                <a:ea typeface="微软雅黑"/>
              </a:rPr>
              <a:t>六、下阶段计划与需支持事项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533400" y="123825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2B7C"/>
                </a:solidFill>
                <a:latin typeface="微软雅黑"/>
                <a:ea typeface="微软雅黑"/>
              </a:rPr>
              <a:t>下阶段计划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5334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23900" y="1600200"/>
            <a:ext cx="4724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业务智能助理上线前完成检索稳定性测试，沉淀为营销中心标准智能体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5334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23900" y="2009775"/>
            <a:ext cx="3810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推动供应商修复待解项（图片变视频范围、竖屏不支持）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5334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23900" y="2419350"/>
            <a:ext cx="22955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建立工具活跃度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采纳率轻量看板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334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828925"/>
            <a:ext cx="36671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补采采购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船务「节省工时」量化，用于增量价值申报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533400" y="33147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23900" y="3238500"/>
            <a:ext cx="27622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Tax_check / Data_masking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持续运营深化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533400" y="37242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648075"/>
            <a:ext cx="341947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价格爬取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回采购培训，巩固「自建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Skill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」能力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162800" y="12382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0504D"/>
                </a:solidFill>
                <a:latin typeface="微软雅黑"/>
                <a:ea typeface="微软雅黑"/>
              </a:rPr>
              <a:t>需支持事项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71628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353300" y="1600200"/>
            <a:ext cx="3810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业务智能助理检索测试需营销中心提供真实客户问题样本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71628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7353300" y="2009775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待解项修复依赖供应商排期，需领导推动优先级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71628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353300" y="2419350"/>
            <a:ext cx="2743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工时量化需业务方配合记录使用前后耗时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71628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7353300" y="2828925"/>
            <a:ext cx="23336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采纳率看板需</a:t>
            </a:r>
            <a:r>
              <a:rPr lang="en-US" sz="1200">
                <a:solidFill>
                  <a:srgbClr val="1A1A1A"/>
                </a:solidFill>
                <a:latin typeface="微软雅黑"/>
                <a:ea typeface="微软雅黑"/>
              </a:rPr>
              <a:t> IT / </a:t>
            </a:r>
            <a:r>
              <a:rPr lang="zh-CN" sz="1200">
                <a:solidFill>
                  <a:srgbClr val="1A1A1A"/>
                </a:solidFill>
                <a:latin typeface="微软雅黑"/>
                <a:ea typeface="微软雅黑"/>
              </a:rPr>
              <a:t>数据侧轻量支持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33400" y="6362700"/>
            <a:ext cx="1285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/>
                <a:ea typeface="微软雅黑"/>
              </a:rPr>
              <a:t>工作复盘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29975" y="636270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/>
                <a:ea typeface="微软雅黑"/>
              </a:rPr>
              <a:t>12 / 13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" name=""/>
          <p:cNvSpPr/>
          <p:nvPr/>
        </p:nvSpPr>
        <p:spPr>
          <a:xfrm rot="0" flipH="0" flipV="0">
            <a:off x="0" y="2857500"/>
            <a:ext cx="12192000" cy="2190750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762500" y="3400425"/>
            <a:ext cx="26670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/>
                <a:ea typeface="微软雅黑"/>
              </a:rPr>
              <a:t>汇报完毕！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981575" y="4200525"/>
            <a:ext cx="2228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/>
                <a:ea typeface="微软雅黑"/>
              </a:rPr>
              <a:t>没有绩效，一切无效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1228725"/>
            <a:ext cx="457200" cy="28575"/>
          </a:xfrm>
          <a:prstGeom prst="rect">
            <a:avLst/>
          </a:prstGeom>
          <a:solidFill>
            <a:srgbClr val="4472C4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33500" y="1143000"/>
            <a:ext cx="152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52B7C"/>
                </a:solidFill>
                <a:latin typeface="微软雅黑"/>
                <a:ea typeface="微软雅黑"/>
              </a:rPr>
              <a:t>助力企业利润持续增长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762000" y="55245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部　　门：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AI 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技术专员（宏昊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AI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助手平台）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62000" y="58293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汇报人：肖聪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762000" y="6134100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汇报期间：</a:t>
            </a:r>
            <a:r>
              <a:rPr lang="en-US" sz="1350">
                <a:solidFill>
                  <a:srgbClr val="052B7C"/>
                </a:solidFill>
                <a:latin typeface="微软雅黑"/>
                <a:ea typeface="微软雅黑"/>
              </a:rPr>
              <a:t>2026.04.15 – 2026.07.31</a:t>
            </a:r>
            <a:r>
              <a:rPr lang="zh-CN" sz="1350">
                <a:solidFill>
                  <a:srgbClr val="052B7C"/>
                </a:solidFill>
                <a:latin typeface="微软雅黑"/>
                <a:ea typeface="微软雅黑"/>
              </a:rPr>
              <a:t>（入职以来）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0591800" y="609600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52B7C"/>
                </a:solidFill>
                <a:latin typeface="微软雅黑"/>
                <a:ea typeface="微软雅黑"/>
              </a:rPr>
              <a:t>- </a:t>
            </a:r>
            <a:r>
              <a:rPr lang="zh-CN" sz="1200" b="1">
                <a:solidFill>
                  <a:srgbClr val="052B7C"/>
                </a:solidFill>
                <a:latin typeface="微软雅黑"/>
                <a:ea typeface="微软雅黑"/>
              </a:rPr>
              <a:t>机密受控</a:t>
            </a:r>
            <a:r>
              <a:rPr lang="en-US" sz="1200" b="1">
                <a:solidFill>
                  <a:srgbClr val="052B7C"/>
                </a:solidFill>
                <a:latin typeface="微软雅黑"/>
                <a:ea typeface="微软雅黑"/>
              </a:rPr>
              <a:t> -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2026-08-17T17:35:21Z</dcterms:created>
  <dcterms:modified xsi:type="dcterms:W3CDTF">2026-08-17T17:35:21Z</dcterms:modified>
</cp:coreProperties>
</file>