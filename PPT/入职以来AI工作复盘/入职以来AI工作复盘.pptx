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3"/>
    <p:sldId id="257" r:id="rId4"/>
    <p:sldId id="258" r:id="rId5"/>
    <p:sldId id="259" r:id="rId6"/>
    <p:sldId id="263" r:id="rId7"/>
    <p:sldId id="265" r:id="rId8"/>
    <p:sldId id="266" r:id="rId9"/>
    <p:sldId id="267" r:id="rId10"/>
    <p:sldId id="268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'1280px', height:'720px', position:'relative', background:'#FFFFFF', fontFamily:'微软雅黑' }}&gt;&#10;  &lt;Box style={{ position:'absolute', left:80, top:11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0, top:300, width:1280, height:230, background:'#4472C4', justifyContent:'center', alignItems:'center' }}&gt;&#10;    &lt;Text style={{ fontSize:52, fontWeight:'bold', color:'#FFFFFF' }}&gt;入职以来 AI 应用交付复盘&lt;/Text&gt;&#10;    &lt;Text style={{ fontSize:22, color:'#FFFFFF', marginTop:14 }}&gt;月度经营分析会汇报 · AI 技术专员工作复盘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2" name="AutoShape 2"/>
          <p:cNvSpPr/>
          <p:nvPr/>
        </p:nvSpPr>
        <p:spPr>
          <a:xfrm>
            <a:off x="1968500" y="1997075"/>
            <a:ext cx="8255000" cy="2625090"/>
          </a:xfrm>
          <a:prstGeom prst="rect">
            <a:avLst/>
          </a:prstGeom>
          <a:solidFill>
            <a:srgbClr val="BFBFBF">
              <a:alpha val="68000"/>
            </a:srgbClr>
          </a:solidFill>
          <a:ln w="12700" cap="flat" cmpd="sng">
            <a:noFill/>
            <a:prstDash val="solid"/>
            <a:round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55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endParaRPr lang="en-US" sz="1100"/>
          </a:p>
        </p:txBody>
      </p:sp>
      <p:sp>
        <p:nvSpPr>
          <p:cNvPr id="5" name="矩形 4"/>
          <p:cNvSpPr/>
          <p:nvPr/>
        </p:nvSpPr>
        <p:spPr>
          <a:xfrm>
            <a:off x="0" y="2164715"/>
            <a:ext cx="12192000" cy="21907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6" name="文本框 5" descr="{&quot;isTemplate&quot;:true,&quot;type&quot;:&quot;text&quot;}"/>
          <p:cNvSpPr txBox="1"/>
          <p:nvPr/>
        </p:nvSpPr>
        <p:spPr>
          <a:xfrm>
            <a:off x="3181350" y="2764790"/>
            <a:ext cx="5829300" cy="600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应用交付复盘</a:t>
            </a:r>
            <a:endParaRPr lang="zh-CN" sz="3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4076700" y="3498215"/>
            <a:ext cx="403860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月度经营分析会汇报</a:t>
            </a:r>
            <a:r>
              <a:rPr lang="en-US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AI </a:t>
            </a:r>
            <a:r>
              <a:rPr lang="zh-CN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技术专员工作复盘</a:t>
            </a:r>
            <a:endParaRPr lang="zh-CN" sz="16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4798060" y="4984115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部　门：</a:t>
            </a:r>
            <a:r>
              <a:rPr lang="en-US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技术专员</a:t>
            </a:r>
            <a:endParaRPr lang="zh-CN" sz="16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4798060" y="5288915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汇报人：肖聪</a:t>
            </a:r>
            <a:endParaRPr lang="zh-CN" sz="16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" name="" descr="&lt;Slide style={{ width:'1280px', height:'720px', position:'relative', background:'#FFFFFF', fontFamily:'微软雅黑' }}&gt;&#10;  &lt;Box style={{ position:'absolute', left:56, top:80, right:56, flexDirection:'row', gap:48, height:520, alignItems:'center' }}&gt;&#10;    &lt;Box style={{ width:300, justifyContent:'center' }}&gt;&#10;      &lt;Text style={{ fontSize:54, fontWeight:'bold', color:'#2F5597' }}&gt;目录&lt;/Text&gt;&#10;      &lt;Text style={{ fontSize:24, color:'#2F5597', marginTop:8, letterSpacing:4 }}&gt;CONTENTS&lt;/Text&gt;&#10;    &lt;/Box&gt;&#10;    &lt;Box style={{ width:2, height:300, background:'#4472C4' }} /&gt;&#10;    &lt;Box style={{ flex:1, flexDirection:'column', gap:20, justifyContent:'center' }}&gt;&#10;      {['一、工作概览与量化总览','二、内部工作：自研应用交付','三、内部工作：Skill 抽象与复用','四、内部工作：培训与推广','五、外部工作：宏昊AI助手平台','六、下阶段计划与需支持事项'].map((t, i) =&gt; (&#10;        &lt;Text key={i} style={{ fontSize:24, fontWeight:'bold', color:'#1A1A1A' }}&gt;{t}&lt;/Text&gt;&#10;      ))}&#10;    &lt;/Box&gt;&#10;  &lt;/Box&gt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矩形 7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79" name="文本框 78" descr="{&quot;isTemplate&quot;:true,&quot;type&quot;:&quot;text&quot;}"/>
          <p:cNvSpPr txBox="1"/>
          <p:nvPr/>
        </p:nvSpPr>
        <p:spPr>
          <a:xfrm>
            <a:off x="533400" y="2752725"/>
            <a:ext cx="2857500" cy="619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050" b="1">
                <a:solidFill>
                  <a:srgbClr val="2F5597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  <a:endParaRPr lang="zh-CN" sz="4050" b="1">
              <a:solidFill>
                <a:srgbClr val="2F55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" name="文本框 79" descr="{&quot;isTemplate&quot;:true,&quot;type&quot;:&quot;text&quot;}"/>
          <p:cNvSpPr txBox="1"/>
          <p:nvPr/>
        </p:nvSpPr>
        <p:spPr>
          <a:xfrm>
            <a:off x="533400" y="3448050"/>
            <a:ext cx="28575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300">
                <a:solidFill>
                  <a:srgbClr val="2F5597"/>
                </a:solidFill>
                <a:latin typeface="微软雅黑" panose="020B0503020204020204" charset="-122"/>
                <a:ea typeface="微软雅黑" panose="020B0503020204020204" charset="-122"/>
              </a:rPr>
              <a:t>CONTENTS</a:t>
            </a:r>
            <a:endParaRPr lang="en-US" sz="1800" spc="300">
              <a:solidFill>
                <a:srgbClr val="2F55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3848100" y="1809750"/>
            <a:ext cx="19050" cy="285750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82" name="文本框 81" descr="{&quot;isTemplate&quot;:true,&quot;type&quot;:&quot;text&quot;}"/>
          <p:cNvSpPr txBox="1"/>
          <p:nvPr/>
        </p:nvSpPr>
        <p:spPr>
          <a:xfrm>
            <a:off x="4324350" y="193357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一、工作概览与量化总览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" name="文本框 82" descr="{&quot;isTemplate&quot;:true,&quot;type&quot;:&quot;text&quot;}"/>
          <p:cNvSpPr txBox="1"/>
          <p:nvPr/>
        </p:nvSpPr>
        <p:spPr>
          <a:xfrm>
            <a:off x="4324350" y="240030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二、内部工作：自研应用交付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" name="文本框 83" descr="{&quot;isTemplate&quot;:true,&quot;type&quot;:&quot;text&quot;}"/>
          <p:cNvSpPr txBox="1"/>
          <p:nvPr/>
        </p:nvSpPr>
        <p:spPr>
          <a:xfrm>
            <a:off x="4324350" y="286702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三、内部工作：</a:t>
            </a:r>
            <a:r>
              <a:rPr lang="en-US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抽象与复用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文本框 84" descr="{&quot;isTemplate&quot;:true,&quot;type&quot;:&quot;text&quot;}"/>
          <p:cNvSpPr txBox="1"/>
          <p:nvPr/>
        </p:nvSpPr>
        <p:spPr>
          <a:xfrm>
            <a:off x="4324350" y="333375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四、内部工作：培训与推广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" name="文本框 85" descr="{&quot;isTemplate&quot;:true,&quot;type&quot;:&quot;text&quot;}"/>
          <p:cNvSpPr txBox="1"/>
          <p:nvPr/>
        </p:nvSpPr>
        <p:spPr>
          <a:xfrm>
            <a:off x="4324350" y="380047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五、外部工作：宏昊</a:t>
            </a:r>
            <a:r>
              <a:rPr lang="en-US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助手平台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" name="文本框 86" descr="{&quot;isTemplate&quot;:true,&quot;type&quot;:&quot;text&quot;}"/>
          <p:cNvSpPr txBox="1"/>
          <p:nvPr/>
        </p:nvSpPr>
        <p:spPr>
          <a:xfrm>
            <a:off x="4324350" y="426720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六、下阶段计划与需支持事项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02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一、工作概览与量化总览&lt;/Text&gt;&#10;  &lt;/Box&gt;&#10;&#10;  &lt;Box style={{ position:'absolute', left:56, top:130, right:56, flexDirection:'column', gap:22 }}&gt;&#10;    &lt;Box style={{ flexDirection:'row', gap:22 }}&gt;&#10;      {[['5','自研应用 / 工具'],['2','复用 Skill'],['4','业务智能体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  &lt;Box style={{ flexDirection:'row', gap:22 }}&gt;&#10;      {[['37','平台验收项'],['12','培训场次'],['7','覆盖部门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&lt;/Box&gt;&#10;&#10;  &lt;Box style={{ position:'absolute', left:56, top:560, right:56, background:'#052B7C', borderRadius:10, padding:'16px 22px' }}&gt;&#10;    &lt;Text style={{ fontSize:18, color:'#FFFFFF', lineHeight:1.5 }}&gt;入职 3.5 个月，从 0 搭起「自研工具 + 复用 Skill + 平台验收运营 + 培训推广」完整交付体系，覆盖采购 / 船务 / 财务 / 销售 / 研发 / 营销 6 类业务方；交付快（自研平均 ~25 天）、持续迭代（110+ 条代码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3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矩形 9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92" name="矩形 91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93" name="文本框 92" descr="{&quot;isTemplate&quot;:true,&quot;type&quot;:&quot;text&quot;}"/>
          <p:cNvSpPr txBox="1"/>
          <p:nvPr/>
        </p:nvSpPr>
        <p:spPr>
          <a:xfrm>
            <a:off x="723900" y="342900"/>
            <a:ext cx="3143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一、工作概览与量化总览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" name="圆角矩形 93"/>
          <p:cNvSpPr/>
          <p:nvPr>
            <p:custDataLst>
              <p:tags r:id="rId1"/>
            </p:custDataLst>
          </p:nvPr>
        </p:nvSpPr>
        <p:spPr>
          <a:xfrm>
            <a:off x="409575" y="122174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95" name="文本框 94" descr="{&quot;isTemplate&quot;:true,&quot;type&quot;:&quot;text&quot;}"/>
          <p:cNvSpPr txBox="1"/>
          <p:nvPr>
            <p:custDataLst>
              <p:tags r:id="rId2"/>
            </p:custDataLst>
          </p:nvPr>
        </p:nvSpPr>
        <p:spPr>
          <a:xfrm>
            <a:off x="2028825" y="143129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" name="文本框 95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1590675" y="2136140"/>
            <a:ext cx="12096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开发应用</a:t>
            </a: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" name="圆角矩形 96"/>
          <p:cNvSpPr/>
          <p:nvPr>
            <p:custDataLst>
              <p:tags r:id="rId4"/>
            </p:custDataLst>
          </p:nvPr>
        </p:nvSpPr>
        <p:spPr>
          <a:xfrm>
            <a:off x="4191000" y="122174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98" name="文本框 97" descr="{&quot;isTemplate&quot;:true,&quot;type&quot;:&quot;text&quot;}"/>
          <p:cNvSpPr txBox="1"/>
          <p:nvPr>
            <p:custDataLst>
              <p:tags r:id="rId5"/>
            </p:custDataLst>
          </p:nvPr>
        </p:nvSpPr>
        <p:spPr>
          <a:xfrm>
            <a:off x="5800725" y="143129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5619750" y="2136140"/>
            <a:ext cx="7048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endParaRPr lang="en-US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" name="圆角矩形 99"/>
          <p:cNvSpPr/>
          <p:nvPr>
            <p:custDataLst>
              <p:tags r:id="rId7"/>
            </p:custDataLst>
          </p:nvPr>
        </p:nvSpPr>
        <p:spPr>
          <a:xfrm>
            <a:off x="7962900" y="122174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1" name="文本框 100" descr="{&quot;isTemplate&quot;:true,&quot;type&quot;:&quot;text&quot;}"/>
          <p:cNvSpPr txBox="1"/>
          <p:nvPr>
            <p:custDataLst>
              <p:tags r:id="rId8"/>
            </p:custDataLst>
          </p:nvPr>
        </p:nvSpPr>
        <p:spPr>
          <a:xfrm>
            <a:off x="9582150" y="143129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2" name="文本框 101" descr="{&quot;isTemplate&quot;:true,&quot;type&quot;:&quot;text&quot;}"/>
          <p:cNvSpPr txBox="1"/>
          <p:nvPr>
            <p:custDataLst>
              <p:tags r:id="rId9"/>
            </p:custDataLst>
          </p:nvPr>
        </p:nvSpPr>
        <p:spPr>
          <a:xfrm>
            <a:off x="9324975" y="213614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业务智能体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圆角矩形 102"/>
          <p:cNvSpPr/>
          <p:nvPr>
            <p:custDataLst>
              <p:tags r:id="rId10"/>
            </p:custDataLst>
          </p:nvPr>
        </p:nvSpPr>
        <p:spPr>
          <a:xfrm>
            <a:off x="2362200" y="288163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4" name="文本框 103" descr="{&quot;isTemplate&quot;:true,&quot;type&quot;:&quot;text&quot;}"/>
          <p:cNvSpPr txBox="1"/>
          <p:nvPr>
            <p:custDataLst>
              <p:tags r:id="rId11"/>
            </p:custDataLst>
          </p:nvPr>
        </p:nvSpPr>
        <p:spPr>
          <a:xfrm>
            <a:off x="3543300" y="3091180"/>
            <a:ext cx="143764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400+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文本框 104" descr="{&quot;isTemplate&quot;:true,&quot;type&quot;:&quot;text&quot;}"/>
          <p:cNvSpPr txBox="1"/>
          <p:nvPr>
            <p:custDataLst>
              <p:tags r:id="rId12"/>
            </p:custDataLst>
          </p:nvPr>
        </p:nvSpPr>
        <p:spPr>
          <a:xfrm>
            <a:off x="3724275" y="379603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平台测试项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2" name="圆角矩形 111"/>
          <p:cNvSpPr/>
          <p:nvPr/>
        </p:nvSpPr>
        <p:spPr>
          <a:xfrm>
            <a:off x="514350" y="4776470"/>
            <a:ext cx="11125200" cy="923925"/>
          </a:xfrm>
          <a:prstGeom prst="roundRect">
            <a:avLst>
              <a:gd name="adj" fmla="val 10309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723900" y="4928870"/>
            <a:ext cx="10706100" cy="6191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3.5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个月，从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0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搭起「自研工具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Skill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平台验收运营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培训推广」完整交付体系，覆盖采购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船务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财务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销售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研发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营销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6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类业务方；交付快（自研平均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~25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天）、持续迭代。</a:t>
            </a:r>
            <a:endParaRPr lang="zh-CN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03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" name="圆角矩形 0"/>
          <p:cNvSpPr/>
          <p:nvPr>
            <p:custDataLst>
              <p:tags r:id="rId13"/>
            </p:custDataLst>
          </p:nvPr>
        </p:nvSpPr>
        <p:spPr>
          <a:xfrm>
            <a:off x="6324600" y="283718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" name="文本框 1" descr="{&quot;isTemplate&quot;:true,&quot;type&quot;:&quot;text&quot;}"/>
          <p:cNvSpPr txBox="1"/>
          <p:nvPr>
            <p:custDataLst>
              <p:tags r:id="rId14"/>
            </p:custDataLst>
          </p:nvPr>
        </p:nvSpPr>
        <p:spPr>
          <a:xfrm>
            <a:off x="7391400" y="3046730"/>
            <a:ext cx="1437640" cy="64770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50+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文本框 2" descr="{&quot;isTemplate&quot;:true,&quot;type&quot;:&quot;text&quot;}"/>
          <p:cNvSpPr txBox="1"/>
          <p:nvPr>
            <p:custDataLst>
              <p:tags r:id="rId15"/>
            </p:custDataLst>
          </p:nvPr>
        </p:nvSpPr>
        <p:spPr>
          <a:xfrm>
            <a:off x="7681595" y="373888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验收项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6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二、自研应用交付总览&lt;/Text&gt;&#10;  &lt;/Box&gt;&#10;&#10;  &lt;Box style={{ position:'absolute', left:56, top:120, right:56 }}&gt;&#10;    &lt;Table&#10;      style={{ width:'100%', height:42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应用 / 工具', textStyle:{bold:true,color:'#1A1A1A'}, cellStyle:{background:{color:'#DAE3F3'}}},&#10;          {text:'交付时间', textStyle:{bold:true,color:'#1A1A1A'}, cellStyle:{background:{color:'#DAE3F3'}}},&#10;          {text:'形态', textStyle:{bold:true,color:'#1A1A1A'}, cellStyle:{background:{color:'#DAE3F3'}}},&#10;          {text:'主要对象', textStyle:{bold:true,color:'#1A1A1A'}, cellStyle:{background:{color:'#DAE3F3'}}},&#10;          {text:'当前状态', textStyle:{bold:true,color:'#1A1A1A'}, cellStyle:{background:{color:'#DAE3F3'}}} ],&#10;        ['采购分析助手','05-29','前后端 Web','采购部','维护中（至 07-30）'],&#10;        ['船务 T/T 协议自动化','06-22','前后端 Web','船务部','95%+ 试用'],&#10;        ['数据脱敏 Data_masking','07-28','桌面 .exe','财务部','长期优化'],&#10;        ['对账单','已交付','纯前端 HTML','财务部','已交付'],&#10;        ['Tax_check 退税审单','08-01','桌面 .exe','财务部','已交付运营（收尾）'],&#10;      ]}&#10;    /&gt;&#10;  &lt;/Box&gt;&#10;&#10;  &lt;Box style={{ position:'absolute', left:56, top:560, right:56 }}&gt;&#10;    &lt;Text style={{ fontSize:16, color:'#1A1A1A', lineHeight:1.5 }}&gt;自研平均 &lt;span style={{ fontWeight:'bold', color:'#4472C4' }}&gt;~25 天&lt;/span&gt; 交付；含 1 次 PyQt5→Web 重构（05-27）、2 次架构级重构（采购 06-27、船务 08-01 JSON→SQLite）；110+ 条代码迭代。MSDS 中英文双语生成内嵌于船务助手，不作独立交付项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4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18" name="矩形 117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723900" y="342900"/>
            <a:ext cx="28575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二、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开发应用交付总览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20" name="表格 119"/>
          <p:cNvGraphicFramePr/>
          <p:nvPr/>
        </p:nvGraphicFramePr>
        <p:xfrm>
          <a:off x="533400" y="1435100"/>
          <a:ext cx="11125201" cy="4000500"/>
        </p:xfrm>
        <a:graphic>
          <a:graphicData uri="http://schemas.openxmlformats.org/drawingml/2006/table">
            <a:tbl>
              <a:tblPr/>
              <a:tblGrid>
                <a:gridCol w="3469956"/>
                <a:gridCol w="1375336"/>
                <a:gridCol w="2007674"/>
                <a:gridCol w="1375336"/>
                <a:gridCol w="2896899"/>
              </a:tblGrid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应用 / 工具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交付时间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形态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主要对象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当前状态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采购分析助手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五月下旬</a:t>
                      </a:r>
                      <a:endParaRPr lang="zh-CN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前后端 Web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采购部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维护中（至 07-30）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船务 T/T 协议自动化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六月中旬</a:t>
                      </a:r>
                      <a:endParaRPr lang="zh-CN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前后端 Web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船务部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95%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数据脱敏 Data_masking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七月</a:t>
                      </a: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下旬</a:t>
                      </a:r>
                      <a:endParaRPr lang="zh-CN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桌面 .exe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长期优化</a:t>
                      </a: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新调整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对账单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七月</a:t>
                      </a:r>
                      <a:endParaRPr lang="zh-CN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纯前端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Tax_check 退税审单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八月初</a:t>
                      </a:r>
                      <a:endParaRPr lang="zh-CN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桌面 .exe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04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9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三、Skill 抽象与复用&lt;/Text&gt;&#10;  &lt;/Box&gt;&#10;&#10;  &lt;Box style={{ position:'absolute', left:56, top:118, right:56, background:'#052B7C', borderRadius:10, padding:'14px 22px' }}&gt;&#10;    &lt;Text style={{ fontSize:17, color:'#FFFFFF', lineHeight:1.5 }}&gt;与「建应用」并列的内部第二条交付路径：复现工作场景 → 抽象输入输出 → 复用 / 赋能业务自建。&lt;/Text&gt;&#10;  &lt;/Box&gt;&#10;&#10;  &lt;Box style={{ position:'absolute', left:56, top:200, right:56, flexDirection:'row', gap:28 }}&gt;&#10;    &lt;Box style={{ flex:1, background:'#F4F7FC', borderRadius:12, padding:24, flexDirection:'column', gap:12 }}&gt;&#10;      &lt;Text style={{ fontSize:22, fontWeight:'bold', color:'#4472C4' }}&gt;tax-refund-audit（退税审单 Skill）&lt;/Text&gt;&#10;      &lt;Text style={{ fontSize:17, color:'#1A1A1A', lineHeight:1.7 }}&gt;· 抽象退税审单工作流为可复用 Skill，交付财务部&lt;/Text&gt;&#10;      &lt;Text style={{ fontSize:17, color:'#1A1A1A', lineHeight:1.7 }}&gt;· 与 Tax_check 应用互补：应用做 OCR + 条款矩阵「体检」，Skill 做审单流程复用与下沉&lt;/Text&gt;&#10;      &lt;Text style={{ fontSize:17, color:'#1A1A1A', lineHeight:1.7 }}&gt;· 降低对专人 / 专工具的依赖&lt;/Text&gt;&#10;      &lt;Box style={{ marginTop:4, background:'#DAE3F3', borderRadius:6, padding:'6px 12px', alignSelf:'flex-start' }}&gt;&lt;Text style={{ fontSize:15, fontWeight:'bold', color:'#052B7C' }}&gt;状态：已交付财务使用&lt;/Text&gt;&lt;/Box&gt;&#10;    &lt;/Box&gt;&#10;    &lt;Box style={{ flex:1, background:'#F4F7FC', borderRadius:12, padding:24, flexDirection:'column', gap:12 }}&gt;&#10;      &lt;Text style={{ fontSize:22, fontWeight:'bold', color:'#4472C4' }}&gt;daily-commodity-price-scraper（价格爬取 Skill）&lt;/Text&gt;&#10;      &lt;Text style={{ fontSize:17, color:'#1A1A1A', lineHeight:1.7 }}&gt;· 作为「钩子」培养采购部门自主制作 Skill 的能力&lt;/Text&gt;&#10;      &lt;Text style={{ fontSize:17, color:'#1A1A1A', lineHeight:1.7 }}&gt;· 后续仍回采购部门培训，巩固「自建 Skill」能力&lt;/Text&gt;&#10;      &lt;Text style={{ fontSize:17, color:'#1A1A1A', lineHeight:1.7 }}&gt;· 体现理念：赋能业务自建，AI 小组退后为把关角色&lt;/Text&gt;&#10;      &lt;Box style={{ marginTop:4, background:'#DAE3F3', borderRadius:6, padding:'6px 12px', alignSelf:'flex-start' }}&gt;&lt;Text style={{ fontSize:15, fontWeight:'bold', color:'#052B7C' }}&gt;状态：赋能中（回培训）&lt;/Text&gt;&lt;/Box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8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矩形 19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01" name="矩形 200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202" name="文本框 201" descr="{&quot;isTemplate&quot;:true,&quot;type&quot;:&quot;text&quot;}"/>
          <p:cNvSpPr txBox="1"/>
          <p:nvPr/>
        </p:nvSpPr>
        <p:spPr>
          <a:xfrm>
            <a:off x="723900" y="342900"/>
            <a:ext cx="27051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三、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抽象与复用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3" name="圆角矩形 202"/>
          <p:cNvSpPr/>
          <p:nvPr/>
        </p:nvSpPr>
        <p:spPr>
          <a:xfrm>
            <a:off x="533400" y="1123950"/>
            <a:ext cx="11125200" cy="561975"/>
          </a:xfrm>
          <a:prstGeom prst="roundRect">
            <a:avLst>
              <a:gd name="adj" fmla="val 16949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204" name="文本框 203" descr="{&quot;isTemplate&quot;:true,&quot;type&quot;:&quot;text&quot;}"/>
          <p:cNvSpPr txBox="1"/>
          <p:nvPr/>
        </p:nvSpPr>
        <p:spPr>
          <a:xfrm>
            <a:off x="742950" y="1257300"/>
            <a:ext cx="107061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与「建应用」并列的内部第二条交付路径：复现工作场景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抽象输入输出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赋能业务自建。</a:t>
            </a:r>
            <a:endParaRPr lang="zh-CN" sz="12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5" name="圆角矩形 204"/>
          <p:cNvSpPr/>
          <p:nvPr/>
        </p:nvSpPr>
        <p:spPr>
          <a:xfrm>
            <a:off x="53340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06" name="文本框 205" descr="{&quot;isTemplate&quot;:true,&quot;type&quot;:&quot;text&quot;}"/>
          <p:cNvSpPr txBox="1"/>
          <p:nvPr/>
        </p:nvSpPr>
        <p:spPr>
          <a:xfrm>
            <a:off x="762000" y="2133600"/>
            <a:ext cx="49720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tax-refund-audit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（退税审单</a:t>
            </a: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6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7" name="文本框 206" descr="{&quot;isTemplate&quot;:true,&quot;type&quot;:&quot;text&quot;}"/>
          <p:cNvSpPr txBox="1"/>
          <p:nvPr/>
        </p:nvSpPr>
        <p:spPr>
          <a:xfrm>
            <a:off x="762000" y="250507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抽象退税审单工作流为可复用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，交付财务部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8" name="文本框 207" descr="{&quot;isTemplate&quot;:true,&quot;type&quot;:&quot;text&quot;}"/>
          <p:cNvSpPr txBox="1"/>
          <p:nvPr/>
        </p:nvSpPr>
        <p:spPr>
          <a:xfrm>
            <a:off x="762000" y="2952750"/>
            <a:ext cx="4972050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Tax_check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应用互补：应用做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OCR +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条款矩阵「体检」，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做审单流程复用与下沉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762000" y="3733800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降低对专人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专工具的依赖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0" name="圆角矩形 209"/>
          <p:cNvSpPr/>
          <p:nvPr/>
        </p:nvSpPr>
        <p:spPr>
          <a:xfrm>
            <a:off x="762000" y="4219575"/>
            <a:ext cx="165735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876300" y="4276725"/>
            <a:ext cx="14287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状态：已交付财务使用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622935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13" name="文本框 212" descr="{&quot;isTemplate&quot;:true,&quot;type&quot;:&quot;text&quot;}"/>
          <p:cNvSpPr txBox="1"/>
          <p:nvPr/>
        </p:nvSpPr>
        <p:spPr>
          <a:xfrm>
            <a:off x="6457950" y="2133600"/>
            <a:ext cx="497205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daily-commodity-price-scraper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（价格爬取</a:t>
            </a: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6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4" name="文本框 213" descr="{&quot;isTemplate&quot;:true,&quot;type&quot;:&quot;text&quot;}"/>
          <p:cNvSpPr txBox="1"/>
          <p:nvPr/>
        </p:nvSpPr>
        <p:spPr>
          <a:xfrm>
            <a:off x="6457950" y="275272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作为「钩子」培养采购部门自主制作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的能力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5" name="文本框 214" descr="{&quot;isTemplate&quot;:true,&quot;type&quot;:&quot;text&quot;}"/>
          <p:cNvSpPr txBox="1"/>
          <p:nvPr/>
        </p:nvSpPr>
        <p:spPr>
          <a:xfrm>
            <a:off x="6457950" y="3200400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后续仍回采购部门培训，巩固「自建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」能力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6457950" y="364807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体现理念：赋能业务自建，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小组退后为把关角色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7" name="圆角矩形 216"/>
          <p:cNvSpPr/>
          <p:nvPr/>
        </p:nvSpPr>
        <p:spPr>
          <a:xfrm>
            <a:off x="6457950" y="4133850"/>
            <a:ext cx="1800225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218" name="文本框 217" descr="{&quot;isTemplate&quot;:true,&quot;type&quot;:&quot;text&quot;}"/>
          <p:cNvSpPr txBox="1"/>
          <p:nvPr/>
        </p:nvSpPr>
        <p:spPr>
          <a:xfrm>
            <a:off x="6572250" y="4191000"/>
            <a:ext cx="1571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状态：赋能中（回培训）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9" name="文本框 218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0" name="文本框 219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08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宏昊AI助手 · 验收运营&lt;/Text&gt;&#10;  &lt;/Box&gt;&#10;&#10;  &lt;Box style={{ position:'absolute', left:56, top:130, right:56, flexDirection:'row', gap:22 }}&gt;&#10;    {[['37','平台验收项'],['19','问题反馈闭环'],['93.3%','6 月单月通过率']].map((c, i) =&gt; (&#10;      &lt;Box key={i} style={{ flex:1, background:'#F4F7FC', borderRadius:10, padding:'22px 18px', alignItems:'center' }}&gt;&#10;        &lt;Text style={{ fontSize:56, fontWeight:'bold', color:'#4472C4' }}&gt;{c[0]}&lt;/Text&gt;&#10;        &lt;Text style={{ fontSize:18, color:'#1A1A1A', marginTop:6 }}&gt;{c[1]}&lt;/Text&gt;&#10;      &lt;/Box&gt;&#10;    ))}&#10;  &lt;/Box&gt;&#10;&#10;  &lt;Box style={{ position:'absolute', left:56, top:300, right:56, background:'#052B7C', borderRadius:10, padding:'16px 22px' }}&gt;&#10;    &lt;Text style={{ fontSize:18, color:'#FFFFFF', lineHeight:1.5 }}&gt;入职以来 &lt;span style={{ fontWeight:'bold' }}&gt;37 项验收 + 19 项问题反馈闭环&lt;/span&gt;，6 月单月通过率 93.3% → 把「供应商交付」变「可度量、可追溯、有退回机制」的质量门槛。&lt;/Text&gt;&#10;  &lt;/Box&gt;&#10;&#10;  &lt;Box style={{ position:'absolute', left:56, top:400, right:56 }}&gt;&#10;    &lt;Table&#10;      style={{ width:'100%', height:23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周期', textStyle:{bold:true,color:'#1A1A1A'}, cellStyle:{background:{color:'#DAE3F3'}}},&#10;          {text:'验收产出', textStyle:{bold:true,color:'#1A1A1A'}, cellStyle:{background:{color:'#DAE3F3'}}},&#10;          {text:'问题反馈', textStyle:{bold:true,color:'#1A1A1A'}, cellStyle:{background:{color:'#DAE3F3'}}},&#10;          {text:'通过情况', textStyle:{bold:true,color:'#1A1A1A'}, cellStyle:{background:{color:'#DAE3F3'}}} ],&#10;        [ '4 月', '3 测试 + 2 验收（5 项）', '4', '—' ],&#10;        [ '5 月', '9 项测试验收', '3', '—' ],&#10;        [ '6 月', '15 用例（5 批次）', '8', {text:'14/15 通过（93.3%）', textStyle:{bold:true,color:'#4472C4'}} ],&#10;        [ '7 月（2607）', '5 轮验收（8 项）', '4', '—' ],&#10;      ]}&#10;    /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0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4" name="矩形 13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5" name="文本框 14" descr="{&quot;isTemplate&quot;:true,&quot;type&quot;:&quot;text&quot;}"/>
          <p:cNvSpPr txBox="1"/>
          <p:nvPr/>
        </p:nvSpPr>
        <p:spPr>
          <a:xfrm>
            <a:off x="723900" y="342900"/>
            <a:ext cx="34671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四、宏昊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助手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验收运营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圆角矩形 15"/>
          <p:cNvSpPr/>
          <p:nvPr>
            <p:custDataLst>
              <p:tags r:id="rId1"/>
            </p:custDataLst>
          </p:nvPr>
        </p:nvSpPr>
        <p:spPr>
          <a:xfrm>
            <a:off x="533400" y="11049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7" name="文本框 16" descr="{&quot;isTemplate&quot;:true,&quot;type&quot;:&quot;text&quot;}"/>
          <p:cNvSpPr txBox="1"/>
          <p:nvPr>
            <p:custDataLst>
              <p:tags r:id="rId2"/>
            </p:custDataLst>
          </p:nvPr>
        </p:nvSpPr>
        <p:spPr>
          <a:xfrm>
            <a:off x="1581150" y="1353185"/>
            <a:ext cx="1476375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400+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1704975" y="2000885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alt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测试</a:t>
            </a:r>
            <a:r>
              <a:rPr lang="en-US" alt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alt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验收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>
            <p:custDataLst>
              <p:tags r:id="rId4"/>
            </p:custDataLst>
          </p:nvPr>
        </p:nvSpPr>
        <p:spPr>
          <a:xfrm>
            <a:off x="4314825" y="110490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0" name="文本框 19" descr="{&quot;isTemplate&quot;:true,&quot;type&quot;:&quot;text&quot;}"/>
          <p:cNvSpPr txBox="1"/>
          <p:nvPr>
            <p:custDataLst>
              <p:tags r:id="rId5"/>
            </p:custDataLst>
          </p:nvPr>
        </p:nvSpPr>
        <p:spPr>
          <a:xfrm>
            <a:off x="5753100" y="131445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44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5565775" y="2019300"/>
            <a:ext cx="10287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问题反馈闭环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圆角矩形 21"/>
          <p:cNvSpPr/>
          <p:nvPr>
            <p:custDataLst>
              <p:tags r:id="rId7"/>
            </p:custDataLst>
          </p:nvPr>
        </p:nvSpPr>
        <p:spPr>
          <a:xfrm>
            <a:off x="8086725" y="11049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3" name="文本框 22" descr="{&quot;isTemplate&quot;:true,&quot;type&quot;:&quot;text&quot;}"/>
          <p:cNvSpPr txBox="1"/>
          <p:nvPr>
            <p:custDataLst>
              <p:tags r:id="rId8"/>
            </p:custDataLst>
          </p:nvPr>
        </p:nvSpPr>
        <p:spPr>
          <a:xfrm>
            <a:off x="9134475" y="1314450"/>
            <a:ext cx="1828800" cy="64770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94.1%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文本框 23" descr="{&quot;isTemplate&quot;:true,&quot;type&quot;:&quot;text&quot;}"/>
          <p:cNvSpPr txBox="1"/>
          <p:nvPr>
            <p:custDataLst>
              <p:tags r:id="rId9"/>
            </p:custDataLst>
          </p:nvPr>
        </p:nvSpPr>
        <p:spPr>
          <a:xfrm>
            <a:off x="9458325" y="2019300"/>
            <a:ext cx="1181100" cy="209550"/>
          </a:xfrm>
          <a:prstGeom prst="rect">
            <a:avLst/>
          </a:prstGeom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alt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总体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通过率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圆角矩形 24"/>
          <p:cNvSpPr/>
          <p:nvPr/>
        </p:nvSpPr>
        <p:spPr>
          <a:xfrm>
            <a:off x="533400" y="2724150"/>
            <a:ext cx="11125200" cy="619125"/>
          </a:xfrm>
          <a:prstGeom prst="roundRect">
            <a:avLst>
              <a:gd name="adj" fmla="val 15385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742950" y="2876550"/>
            <a:ext cx="10706100" cy="3143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37 </a:t>
            </a: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项验收</a:t>
            </a:r>
            <a:r>
              <a:rPr 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+ 19 </a:t>
            </a: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项问题反馈闭环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月单月通过率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93.3% →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把「供应商交付」变「可度量、可追溯、有退回机制」的质量门槛。</a:t>
            </a:r>
            <a:endParaRPr lang="zh-CN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7" name="表格 26"/>
          <p:cNvGraphicFramePr/>
          <p:nvPr/>
        </p:nvGraphicFramePr>
        <p:xfrm>
          <a:off x="533400" y="3525520"/>
          <a:ext cx="11094085" cy="2593975"/>
        </p:xfrm>
        <a:graphic>
          <a:graphicData uri="http://schemas.openxmlformats.org/drawingml/2006/table">
            <a:tbl>
              <a:tblPr/>
              <a:tblGrid>
                <a:gridCol w="1254760"/>
                <a:gridCol w="1955800"/>
                <a:gridCol w="1836420"/>
                <a:gridCol w="6047105"/>
              </a:tblGrid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周期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问题反馈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产出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通过情况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主要集中在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培训助手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份测试报告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共计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 10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项，未通过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 1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项（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视频生成）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</a:t>
                      </a: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主要集中在说明书助手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测试报告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轮验收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共计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176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项（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其中：权限模块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73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项、说明书助手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62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项、视频生成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35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）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未通过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18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项，集中在说明书助手（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文件参数提取、产品对比问题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）以及知识库权限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模块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份测试文档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轮验收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共计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36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项，未通过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2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项（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智能体权限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）</a:t>
                      </a:r>
                      <a:endParaRPr lang="en-US" sz="1125" b="1">
                        <a:solidFill>
                          <a:srgbClr val="4472C4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18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主要集中在培训、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文档管理中心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份测试文档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轮验收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135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测试，均为智能体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测试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8" name="文本框 27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10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智能体矩阵与内容生成&lt;/Text&gt;&#10;  &lt;/Box&gt;&#10;&#10;  &lt;Box style={{ position:'absolute', left:56, top:120, right:56 }}&gt;&#10;    &lt;Table&#10;      style={{ width:'100%', height:44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智能体', textStyle:{bold:true,color:'#1A1A1A'}, cellStyle:{background:{color:'#DAE3F3'}}},&#10;          {text:'面向', textStyle:{bold:true,color:'#1A1A1A'}, cellStyle:{background:{color:'#DAE3F3'}}},&#10;          {text:'知识规模', textStyle:{bold:true,color:'#1A1A1A'}, cellStyle:{background:{color:'#DAE3F3'}}},&#10;          {text:'结构规模', textStyle:{bold:true,color:'#1A1A1A'}, cellStyle:{background:{color:'#DAE3F3'}}},&#10;          {text:'状态', textStyle:{bold:true,color:'#1A1A1A'}, cellStyle:{background:{color:'#DAE3F3'}}},&#10;          {text:'核心价值', textStyle:{bold:true,color:'#1A1A1A',textAlign:'left'}, cellStyle:{background:{color:'#DAE3F3'}}} ],&#10;        [ '说明书助手', '销售 / 业务', 'TDS 产品库', '6 模式 / 16 节提示词', '已上线', {text:'TDS 咨询秒级应答、选型有据不误导客户', textStyle:{textAlign:'left'}} ],&#10;        [ '销售 SOP / 全能助手', '销售', '7 份 SOP 源文件', '6 场景触发', '已上线', {text:'销售动作标准化、话术统一、新人即上手', textStyle:{textAlign:'left'}} ],&#10;        [ '业务智能助理', '营销中心 / 业务', 'SKILL.md + templates + role', '3 阶段 / 4 岗位自适应', {text:'迭代中 v5', textStyle:{color:'#C0504D',bold:true}}, {text:'客户问题全流程 AI 化 + 合规红线校验', textStyle:{textAlign:'left'}} ],&#10;        [ '应用工艺助手', '研发为主 + 业务', '工艺手册 + 研发培训', '20+ 疵病排查', '已上线', {text:'染整专业问答、客户质疑标准答案', textStyle:{textAlign:'left'}} ],&#10;      ]}&#10;    /&gt;&#10;  &lt;/Box&gt;&#10;&#10;  &lt;Box style={{ position:'absolute', left:56, top:568, right:56 }}&gt;&#10;    &lt;Text style={{ fontSize:16, color:'#1A1A1A', lineHeight:1.5 }}&gt;另有「培训助手」「视频 / 图片生成助手」等能力，构成平台智能体矩阵；06-12 提出 seedance/seedream 独立化诉求，07-14 图片 · 视频生成独立应用落地（营销 / 销售自助生产素材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1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2" name="矩形 31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33" name="文本框 32" descr="{&quot;isTemplate&quot;:true,&quot;type&quot;:&quot;text&quot;}"/>
          <p:cNvSpPr txBox="1"/>
          <p:nvPr/>
        </p:nvSpPr>
        <p:spPr>
          <a:xfrm>
            <a:off x="723900" y="342900"/>
            <a:ext cx="34290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五、智能体矩阵与内容生成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34" name="表格 33"/>
          <p:cNvGraphicFramePr/>
          <p:nvPr/>
        </p:nvGraphicFramePr>
        <p:xfrm>
          <a:off x="533400" y="1143000"/>
          <a:ext cx="11125200" cy="4191000"/>
        </p:xfrm>
        <a:graphic>
          <a:graphicData uri="http://schemas.openxmlformats.org/drawingml/2006/table">
            <a:tbl>
              <a:tblPr/>
              <a:tblGrid>
                <a:gridCol w="1661671"/>
                <a:gridCol w="1339556"/>
                <a:gridCol w="2372547"/>
                <a:gridCol w="1739423"/>
                <a:gridCol w="861936"/>
                <a:gridCol w="3150067"/>
              </a:tblGrid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智能体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面向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知识规模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结构规模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状态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核心价值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说明书助手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 /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当前仅</a:t>
                      </a: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TDS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模式 / 16 节提示词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TDS 咨询秒级应答、选型有据不误导客户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 SOP 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SOP 源文件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场景触发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销售动作标准化、话术统一、新人即上手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业务智能助理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营销中心 /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SKILL.md + templates + role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 阶段 / 4 岗位自适应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C0504D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迭代中 v5</a:t>
                      </a:r>
                      <a:endParaRPr sz="1125" b="1">
                        <a:solidFill>
                          <a:srgbClr val="C0504D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客户问题全流程 AI 化 + 合规红线校验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工艺</a:t>
                      </a: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流程</a:t>
                      </a: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研发为主 +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工艺手册 + 研发培训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20+ 疵病排查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染整专业问答、客户质疑标准答案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35" name="文本框 34" descr="{&quot;isTemplate&quot;:true,&quot;type&quot;:&quot;text&quot;}"/>
          <p:cNvSpPr txBox="1"/>
          <p:nvPr/>
        </p:nvSpPr>
        <p:spPr>
          <a:xfrm>
            <a:off x="533400" y="5410200"/>
            <a:ext cx="111252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另有「培训助手」「视频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图片生成助手」等能力，构成平台智能体矩阵；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06-12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提出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seedance/seedream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独立化诉求，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07-14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图片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视频生成独立应用落地（营销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销售自助生产素材）。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11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六、下阶段计划与需支持事项&lt;/Text&gt;&#10;  &lt;/Box&gt;&#10;&#10;  &lt;Box style={{ position:'absolute', left:56, top:130, right:56, flexDirection:'row', gap:36 }}&gt;&#10;    &lt;Box style={{ flex:1.4, flexDirection:'column', gap:14 }}&gt;&#10;      &lt;Text style={{ fontSize:20, fontWeight:'bold', color:'#052B7C' }}&gt;下阶段计划&lt;/Text&gt;&#10;      {['业务智能助理上线前完成检索稳定性测试，沉淀为营销中心标准智能体','推动供应商修复待解项（图片变视频范围、竖屏不支持）','建立工具活跃度 / 采纳率轻量看板','补采采购 / 船务「节省工时」量化，用于增量价值申报','Tax_check / Data_masking 持续运营深化','价格爬取 Skill 回采购培训，巩固「自建 Skill」能力'].map((t, i) =&gt; (&#10;        &lt;Box key={i} style={{ flexDirection:'row', alignItems:'flex-start', gap:12 }}&gt;&#10;          &lt;Box style={{ width:8, height:8, background:'#4472C4', borderRadius:2, marginTop:8 }} /&gt;&#10;          &lt;Text style={{ fontSize:16, color:'#1A1A1A', lineHeight:1.5 }}&gt;{t}&lt;/Text&gt;&#10;        &lt;/Box&gt;&#10;      ))}&#10;    &lt;/Box&gt;&#10;&#10;    &lt;Box style={{ flex:1, flexDirection:'column', gap:14 }}&gt;&#10;      &lt;Text style={{ fontSize:20, fontWeight:'bold', color:'#C0504D' }}&gt;需支持事项&lt;/Text&gt;&#10;      {['业务智能助理检索测试需营销中心提供真实客户问题样本','待解项修复依赖供应商排期，需领导推动优先级','工时量化需业务方配合记录使用前后耗时','采纳率看板需 IT / 数据侧轻量支持'].map((t, i) =&gt; (&#10;        &lt;Box key={i} style={{ flexDirection:'row', alignItems:'flex-start', gap:12 }}&gt;&#10;          &lt;Box style={{ width:8, height:8, background:'#C0504D', borderRadius:2, marginTop:8 }} /&gt;&#10;          &lt;Text style={{ fontSize:16, color:'#1A1A1A', lineHeight:1.5 }}&gt;{t}&lt;/Text&gt;&#10;        &lt;/Box&gt;&#10;      ))}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0" name="矩形 39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723900" y="342900"/>
            <a:ext cx="37147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六、下阶段计划与需支持事项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 descr="{&quot;isTemplate&quot;:true,&quot;type&quot;:&quot;text&quot;}"/>
          <p:cNvSpPr txBox="1"/>
          <p:nvPr/>
        </p:nvSpPr>
        <p:spPr>
          <a:xfrm>
            <a:off x="533400" y="1238250"/>
            <a:ext cx="62865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下阶段计划</a:t>
            </a:r>
            <a:endParaRPr lang="zh-CN" sz="15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圆角矩形 42"/>
          <p:cNvSpPr/>
          <p:nvPr/>
        </p:nvSpPr>
        <p:spPr>
          <a:xfrm>
            <a:off x="533400" y="1676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4" name="文本框 43" descr="{&quot;isTemplate&quot;:true,&quot;type&quot;:&quot;text&quot;}"/>
          <p:cNvSpPr txBox="1"/>
          <p:nvPr/>
        </p:nvSpPr>
        <p:spPr>
          <a:xfrm>
            <a:off x="723900" y="1600200"/>
            <a:ext cx="47244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业务智能助理上线前完成检索稳定性测试，沉淀为营销中心标准智能体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圆角矩形 44"/>
          <p:cNvSpPr/>
          <p:nvPr/>
        </p:nvSpPr>
        <p:spPr>
          <a:xfrm>
            <a:off x="533400" y="20859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6" name="文本框 45" descr="{&quot;isTemplate&quot;:true,&quot;type&quot;:&quot;text&quot;}"/>
          <p:cNvSpPr txBox="1"/>
          <p:nvPr/>
        </p:nvSpPr>
        <p:spPr>
          <a:xfrm>
            <a:off x="723900" y="2009775"/>
            <a:ext cx="3810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推动供应商修复待解项（图片变视频范围、竖屏不支持）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圆角矩形 46"/>
          <p:cNvSpPr/>
          <p:nvPr/>
        </p:nvSpPr>
        <p:spPr>
          <a:xfrm>
            <a:off x="533400" y="249555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8" name="文本框 47" descr="{&quot;isTemplate&quot;:true,&quot;type&quot;:&quot;text&quot;}"/>
          <p:cNvSpPr txBox="1"/>
          <p:nvPr/>
        </p:nvSpPr>
        <p:spPr>
          <a:xfrm>
            <a:off x="723900" y="2419350"/>
            <a:ext cx="22955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建立工具活跃度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采纳率轻量看板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圆角矩形 48"/>
          <p:cNvSpPr/>
          <p:nvPr/>
        </p:nvSpPr>
        <p:spPr>
          <a:xfrm>
            <a:off x="533400" y="290512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0" name="文本框 49" descr="{&quot;isTemplate&quot;:true,&quot;type&quot;:&quot;text&quot;}"/>
          <p:cNvSpPr txBox="1"/>
          <p:nvPr/>
        </p:nvSpPr>
        <p:spPr>
          <a:xfrm>
            <a:off x="723900" y="2828925"/>
            <a:ext cx="36671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补采采购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船务「节省工时」量化，用于增量价值申报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圆角矩形 50"/>
          <p:cNvSpPr/>
          <p:nvPr/>
        </p:nvSpPr>
        <p:spPr>
          <a:xfrm>
            <a:off x="533400" y="33147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2" name="文本框 51" descr="{&quot;isTemplate&quot;:true,&quot;type&quot;:&quot;text&quot;}"/>
          <p:cNvSpPr txBox="1"/>
          <p:nvPr/>
        </p:nvSpPr>
        <p:spPr>
          <a:xfrm>
            <a:off x="723900" y="3238500"/>
            <a:ext cx="2762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Tax_check / Data_masking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持续运营深化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圆角矩形 52"/>
          <p:cNvSpPr/>
          <p:nvPr/>
        </p:nvSpPr>
        <p:spPr>
          <a:xfrm>
            <a:off x="533400" y="37242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4" name="文本框 53" descr="{&quot;isTemplate&quot;:true,&quot;type&quot;:&quot;text&quot;}"/>
          <p:cNvSpPr txBox="1"/>
          <p:nvPr/>
        </p:nvSpPr>
        <p:spPr>
          <a:xfrm>
            <a:off x="723900" y="3648075"/>
            <a:ext cx="34194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价格爬取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回采购培训，巩固「自建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」能力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 descr="{&quot;isTemplate&quot;:true,&quot;type&quot;:&quot;text&quot;}"/>
          <p:cNvSpPr txBox="1"/>
          <p:nvPr/>
        </p:nvSpPr>
        <p:spPr>
          <a:xfrm>
            <a:off x="7162800" y="1238250"/>
            <a:ext cx="44958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C0504D"/>
                </a:solidFill>
                <a:latin typeface="微软雅黑" panose="020B0503020204020204" charset="-122"/>
                <a:ea typeface="微软雅黑" panose="020B0503020204020204" charset="-122"/>
              </a:rPr>
              <a:t>需支持事项</a:t>
            </a:r>
            <a:endParaRPr lang="zh-CN" sz="1500" b="1">
              <a:solidFill>
                <a:srgbClr val="C0504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圆角矩形 55"/>
          <p:cNvSpPr/>
          <p:nvPr/>
        </p:nvSpPr>
        <p:spPr>
          <a:xfrm>
            <a:off x="7162800" y="1676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7353300" y="1600200"/>
            <a:ext cx="3810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业务智能助理检索测试需营销中心提供真实客户问题样本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7162800" y="20859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59" name="文本框 58" descr="{&quot;isTemplate&quot;:true,&quot;type&quot;:&quot;text&quot;}"/>
          <p:cNvSpPr txBox="1"/>
          <p:nvPr/>
        </p:nvSpPr>
        <p:spPr>
          <a:xfrm>
            <a:off x="7353300" y="2009775"/>
            <a:ext cx="32004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待解项修复依赖供应商排期，需领导推动优先级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圆角矩形 59"/>
          <p:cNvSpPr/>
          <p:nvPr/>
        </p:nvSpPr>
        <p:spPr>
          <a:xfrm>
            <a:off x="7162800" y="249555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61" name="文本框 60" descr="{&quot;isTemplate&quot;:true,&quot;type&quot;:&quot;text&quot;}"/>
          <p:cNvSpPr txBox="1"/>
          <p:nvPr/>
        </p:nvSpPr>
        <p:spPr>
          <a:xfrm>
            <a:off x="7353300" y="2419350"/>
            <a:ext cx="27432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工时量化需业务方配合记录使用前后耗时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圆角矩形 61"/>
          <p:cNvSpPr/>
          <p:nvPr/>
        </p:nvSpPr>
        <p:spPr>
          <a:xfrm>
            <a:off x="7162800" y="290512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63" name="文本框 62" descr="{&quot;isTemplate&quot;:true,&quot;type&quot;:&quot;text&quot;}"/>
          <p:cNvSpPr txBox="1"/>
          <p:nvPr/>
        </p:nvSpPr>
        <p:spPr>
          <a:xfrm>
            <a:off x="7353300" y="2828925"/>
            <a:ext cx="23336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采纳率看板需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IT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数据侧轻量支持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文本框 63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文本框 64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12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6" name="" descr="&lt;Slide style={{ width:'1280px', height:'720px', position:'relative', background:'#FFFFFF', fontFamily:'微软雅黑' }}&gt;&#10;  &lt;Box style={{ position:'absolute', left:0, top:300, width:1280, height:230, background:'#4472C4', justifyContent:'center', alignItems:'center' }}&gt;&#10;    &lt;Text style={{ fontSize:56, fontWeight:'bold', color:'#FFFFFF' }}&gt;汇报完毕！&lt;/Text&gt;&#10;    &lt;Text style={{ fontSize:26, color:'#FFFFFF', marginTop:16 }}&gt;没有绩效，一切无效&lt;/Text&gt;&#10;  &lt;/Box&gt;&#10;&#10;  &lt;Box style={{ position:'absolute', left:80, top:12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矩形 6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68" name="矩形 67"/>
          <p:cNvSpPr/>
          <p:nvPr/>
        </p:nvSpPr>
        <p:spPr>
          <a:xfrm>
            <a:off x="0" y="2019300"/>
            <a:ext cx="12192000" cy="21907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69" name="文本框 68" descr="{&quot;isTemplate&quot;:true,&quot;type&quot;:&quot;text&quot;}"/>
          <p:cNvSpPr txBox="1"/>
          <p:nvPr/>
        </p:nvSpPr>
        <p:spPr>
          <a:xfrm>
            <a:off x="4762500" y="2562225"/>
            <a:ext cx="26670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汇报完毕！</a:t>
            </a:r>
            <a:endParaRPr lang="zh-CN" sz="4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" name="文本框 69" descr="{&quot;isTemplate&quot;:true,&quot;type&quot;:&quot;text&quot;}"/>
          <p:cNvSpPr txBox="1"/>
          <p:nvPr/>
        </p:nvSpPr>
        <p:spPr>
          <a:xfrm>
            <a:off x="4981575" y="3362325"/>
            <a:ext cx="22288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没有绩效，一切无效</a:t>
            </a:r>
            <a:endParaRPr lang="zh-CN" sz="19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2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3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4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5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6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7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8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9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0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1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2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3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4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5.xml><?xml version="1.0" encoding="utf-8"?>
<p:tagLst xmlns:p="http://schemas.openxmlformats.org/presentationml/2006/main">
  <p:tag name="KSO_WM_DIAGRAM_VIRTUALLY_FRAME" val="{&quot;height&quot;:235.7,&quot;left&quot;:32.25,&quot;top&quot;:96.2,&quot;width&quot;:1029.75}"/>
</p:tagLst>
</file>

<file path=ppt/tags/tag16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17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18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19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20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21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22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23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ags/tag24.xml><?xml version="1.0" encoding="utf-8"?>
<p:tagLst xmlns:p="http://schemas.openxmlformats.org/presentationml/2006/main">
  <p:tag name="KSO_WM_DIAGRAM_VIRTUALLY_FRAME" val="{&quot;height&quot;:115.5,&quot;left&quot;:42,&quot;top&quot;:87,&quot;width&quot;:87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1968</Words>
  <Application>WPS 演示</Application>
  <PresentationFormat/>
  <Paragraphs>318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lw</cp:lastModifiedBy>
  <cp:revision>10</cp:revision>
  <dcterms:created xsi:type="dcterms:W3CDTF">2026-08-17T09:56:00Z</dcterms:created>
  <dcterms:modified xsi:type="dcterms:W3CDTF">2026-08-18T01:06:59Z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7230EDF0E163401FA65271E63094E600_12</vt:lpwstr>
  </property>
</Properties>
</file>