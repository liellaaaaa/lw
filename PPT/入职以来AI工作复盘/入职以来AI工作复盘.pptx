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5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5" r:id="rId11"/>
    <p:sldId id="266" r:id="rId12"/>
    <p:sldId id="267" r:id="rId13"/>
    <p:sldId id="268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8" Type="http://schemas.openxmlformats.org/officeDocument/2006/relationships/tableStyles" Target="tableStyles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15" Type="http://schemas.openxmlformats.org/officeDocument/2006/relationships/notesMaster" Target="notesMasters/notesMaster1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tags" Target="../tags/tag9.xml"/><Relationship Id="rId8" Type="http://schemas.openxmlformats.org/officeDocument/2006/relationships/tags" Target="../tags/tag8.xml"/><Relationship Id="rId7" Type="http://schemas.openxmlformats.org/officeDocument/2006/relationships/tags" Target="../tags/tag7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9" Type="http://schemas.openxmlformats.org/officeDocument/2006/relationships/slideLayout" Target="../slideLayouts/slideLayout1.xml"/><Relationship Id="rId18" Type="http://schemas.openxmlformats.org/officeDocument/2006/relationships/tags" Target="../tags/tag18.xml"/><Relationship Id="rId17" Type="http://schemas.openxmlformats.org/officeDocument/2006/relationships/tags" Target="../tags/tag17.xml"/><Relationship Id="rId16" Type="http://schemas.openxmlformats.org/officeDocument/2006/relationships/tags" Target="../tags/tag16.xml"/><Relationship Id="rId15" Type="http://schemas.openxmlformats.org/officeDocument/2006/relationships/tags" Target="../tags/tag15.xml"/><Relationship Id="rId14" Type="http://schemas.openxmlformats.org/officeDocument/2006/relationships/tags" Target="../tags/tag14.xml"/><Relationship Id="rId13" Type="http://schemas.openxmlformats.org/officeDocument/2006/relationships/tags" Target="../tags/tag13.xml"/><Relationship Id="rId12" Type="http://schemas.openxmlformats.org/officeDocument/2006/relationships/tags" Target="../tags/tag12.xml"/><Relationship Id="rId11" Type="http://schemas.openxmlformats.org/officeDocument/2006/relationships/tags" Target="../tags/tag11.xml"/><Relationship Id="rId10" Type="http://schemas.openxmlformats.org/officeDocument/2006/relationships/tags" Target="../tags/tag10.xml"/><Relationship Id="rId1" Type="http://schemas.openxmlformats.org/officeDocument/2006/relationships/tags" Target="../tags/tag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 descr="&lt;Slide style={{ width:'1280px', height:'720px', position:'relative', background:'#FFFFFF', fontFamily:'微软雅黑' }}&gt;&#10;  &lt;Box style={{ position:'absolute', left:80, top:110, flexDirection:'row', alignItems:'center', gap:12 }}&gt;&#10;    &lt;Box style={{ width:48, height:3, background:'#4472C4' }} /&gt;&#10;    &lt;Text style={{ fontSize:16, color:'#052B7C' }}&gt;助力企业利润持续增长&lt;/Text&gt;&#10;  &lt;/Box&gt;&#10;&#10;  &lt;Box style={{ position:'absolute', left:0, top:300, width:1280, height:230, background:'#4472C4', justifyContent:'center', alignItems:'center' }}&gt;&#10;    &lt;Text style={{ fontSize:52, fontWeight:'bold', color:'#FFFFFF' }}&gt;入职以来 AI 应用交付复盘&lt;/Text&gt;&#10;    &lt;Text style={{ fontSize:22, color:'#FFFFFF', marginTop:14 }}&gt;月度经营分析会汇报 · AI 技术专员工作复盘&lt;/Text&gt;&#10;  &lt;/Box&gt;&#10;&#10;  &lt;Box style={{ position:'absolute', left:80, top:580, flexDirection:'column', gap:10 }}&gt;&#10;    &lt;Text style={{ fontSize:18, color:'#052B7C' }}&gt;部　　门：AI 技术专员（宏昊AI助手平台）&lt;/Text&gt;&#10;    &lt;Text style={{ fontSize:18, color:'#052B7C' }}&gt;汇报人：肖聪&lt;/Text&gt;&#10;    &lt;Text style={{ fontSize:18, color:'#052B7C' }}&gt;汇报期间：2026.04.15 – 2026.07.31（入职以来）&lt;/Text&gt;&#10;  &lt;/Box&gt;&#10;&#10;  &lt;Text style={{ position:'absolute', right:80, bottom:60, fontSize:16, color:'#052B7C', fontWeight:'bold' }}&gt;- 机密受控 -&lt;/Text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id="12" name="AutoShape 2"/>
          <p:cNvSpPr/>
          <p:nvPr/>
        </p:nvSpPr>
        <p:spPr>
          <a:xfrm>
            <a:off x="1968500" y="1997075"/>
            <a:ext cx="8255000" cy="2625090"/>
          </a:xfrm>
          <a:prstGeom prst="rect">
            <a:avLst/>
          </a:prstGeom>
          <a:solidFill>
            <a:srgbClr val="BFBFBF">
              <a:alpha val="68000"/>
            </a:srgbClr>
          </a:solidFill>
          <a:ln w="12700" cap="flat" cmpd="sng">
            <a:noFill/>
            <a:prstDash val="solid"/>
            <a:round/>
          </a:ln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755" b="0" i="0" u="none" strike="noStrik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 </a:t>
            </a:r>
            <a:endParaRPr lang="en-US" sz="1100"/>
          </a:p>
        </p:txBody>
      </p:sp>
      <p:sp>
        <p:nvSpPr>
          <p:cNvPr id="5" name="矩形 4"/>
          <p:cNvSpPr/>
          <p:nvPr/>
        </p:nvSpPr>
        <p:spPr>
          <a:xfrm>
            <a:off x="0" y="2164715"/>
            <a:ext cx="12192000" cy="2190750"/>
          </a:xfrm>
          <a:prstGeom prst="rect">
            <a:avLst/>
          </a:prstGeom>
          <a:solidFill>
            <a:srgbClr val="4472C4"/>
          </a:solidFill>
        </p:spPr>
        <p:txBody>
          <a:bodyPr/>
          <a:p/>
        </p:txBody>
      </p:sp>
      <p:sp>
        <p:nvSpPr>
          <p:cNvPr id="6" name="文本框 5" descr="{&quot;isTemplate&quot;:true,&quot;type&quot;:&quot;text&quot;}"/>
          <p:cNvSpPr txBox="1"/>
          <p:nvPr/>
        </p:nvSpPr>
        <p:spPr>
          <a:xfrm>
            <a:off x="3181350" y="2764790"/>
            <a:ext cx="5829300" cy="6000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9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入职以来</a:t>
            </a:r>
            <a:r>
              <a:rPr lang="en-US" sz="39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AI </a:t>
            </a:r>
            <a:r>
              <a:rPr lang="zh-CN" sz="39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应用交付复盘</a:t>
            </a:r>
            <a:endParaRPr lang="zh-CN" sz="39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" name="文本框 6" descr="{&quot;isTemplate&quot;:true,&quot;type&quot;:&quot;text&quot;}"/>
          <p:cNvSpPr txBox="1"/>
          <p:nvPr/>
        </p:nvSpPr>
        <p:spPr>
          <a:xfrm>
            <a:off x="4076700" y="3498215"/>
            <a:ext cx="4038600" cy="2571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月度经营分析会汇报</a:t>
            </a:r>
            <a:r>
              <a:rPr lang="en-US" sz="16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· AI </a:t>
            </a:r>
            <a:r>
              <a:rPr lang="zh-CN" sz="16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技术专员工作复盘</a:t>
            </a:r>
            <a:endParaRPr lang="zh-CN" sz="165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文本框 7" descr="{&quot;isTemplate&quot;:true,&quot;type&quot;:&quot;text&quot;}"/>
          <p:cNvSpPr txBox="1"/>
          <p:nvPr/>
        </p:nvSpPr>
        <p:spPr>
          <a:xfrm>
            <a:off x="4798060" y="4984115"/>
            <a:ext cx="3781425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部　门：</a:t>
            </a:r>
            <a:r>
              <a:rPr lang="en-US" sz="160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AI </a:t>
            </a:r>
            <a:r>
              <a:rPr lang="zh-CN" sz="160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技术专员</a:t>
            </a:r>
            <a:endParaRPr lang="zh-CN" sz="1600" b="1">
              <a:solidFill>
                <a:srgbClr val="052B7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文本框 8" descr="{&quot;isTemplate&quot;:true,&quot;type&quot;:&quot;text&quot;}"/>
          <p:cNvSpPr txBox="1"/>
          <p:nvPr/>
        </p:nvSpPr>
        <p:spPr>
          <a:xfrm>
            <a:off x="4798060" y="5288915"/>
            <a:ext cx="3781425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汇报人：肖聪</a:t>
            </a:r>
            <a:endParaRPr lang="zh-CN" sz="1600" b="1">
              <a:solidFill>
                <a:srgbClr val="052B7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77" name="" descr="&lt;Slide style={{ width:'1280px', height:'720px', position:'relative', background:'#FFFFFF', fontFamily:'微软雅黑' }}&gt;&#10;  &lt;Box style={{ position:'absolute', left:56, top:80, right:56, flexDirection:'row', gap:48, height:520, alignItems:'center' }}&gt;&#10;    &lt;Box style={{ width:300, justifyContent:'center' }}&gt;&#10;      &lt;Text style={{ fontSize:54, fontWeight:'bold', color:'#2F5597' }}&gt;目录&lt;/Text&gt;&#10;      &lt;Text style={{ fontSize:24, color:'#2F5597', marginTop:8, letterSpacing:4 }}&gt;CONTENTS&lt;/Text&gt;&#10;    &lt;/Box&gt;&#10;    &lt;Box style={{ width:2, height:300, background:'#4472C4' }} /&gt;&#10;    &lt;Box style={{ flex:1, flexDirection:'column', gap:20, justifyContent:'center' }}&gt;&#10;      {['一、工作概览与量化总览','二、内部工作：自研应用交付','三、内部工作：Skill 抽象与复用','四、内部工作：培训与推广','五、外部工作：宏昊AI助手平台','六、下阶段计划与需支持事项'].map((t, i) =&gt; (&#10;        &lt;Text key={i} style={{ fontSize:24, fontWeight:'bold', color:'#1A1A1A' }}&gt;{t}&lt;/Text&gt;&#10;      ))}&#10;    &lt;/Box&gt;&#10;  &lt;/Box&gt;&#10;  &lt;Box style={{ position:'absolute', left:56, top:668, right:56, flexDirection:'row', justifyContent:'space-between' }}&gt;&#10;    &lt;Text style={{ fontSize:14, color:'#888' }}&gt;入职以来 AI 工作复盘&lt;/Text&gt;&#10;    &lt;Text style={{ fontSize:14, color:'#888' }}&gt;02 / 13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矩形 77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id="79" name="文本框 78" descr="{&quot;isTemplate&quot;:true,&quot;type&quot;:&quot;text&quot;}"/>
          <p:cNvSpPr txBox="1"/>
          <p:nvPr/>
        </p:nvSpPr>
        <p:spPr>
          <a:xfrm>
            <a:off x="533400" y="2752725"/>
            <a:ext cx="2857500" cy="6191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4050" b="1">
                <a:solidFill>
                  <a:srgbClr val="2F5597"/>
                </a:solidFill>
                <a:latin typeface="微软雅黑" panose="020B0503020204020204" charset="-122"/>
                <a:ea typeface="微软雅黑" panose="020B0503020204020204" charset="-122"/>
              </a:rPr>
              <a:t>目录</a:t>
            </a:r>
            <a:endParaRPr lang="zh-CN" sz="4050" b="1">
              <a:solidFill>
                <a:srgbClr val="2F559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0" name="文本框 79" descr="{&quot;isTemplate&quot;:true,&quot;type&quot;:&quot;text&quot;}"/>
          <p:cNvSpPr txBox="1"/>
          <p:nvPr/>
        </p:nvSpPr>
        <p:spPr>
          <a:xfrm>
            <a:off x="533400" y="3448050"/>
            <a:ext cx="2857500" cy="276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spc="300">
                <a:solidFill>
                  <a:srgbClr val="2F5597"/>
                </a:solidFill>
                <a:latin typeface="微软雅黑" panose="020B0503020204020204" charset="-122"/>
                <a:ea typeface="微软雅黑" panose="020B0503020204020204" charset="-122"/>
              </a:rPr>
              <a:t>CONTENTS</a:t>
            </a:r>
            <a:endParaRPr lang="en-US" sz="1800" spc="300">
              <a:solidFill>
                <a:srgbClr val="2F559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1" name="矩形 80"/>
          <p:cNvSpPr/>
          <p:nvPr/>
        </p:nvSpPr>
        <p:spPr>
          <a:xfrm>
            <a:off x="3848100" y="1809750"/>
            <a:ext cx="19050" cy="2857500"/>
          </a:xfrm>
          <a:prstGeom prst="rect">
            <a:avLst/>
          </a:prstGeom>
          <a:solidFill>
            <a:srgbClr val="4472C4"/>
          </a:solidFill>
        </p:spPr>
        <p:txBody>
          <a:bodyPr/>
          <a:p/>
        </p:txBody>
      </p:sp>
      <p:sp>
        <p:nvSpPr>
          <p:cNvPr id="82" name="文本框 81" descr="{&quot;isTemplate&quot;:true,&quot;type&quot;:&quot;text&quot;}"/>
          <p:cNvSpPr txBox="1"/>
          <p:nvPr/>
        </p:nvSpPr>
        <p:spPr>
          <a:xfrm>
            <a:off x="4324350" y="1933575"/>
            <a:ext cx="7334250" cy="276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一、工作概览与量化总览</a:t>
            </a:r>
            <a:endParaRPr lang="zh-CN" sz="1800" b="1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3" name="文本框 82" descr="{&quot;isTemplate&quot;:true,&quot;type&quot;:&quot;text&quot;}"/>
          <p:cNvSpPr txBox="1"/>
          <p:nvPr/>
        </p:nvSpPr>
        <p:spPr>
          <a:xfrm>
            <a:off x="4324350" y="2400300"/>
            <a:ext cx="7334250" cy="276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二、内部工作：自研应用交付</a:t>
            </a:r>
            <a:endParaRPr lang="zh-CN" sz="1800" b="1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4" name="文本框 83" descr="{&quot;isTemplate&quot;:true,&quot;type&quot;:&quot;text&quot;}"/>
          <p:cNvSpPr txBox="1"/>
          <p:nvPr/>
        </p:nvSpPr>
        <p:spPr>
          <a:xfrm>
            <a:off x="4324350" y="2867025"/>
            <a:ext cx="7334250" cy="276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三、内部工作：</a:t>
            </a:r>
            <a:r>
              <a:rPr lang="en-US" sz="180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Skill </a:t>
            </a:r>
            <a:r>
              <a:rPr lang="zh-CN" sz="180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抽象与复用</a:t>
            </a:r>
            <a:endParaRPr lang="zh-CN" sz="1800" b="1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5" name="文本框 84" descr="{&quot;isTemplate&quot;:true,&quot;type&quot;:&quot;text&quot;}"/>
          <p:cNvSpPr txBox="1"/>
          <p:nvPr/>
        </p:nvSpPr>
        <p:spPr>
          <a:xfrm>
            <a:off x="4324350" y="3333750"/>
            <a:ext cx="7334250" cy="276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四、内部工作：培训与推广</a:t>
            </a:r>
            <a:endParaRPr lang="zh-CN" sz="1800" b="1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6" name="文本框 85" descr="{&quot;isTemplate&quot;:true,&quot;type&quot;:&quot;text&quot;}"/>
          <p:cNvSpPr txBox="1"/>
          <p:nvPr/>
        </p:nvSpPr>
        <p:spPr>
          <a:xfrm>
            <a:off x="4324350" y="3800475"/>
            <a:ext cx="7334250" cy="276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五、外部工作：宏昊</a:t>
            </a:r>
            <a:r>
              <a:rPr lang="en-US" sz="180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AI</a:t>
            </a:r>
            <a:r>
              <a:rPr lang="zh-CN" sz="180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助手平台</a:t>
            </a:r>
            <a:endParaRPr lang="zh-CN" sz="1800" b="1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7" name="文本框 86" descr="{&quot;isTemplate&quot;:true,&quot;type&quot;:&quot;text&quot;}"/>
          <p:cNvSpPr txBox="1"/>
          <p:nvPr/>
        </p:nvSpPr>
        <p:spPr>
          <a:xfrm>
            <a:off x="4324350" y="4267200"/>
            <a:ext cx="7334250" cy="276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六、下阶段计划与需支持事项</a:t>
            </a:r>
            <a:endParaRPr lang="zh-CN" sz="1800" b="1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8" name="文本框 87" descr="{&quot;isTemplate&quot;:true,&quot;type&quot;:&quot;text&quot;}"/>
          <p:cNvSpPr txBox="1"/>
          <p:nvPr/>
        </p:nvSpPr>
        <p:spPr>
          <a:xfrm>
            <a:off x="533400" y="6362700"/>
            <a:ext cx="1285875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入职以来</a:t>
            </a:r>
            <a:r>
              <a:rPr lang="en-US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 AI </a:t>
            </a:r>
            <a:r>
              <a:rPr lang="zh-CN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工作复盘</a:t>
            </a:r>
            <a:endParaRPr lang="zh-CN" sz="1050">
              <a:solidFill>
                <a:srgbClr val="88888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9" name="文本框 88" descr="{&quot;isTemplate&quot;:true,&quot;type&quot;:&quot;text&quot;}"/>
          <p:cNvSpPr txBox="1"/>
          <p:nvPr/>
        </p:nvSpPr>
        <p:spPr>
          <a:xfrm>
            <a:off x="11229975" y="6362700"/>
            <a:ext cx="428625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02 / 13</a:t>
            </a:r>
            <a:endParaRPr lang="en-US" sz="1050">
              <a:solidFill>
                <a:srgbClr val="88888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90" name="" descr="&lt;Slide style={{ width:'1280px', height:'720px', position:'relative', background:'#FFFFFF', fontFamily:'微软雅黑' }}&gt;&#10;  &lt;Box style={{ position:'absolute', left:56, top:36, flexDirection:'row', alignItems:'center', gap:12 }}&gt;&#10;    &lt;Box style={{ width:8, height:34, background:'#4472C4' }} /&gt;&#10;    &lt;Text style={{ fontSize:30, fontWeight:'bold', color:'#052B7C' }}&gt;一、工作概览与量化总览&lt;/Text&gt;&#10;  &lt;/Box&gt;&#10;&#10;  &lt;Box style={{ position:'absolute', left:56, top:130, right:56, flexDirection:'column', gap:22 }}&gt;&#10;    &lt;Box style={{ flexDirection:'row', gap:22 }}&gt;&#10;      {[['5','自研应用 / 工具'],['2','复用 Skill'],['4','业务智能体']].map((c, i) =&gt; (&#10;        &lt;Box key={i} style={{ flex:1, background:'#F4F7FC', borderRadius:10, padding:'22px 18px', alignItems:'center' }}&gt;&#10;          &lt;Text style={{ fontSize:56, fontWeight:'bold', color:'#4472C4' }}&gt;{c[0]}&lt;/Text&gt;&#10;          &lt;Text style={{ fontSize:18, color:'#1A1A1A', marginTop:6 }}&gt;{c[1]}&lt;/Text&gt;&#10;        &lt;/Box&gt;&#10;      ))}&#10;    &lt;/Box&gt;&#10;    &lt;Box style={{ flexDirection:'row', gap:22 }}&gt;&#10;      {[['37','平台验收项'],['12','培训场次'],['7','覆盖部门']].map((c, i) =&gt; (&#10;        &lt;Box key={i} style={{ flex:1, background:'#F4F7FC', borderRadius:10, padding:'22px 18px', alignItems:'center' }}&gt;&#10;          &lt;Text style={{ fontSize:56, fontWeight:'bold', color:'#4472C4' }}&gt;{c[0]}&lt;/Text&gt;&#10;          &lt;Text style={{ fontSize:18, color:'#1A1A1A', marginTop:6 }}&gt;{c[1]}&lt;/Text&gt;&#10;        &lt;/Box&gt;&#10;      ))}&#10;    &lt;/Box&gt;&#10;  &lt;/Box&gt;&#10;&#10;  &lt;Box style={{ position:'absolute', left:56, top:560, right:56, background:'#052B7C', borderRadius:10, padding:'16px 22px' }}&gt;&#10;    &lt;Text style={{ fontSize:18, color:'#FFFFFF', lineHeight:1.5 }}&gt;入职 3.5 个月，从 0 搭起「自研工具 + 复用 Skill + 平台验收运营 + 培训推广」完整交付体系，覆盖采购 / 船务 / 财务 / 销售 / 研发 / 营销 6 类业务方；交付快（自研平均 ~25 天）、持续迭代（110+ 条代码）。&lt;/Text&gt;&#10;  &lt;/Box&gt;&#10;&#10;  &lt;Box style={{ position:'absolute', left:56, top:668, right:56, flexDirection:'row', justifyContent:'space-between' }}&gt;&#10;    &lt;Text style={{ fontSize:14, color:'#888' }}&gt;入职以来 AI 工作复盘&lt;/Text&gt;&#10;    &lt;Text style={{ fontSize:14, color:'#888' }}&gt;03 / 13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矩形 9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id="92" name="矩形 91"/>
          <p:cNvSpPr/>
          <p:nvPr/>
        </p:nvSpPr>
        <p:spPr>
          <a:xfrm>
            <a:off x="533400" y="352425"/>
            <a:ext cx="76200" cy="323850"/>
          </a:xfrm>
          <a:prstGeom prst="rect">
            <a:avLst/>
          </a:prstGeom>
          <a:solidFill>
            <a:srgbClr val="4472C4"/>
          </a:solidFill>
        </p:spPr>
        <p:txBody>
          <a:bodyPr/>
          <a:p/>
        </p:txBody>
      </p:sp>
      <p:sp>
        <p:nvSpPr>
          <p:cNvPr id="93" name="文本框 92" descr="{&quot;isTemplate&quot;:true,&quot;type&quot;:&quot;text&quot;}"/>
          <p:cNvSpPr txBox="1"/>
          <p:nvPr/>
        </p:nvSpPr>
        <p:spPr>
          <a:xfrm>
            <a:off x="723900" y="342900"/>
            <a:ext cx="3143250" cy="3429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一、工作概览与量化总览</a:t>
            </a:r>
            <a:endParaRPr lang="zh-CN" sz="2250" b="1">
              <a:solidFill>
                <a:srgbClr val="052B7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4" name="圆角矩形 93"/>
          <p:cNvSpPr/>
          <p:nvPr>
            <p:custDataLst>
              <p:tags r:id="rId1"/>
            </p:custDataLst>
          </p:nvPr>
        </p:nvSpPr>
        <p:spPr>
          <a:xfrm>
            <a:off x="533400" y="1238250"/>
            <a:ext cx="3571875" cy="1333500"/>
          </a:xfrm>
          <a:prstGeom prst="roundRect">
            <a:avLst>
              <a:gd name="adj" fmla="val 7143"/>
            </a:avLst>
          </a:prstGeom>
          <a:solidFill>
            <a:srgbClr val="F4F7FC"/>
          </a:solidFill>
        </p:spPr>
        <p:txBody>
          <a:bodyPr/>
          <a:p/>
        </p:txBody>
      </p:sp>
      <p:sp>
        <p:nvSpPr>
          <p:cNvPr id="95" name="文本框 94" descr="{&quot;isTemplate&quot;:true,&quot;type&quot;:&quot;text&quot;}"/>
          <p:cNvSpPr txBox="1"/>
          <p:nvPr>
            <p:custDataLst>
              <p:tags r:id="rId2"/>
            </p:custDataLst>
          </p:nvPr>
        </p:nvSpPr>
        <p:spPr>
          <a:xfrm>
            <a:off x="2152650" y="1447800"/>
            <a:ext cx="342900" cy="6477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200" b="1">
                <a:solidFill>
                  <a:srgbClr val="4472C4"/>
                </a:solidFill>
                <a:latin typeface="微软雅黑" panose="020B0503020204020204" charset="-122"/>
                <a:ea typeface="微软雅黑" panose="020B0503020204020204" charset="-122"/>
              </a:rPr>
              <a:t>5</a:t>
            </a:r>
            <a:endParaRPr lang="en-US" sz="4200" b="1">
              <a:solidFill>
                <a:srgbClr val="4472C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6" name="文本框 95" descr="{&quot;isTemplate&quot;:true,&quot;type&quot;:&quot;text&quot;}"/>
          <p:cNvSpPr txBox="1"/>
          <p:nvPr>
            <p:custDataLst>
              <p:tags r:id="rId3"/>
            </p:custDataLst>
          </p:nvPr>
        </p:nvSpPr>
        <p:spPr>
          <a:xfrm>
            <a:off x="1714500" y="2152650"/>
            <a:ext cx="1209675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开发应用</a:t>
            </a:r>
            <a:r>
              <a:rPr lang="en-US" sz="135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lang="zh-CN" sz="135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工具</a:t>
            </a:r>
            <a:endParaRPr lang="zh-CN" sz="135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7" name="圆角矩形 96"/>
          <p:cNvSpPr/>
          <p:nvPr>
            <p:custDataLst>
              <p:tags r:id="rId4"/>
            </p:custDataLst>
          </p:nvPr>
        </p:nvSpPr>
        <p:spPr>
          <a:xfrm>
            <a:off x="4314825" y="1238250"/>
            <a:ext cx="3562350" cy="1333500"/>
          </a:xfrm>
          <a:prstGeom prst="roundRect">
            <a:avLst>
              <a:gd name="adj" fmla="val 7143"/>
            </a:avLst>
          </a:prstGeom>
          <a:solidFill>
            <a:srgbClr val="F4F7FC"/>
          </a:solidFill>
        </p:spPr>
        <p:txBody>
          <a:bodyPr/>
          <a:p/>
        </p:txBody>
      </p:sp>
      <p:sp>
        <p:nvSpPr>
          <p:cNvPr id="98" name="文本框 97" descr="{&quot;isTemplate&quot;:true,&quot;type&quot;:&quot;text&quot;}"/>
          <p:cNvSpPr txBox="1"/>
          <p:nvPr>
            <p:custDataLst>
              <p:tags r:id="rId5"/>
            </p:custDataLst>
          </p:nvPr>
        </p:nvSpPr>
        <p:spPr>
          <a:xfrm>
            <a:off x="5924550" y="1447800"/>
            <a:ext cx="342900" cy="6477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200" b="1">
                <a:solidFill>
                  <a:srgbClr val="4472C4"/>
                </a:solidFill>
                <a:latin typeface="微软雅黑" panose="020B0503020204020204" charset="-122"/>
                <a:ea typeface="微软雅黑" panose="020B0503020204020204" charset="-122"/>
              </a:rPr>
              <a:t>3</a:t>
            </a:r>
            <a:endParaRPr lang="en-US" sz="4200" b="1">
              <a:solidFill>
                <a:srgbClr val="4472C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9" name="文本框 98" descr="{&quot;isTemplate&quot;:true,&quot;type&quot;:&quot;text&quot;}"/>
          <p:cNvSpPr txBox="1"/>
          <p:nvPr>
            <p:custDataLst>
              <p:tags r:id="rId6"/>
            </p:custDataLst>
          </p:nvPr>
        </p:nvSpPr>
        <p:spPr>
          <a:xfrm>
            <a:off x="5743575" y="2152650"/>
            <a:ext cx="704850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复用</a:t>
            </a:r>
            <a:r>
              <a:rPr lang="en-US" sz="135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Skill</a:t>
            </a:r>
            <a:endParaRPr lang="en-US" sz="135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0" name="圆角矩形 99"/>
          <p:cNvSpPr/>
          <p:nvPr>
            <p:custDataLst>
              <p:tags r:id="rId7"/>
            </p:custDataLst>
          </p:nvPr>
        </p:nvSpPr>
        <p:spPr>
          <a:xfrm>
            <a:off x="8086725" y="1238250"/>
            <a:ext cx="3571875" cy="1333500"/>
          </a:xfrm>
          <a:prstGeom prst="roundRect">
            <a:avLst>
              <a:gd name="adj" fmla="val 7143"/>
            </a:avLst>
          </a:prstGeom>
          <a:solidFill>
            <a:srgbClr val="F4F7FC"/>
          </a:solidFill>
        </p:spPr>
        <p:txBody>
          <a:bodyPr/>
          <a:p/>
        </p:txBody>
      </p:sp>
      <p:sp>
        <p:nvSpPr>
          <p:cNvPr id="101" name="文本框 100" descr="{&quot;isTemplate&quot;:true,&quot;type&quot;:&quot;text&quot;}"/>
          <p:cNvSpPr txBox="1"/>
          <p:nvPr>
            <p:custDataLst>
              <p:tags r:id="rId8"/>
            </p:custDataLst>
          </p:nvPr>
        </p:nvSpPr>
        <p:spPr>
          <a:xfrm>
            <a:off x="9705975" y="1447800"/>
            <a:ext cx="342900" cy="6477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200" b="1">
                <a:solidFill>
                  <a:srgbClr val="4472C4"/>
                </a:solidFill>
                <a:latin typeface="微软雅黑" panose="020B0503020204020204" charset="-122"/>
                <a:ea typeface="微软雅黑" panose="020B0503020204020204" charset="-122"/>
              </a:rPr>
              <a:t>4</a:t>
            </a:r>
            <a:endParaRPr lang="en-US" sz="4200" b="1">
              <a:solidFill>
                <a:srgbClr val="4472C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2" name="文本框 101" descr="{&quot;isTemplate&quot;:true,&quot;type&quot;:&quot;text&quot;}"/>
          <p:cNvSpPr txBox="1"/>
          <p:nvPr>
            <p:custDataLst>
              <p:tags r:id="rId9"/>
            </p:custDataLst>
          </p:nvPr>
        </p:nvSpPr>
        <p:spPr>
          <a:xfrm>
            <a:off x="9448800" y="2152650"/>
            <a:ext cx="857250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业务智能体</a:t>
            </a:r>
            <a:endParaRPr lang="zh-CN" sz="135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3" name="圆角矩形 102"/>
          <p:cNvSpPr/>
          <p:nvPr>
            <p:custDataLst>
              <p:tags r:id="rId10"/>
            </p:custDataLst>
          </p:nvPr>
        </p:nvSpPr>
        <p:spPr>
          <a:xfrm>
            <a:off x="533400" y="2781300"/>
            <a:ext cx="3571875" cy="1333500"/>
          </a:xfrm>
          <a:prstGeom prst="roundRect">
            <a:avLst>
              <a:gd name="adj" fmla="val 7143"/>
            </a:avLst>
          </a:prstGeom>
          <a:solidFill>
            <a:srgbClr val="F4F7FC"/>
          </a:solidFill>
        </p:spPr>
        <p:txBody>
          <a:bodyPr/>
          <a:p/>
        </p:txBody>
      </p:sp>
      <p:sp>
        <p:nvSpPr>
          <p:cNvPr id="104" name="文本框 103" descr="{&quot;isTemplate&quot;:true,&quot;type&quot;:&quot;text&quot;}"/>
          <p:cNvSpPr txBox="1"/>
          <p:nvPr>
            <p:custDataLst>
              <p:tags r:id="rId11"/>
            </p:custDataLst>
          </p:nvPr>
        </p:nvSpPr>
        <p:spPr>
          <a:xfrm>
            <a:off x="1981200" y="2990850"/>
            <a:ext cx="685800" cy="6477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200" b="1">
                <a:solidFill>
                  <a:srgbClr val="4472C4"/>
                </a:solidFill>
                <a:latin typeface="微软雅黑" panose="020B0503020204020204" charset="-122"/>
                <a:ea typeface="微软雅黑" panose="020B0503020204020204" charset="-122"/>
              </a:rPr>
              <a:t>37</a:t>
            </a:r>
            <a:endParaRPr lang="en-US" sz="4200" b="1">
              <a:solidFill>
                <a:srgbClr val="4472C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5" name="文本框 104" descr="{&quot;isTemplate&quot;:true,&quot;type&quot;:&quot;text&quot;}"/>
          <p:cNvSpPr txBox="1"/>
          <p:nvPr>
            <p:custDataLst>
              <p:tags r:id="rId12"/>
            </p:custDataLst>
          </p:nvPr>
        </p:nvSpPr>
        <p:spPr>
          <a:xfrm>
            <a:off x="1895475" y="3695700"/>
            <a:ext cx="857250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平台验收项</a:t>
            </a:r>
            <a:endParaRPr lang="zh-CN" sz="135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6" name="圆角矩形 105"/>
          <p:cNvSpPr/>
          <p:nvPr>
            <p:custDataLst>
              <p:tags r:id="rId13"/>
            </p:custDataLst>
          </p:nvPr>
        </p:nvSpPr>
        <p:spPr>
          <a:xfrm>
            <a:off x="4314825" y="2781300"/>
            <a:ext cx="3562350" cy="1333500"/>
          </a:xfrm>
          <a:prstGeom prst="roundRect">
            <a:avLst>
              <a:gd name="adj" fmla="val 7143"/>
            </a:avLst>
          </a:prstGeom>
          <a:solidFill>
            <a:srgbClr val="F4F7FC"/>
          </a:solidFill>
        </p:spPr>
        <p:txBody>
          <a:bodyPr/>
          <a:p/>
        </p:txBody>
      </p:sp>
      <p:sp>
        <p:nvSpPr>
          <p:cNvPr id="107" name="文本框 106" descr="{&quot;isTemplate&quot;:true,&quot;type&quot;:&quot;text&quot;}"/>
          <p:cNvSpPr txBox="1"/>
          <p:nvPr>
            <p:custDataLst>
              <p:tags r:id="rId14"/>
            </p:custDataLst>
          </p:nvPr>
        </p:nvSpPr>
        <p:spPr>
          <a:xfrm>
            <a:off x="5753100" y="2990850"/>
            <a:ext cx="685800" cy="6477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200" b="1">
                <a:solidFill>
                  <a:srgbClr val="4472C4"/>
                </a:solidFill>
                <a:latin typeface="微软雅黑" panose="020B0503020204020204" charset="-122"/>
                <a:ea typeface="微软雅黑" panose="020B0503020204020204" charset="-122"/>
              </a:rPr>
              <a:t>12</a:t>
            </a:r>
            <a:endParaRPr lang="en-US" sz="4200" b="1">
              <a:solidFill>
                <a:srgbClr val="4472C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8" name="文本框 107" descr="{&quot;isTemplate&quot;:true,&quot;type&quot;:&quot;text&quot;}"/>
          <p:cNvSpPr txBox="1"/>
          <p:nvPr>
            <p:custDataLst>
              <p:tags r:id="rId15"/>
            </p:custDataLst>
          </p:nvPr>
        </p:nvSpPr>
        <p:spPr>
          <a:xfrm>
            <a:off x="5753100" y="3695700"/>
            <a:ext cx="685800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培训场次</a:t>
            </a:r>
            <a:endParaRPr lang="zh-CN" sz="135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9" name="圆角矩形 108"/>
          <p:cNvSpPr/>
          <p:nvPr>
            <p:custDataLst>
              <p:tags r:id="rId16"/>
            </p:custDataLst>
          </p:nvPr>
        </p:nvSpPr>
        <p:spPr>
          <a:xfrm>
            <a:off x="8086725" y="2781300"/>
            <a:ext cx="3571875" cy="1333500"/>
          </a:xfrm>
          <a:prstGeom prst="roundRect">
            <a:avLst>
              <a:gd name="adj" fmla="val 7143"/>
            </a:avLst>
          </a:prstGeom>
          <a:solidFill>
            <a:srgbClr val="F4F7FC"/>
          </a:solidFill>
        </p:spPr>
        <p:txBody>
          <a:bodyPr/>
          <a:p/>
        </p:txBody>
      </p:sp>
      <p:sp>
        <p:nvSpPr>
          <p:cNvPr id="110" name="文本框 109" descr="{&quot;isTemplate&quot;:true,&quot;type&quot;:&quot;text&quot;}"/>
          <p:cNvSpPr txBox="1"/>
          <p:nvPr>
            <p:custDataLst>
              <p:tags r:id="rId17"/>
            </p:custDataLst>
          </p:nvPr>
        </p:nvSpPr>
        <p:spPr>
          <a:xfrm>
            <a:off x="9705975" y="2990850"/>
            <a:ext cx="342900" cy="6477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200" b="1">
                <a:solidFill>
                  <a:srgbClr val="4472C4"/>
                </a:solidFill>
                <a:latin typeface="微软雅黑" panose="020B0503020204020204" charset="-122"/>
                <a:ea typeface="微软雅黑" panose="020B0503020204020204" charset="-122"/>
              </a:rPr>
              <a:t>7</a:t>
            </a:r>
            <a:endParaRPr lang="en-US" sz="4200" b="1">
              <a:solidFill>
                <a:srgbClr val="4472C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1" name="文本框 110" descr="{&quot;isTemplate&quot;:true,&quot;type&quot;:&quot;text&quot;}"/>
          <p:cNvSpPr txBox="1"/>
          <p:nvPr>
            <p:custDataLst>
              <p:tags r:id="rId18"/>
            </p:custDataLst>
          </p:nvPr>
        </p:nvSpPr>
        <p:spPr>
          <a:xfrm>
            <a:off x="9534525" y="3695700"/>
            <a:ext cx="685800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覆盖部门</a:t>
            </a:r>
            <a:endParaRPr lang="zh-CN" sz="135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2" name="圆角矩形 111"/>
          <p:cNvSpPr/>
          <p:nvPr/>
        </p:nvSpPr>
        <p:spPr>
          <a:xfrm>
            <a:off x="514350" y="4776470"/>
            <a:ext cx="11125200" cy="923925"/>
          </a:xfrm>
          <a:prstGeom prst="roundRect">
            <a:avLst>
              <a:gd name="adj" fmla="val 10309"/>
            </a:avLst>
          </a:prstGeom>
          <a:solidFill>
            <a:srgbClr val="052B7C"/>
          </a:solidFill>
        </p:spPr>
        <p:txBody>
          <a:bodyPr/>
          <a:p/>
        </p:txBody>
      </p:sp>
      <p:sp>
        <p:nvSpPr>
          <p:cNvPr id="113" name="文本框 112" descr="{&quot;isTemplate&quot;:true,&quot;type&quot;:&quot;text&quot;}"/>
          <p:cNvSpPr txBox="1"/>
          <p:nvPr/>
        </p:nvSpPr>
        <p:spPr>
          <a:xfrm>
            <a:off x="723900" y="4928870"/>
            <a:ext cx="10706100" cy="619125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入职</a:t>
            </a:r>
            <a:r>
              <a:rPr lang="en-US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3.5 </a:t>
            </a:r>
            <a:r>
              <a:rPr lang="zh-CN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个月，从</a:t>
            </a:r>
            <a:r>
              <a:rPr lang="en-US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0 </a:t>
            </a:r>
            <a:r>
              <a:rPr lang="zh-CN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搭起「自研工具</a:t>
            </a:r>
            <a:r>
              <a:rPr lang="en-US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+ </a:t>
            </a:r>
            <a:r>
              <a:rPr lang="zh-CN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复用</a:t>
            </a:r>
            <a:r>
              <a:rPr lang="en-US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Skill + </a:t>
            </a:r>
            <a:r>
              <a:rPr lang="zh-CN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平台验收运营</a:t>
            </a:r>
            <a:r>
              <a:rPr lang="en-US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+ </a:t>
            </a:r>
            <a:r>
              <a:rPr lang="zh-CN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培训推广」完整交付体系，覆盖采购</a:t>
            </a:r>
            <a:r>
              <a:rPr lang="en-US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lang="zh-CN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船务</a:t>
            </a:r>
            <a:r>
              <a:rPr lang="en-US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lang="zh-CN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财务</a:t>
            </a:r>
            <a:r>
              <a:rPr lang="en-US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lang="zh-CN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销售</a:t>
            </a:r>
            <a:r>
              <a:rPr lang="en-US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lang="zh-CN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研发</a:t>
            </a:r>
            <a:r>
              <a:rPr lang="en-US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lang="zh-CN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营销</a:t>
            </a:r>
            <a:r>
              <a:rPr lang="en-US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6 </a:t>
            </a:r>
            <a:r>
              <a:rPr lang="zh-CN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类业务方；交付快（自研平均</a:t>
            </a:r>
            <a:r>
              <a:rPr lang="en-US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~25 </a:t>
            </a:r>
            <a:r>
              <a:rPr lang="zh-CN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天）、持续迭代（</a:t>
            </a:r>
            <a:r>
              <a:rPr lang="en-US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110+ </a:t>
            </a:r>
            <a:r>
              <a:rPr lang="zh-CN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条代码）。</a:t>
            </a:r>
            <a:endParaRPr lang="zh-CN" sz="135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4" name="文本框 113" descr="{&quot;isTemplate&quot;:true,&quot;type&quot;:&quot;text&quot;}"/>
          <p:cNvSpPr txBox="1"/>
          <p:nvPr/>
        </p:nvSpPr>
        <p:spPr>
          <a:xfrm>
            <a:off x="533400" y="6362700"/>
            <a:ext cx="1285875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入职以来</a:t>
            </a:r>
            <a:r>
              <a:rPr lang="en-US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 AI </a:t>
            </a:r>
            <a:r>
              <a:rPr lang="zh-CN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工作复盘</a:t>
            </a:r>
            <a:endParaRPr lang="zh-CN" sz="1050">
              <a:solidFill>
                <a:srgbClr val="88888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5" name="文本框 114" descr="{&quot;isTemplate&quot;:true,&quot;type&quot;:&quot;text&quot;}"/>
          <p:cNvSpPr txBox="1"/>
          <p:nvPr/>
        </p:nvSpPr>
        <p:spPr>
          <a:xfrm>
            <a:off x="11229975" y="6362700"/>
            <a:ext cx="428625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03 / 13</a:t>
            </a:r>
            <a:endParaRPr lang="en-US" sz="1050">
              <a:solidFill>
                <a:srgbClr val="88888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16" name="" descr="&lt;Slide style={{ width:'1280px', height:'720px', position:'relative', background:'#FFFFFF', fontFamily:'微软雅黑' }}&gt;&#10;  &lt;Box style={{ position:'absolute', left:56, top:36, flexDirection:'row', alignItems:'center', gap:12 }}&gt;&#10;    &lt;Box style={{ width:8, height:34, background:'#4472C4' }} /&gt;&#10;    &lt;Text style={{ fontSize:30, fontWeight:'bold', color:'#052B7C' }}&gt;二、自研应用交付总览&lt;/Text&gt;&#10;  &lt;/Box&gt;&#10;&#10;  &lt;Box style={{ position:'absolute', left:56, top:120, right:56 }}&gt;&#10;    &lt;Table&#10;      style={{ width:'100%', height:420 }}&#10;      defaultTextStyle={{ fontSize:15, textAlign:'center', color:'#1A1A1A' }}&#10;      defaultCellStyle={{ border:{ left:{width:1,color:'#CCCCCC'}, right:{width:1,color:'#CCCCCC'}, top:{width:1,color:'#CCCCCC'}, bottom:{width:1,color:'#CCCCCC'} } }}&#10;      cells={[&#10;        [ {text:'应用 / 工具', textStyle:{bold:true,color:'#1A1A1A'}, cellStyle:{background:{color:'#DAE3F3'}}},&#10;          {text:'交付时间', textStyle:{bold:true,color:'#1A1A1A'}, cellStyle:{background:{color:'#DAE3F3'}}},&#10;          {text:'形态', textStyle:{bold:true,color:'#1A1A1A'}, cellStyle:{background:{color:'#DAE3F3'}}},&#10;          {text:'主要对象', textStyle:{bold:true,color:'#1A1A1A'}, cellStyle:{background:{color:'#DAE3F3'}}},&#10;          {text:'当前状态', textStyle:{bold:true,color:'#1A1A1A'}, cellStyle:{background:{color:'#DAE3F3'}}} ],&#10;        ['采购分析助手','05-29','前后端 Web','采购部','维护中（至 07-30）'],&#10;        ['船务 T/T 协议自动化','06-22','前后端 Web','船务部','95%+ 试用'],&#10;        ['数据脱敏 Data_masking','07-28','桌面 .exe','财务部','长期优化'],&#10;        ['对账单','已交付','纯前端 HTML','财务部','已交付'],&#10;        ['Tax_check 退税审单','08-01','桌面 .exe','财务部','已交付运营（收尾）'],&#10;      ]}&#10;    /&gt;&#10;  &lt;/Box&gt;&#10;&#10;  &lt;Box style={{ position:'absolute', left:56, top:560, right:56 }}&gt;&#10;    &lt;Text style={{ fontSize:16, color:'#1A1A1A', lineHeight:1.5 }}&gt;自研平均 &lt;span style={{ fontWeight:'bold', color:'#4472C4' }}&gt;~25 天&lt;/span&gt; 交付；含 1 次 PyQt5→Web 重构（05-27）、2 次架构级重构（采购 06-27、船务 08-01 JSON→SQLite）；110+ 条代码迭代。MSDS 中英文双语生成内嵌于船务助手，不作独立交付项。&lt;/Text&gt;&#10;  &lt;/Box&gt;&#10;&#10;  &lt;Box style={{ position:'absolute', left:56, top:668, right:56, flexDirection:'row', justifyContent:'space-between' }}&gt;&#10;    &lt;Text style={{ fontSize:14, color:'#888' }}&gt;入职以来 AI 工作复盘&lt;/Text&gt;&#10;    &lt;Text style={{ fontSize:14, color:'#888' }}&gt;04 / 13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矩形 116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id="118" name="矩形 117"/>
          <p:cNvSpPr/>
          <p:nvPr/>
        </p:nvSpPr>
        <p:spPr>
          <a:xfrm>
            <a:off x="533400" y="352425"/>
            <a:ext cx="76200" cy="323850"/>
          </a:xfrm>
          <a:prstGeom prst="rect">
            <a:avLst/>
          </a:prstGeom>
          <a:solidFill>
            <a:srgbClr val="4472C4"/>
          </a:solidFill>
        </p:spPr>
        <p:txBody>
          <a:bodyPr/>
          <a:p/>
        </p:txBody>
      </p:sp>
      <p:sp>
        <p:nvSpPr>
          <p:cNvPr id="119" name="文本框 118" descr="{&quot;isTemplate&quot;:true,&quot;type&quot;:&quot;text&quot;}"/>
          <p:cNvSpPr txBox="1"/>
          <p:nvPr/>
        </p:nvSpPr>
        <p:spPr>
          <a:xfrm>
            <a:off x="723900" y="342900"/>
            <a:ext cx="2857500" cy="3429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二、</a:t>
            </a:r>
            <a:r>
              <a:rPr lang="zh-CN" sz="225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开发应用交付总览</a:t>
            </a:r>
            <a:endParaRPr lang="zh-CN" sz="2250" b="1">
              <a:solidFill>
                <a:srgbClr val="052B7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graphicFrame>
        <p:nvGraphicFramePr>
          <p:cNvPr id="120" name="表格 119"/>
          <p:cNvGraphicFramePr/>
          <p:nvPr/>
        </p:nvGraphicFramePr>
        <p:xfrm>
          <a:off x="533400" y="1143000"/>
          <a:ext cx="11125201" cy="4000500"/>
        </p:xfrm>
        <a:graphic>
          <a:graphicData uri="http://schemas.openxmlformats.org/drawingml/2006/table">
            <a:tbl>
              <a:tblPr/>
              <a:tblGrid>
                <a:gridCol w="3469956"/>
                <a:gridCol w="1375336"/>
                <a:gridCol w="2007674"/>
                <a:gridCol w="1375336"/>
                <a:gridCol w="2896899"/>
              </a:tblGrid>
              <a:tr h="666750"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应用 / 工具</a:t>
                      </a:r>
                      <a:endParaRPr sz="1125" b="1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3F3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交付时间</a:t>
                      </a:r>
                      <a:endParaRPr sz="1125" b="1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3F3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形态</a:t>
                      </a:r>
                      <a:endParaRPr sz="1125" b="1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3F3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主要对象</a:t>
                      </a:r>
                      <a:endParaRPr sz="1125" b="1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3F3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当前状态</a:t>
                      </a:r>
                      <a:endParaRPr sz="1125" b="1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3F3"/>
                    </a:solidFill>
                  </a:tcPr>
                </a:tc>
              </a:tr>
              <a:tr h="666750"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采购分析助手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05-29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前后端 Web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采购部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维护中（至 07-30）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66750"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船务 T/T 协议自动化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06-22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前后端 Web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船务部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95%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66750"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数据脱敏 Data_masking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07-28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桌面 .exe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财务部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长期优化</a:t>
                      </a:r>
                      <a:r>
                        <a:rPr lang="en-US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+</a:t>
                      </a:r>
                      <a:r>
                        <a:rPr lang="zh-CN" altLang="en-US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新调整</a:t>
                      </a:r>
                      <a:endParaRPr lang="zh-CN" altLang="en-US"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66750"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对账单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已交付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纯前端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财务部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已交付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66750"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Tax_check 退税审单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08-01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桌面 .exe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财务部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已交付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121" name="文本框 120" descr="{&quot;isTemplate&quot;:true,&quot;type&quot;:&quot;text&quot;}"/>
          <p:cNvSpPr txBox="1"/>
          <p:nvPr/>
        </p:nvSpPr>
        <p:spPr>
          <a:xfrm>
            <a:off x="533400" y="5334000"/>
            <a:ext cx="11125200" cy="5524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自研平均</a:t>
            </a: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lang="en-US" sz="1200" b="1">
                <a:solidFill>
                  <a:srgbClr val="4472C4"/>
                </a:solidFill>
                <a:latin typeface="微软雅黑" panose="020B0503020204020204" charset="-122"/>
                <a:ea typeface="微软雅黑" panose="020B0503020204020204" charset="-122"/>
              </a:rPr>
              <a:t>~25 </a:t>
            </a:r>
            <a:r>
              <a:rPr lang="zh-CN" sz="1200" b="1">
                <a:solidFill>
                  <a:srgbClr val="4472C4"/>
                </a:solidFill>
                <a:latin typeface="微软雅黑" panose="020B0503020204020204" charset="-122"/>
                <a:ea typeface="微软雅黑" panose="020B0503020204020204" charset="-122"/>
              </a:rPr>
              <a:t>天</a:t>
            </a: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交付；含</a:t>
            </a: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1 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次</a:t>
            </a: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PyQt5→Web 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重构（</a:t>
            </a: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05-27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）、</a:t>
            </a: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2 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次架构级重构（采购</a:t>
            </a: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06-27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、船务</a:t>
            </a: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08-01 JSON→SQLite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）；</a:t>
            </a: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110+ 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条代码迭代。</a:t>
            </a: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MSDS 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中英文双语生成内嵌于船务助手，不作独立交付项。</a:t>
            </a:r>
            <a:endParaRPr lang="zh-CN" sz="120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2" name="文本框 121" descr="{&quot;isTemplate&quot;:true,&quot;type&quot;:&quot;text&quot;}"/>
          <p:cNvSpPr txBox="1"/>
          <p:nvPr/>
        </p:nvSpPr>
        <p:spPr>
          <a:xfrm>
            <a:off x="533400" y="6362700"/>
            <a:ext cx="1285875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入职以来</a:t>
            </a:r>
            <a:r>
              <a:rPr lang="en-US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 AI </a:t>
            </a:r>
            <a:r>
              <a:rPr lang="zh-CN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工作复盘</a:t>
            </a:r>
            <a:endParaRPr lang="zh-CN" sz="1050">
              <a:solidFill>
                <a:srgbClr val="88888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3" name="文本框 122" descr="{&quot;isTemplate&quot;:true,&quot;type&quot;:&quot;text&quot;}"/>
          <p:cNvSpPr txBox="1"/>
          <p:nvPr/>
        </p:nvSpPr>
        <p:spPr>
          <a:xfrm>
            <a:off x="11229975" y="6362700"/>
            <a:ext cx="428625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04 / 13</a:t>
            </a:r>
            <a:endParaRPr lang="en-US" sz="1050">
              <a:solidFill>
                <a:srgbClr val="88888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24" name="" descr="&lt;Slide style={{ width:'1280px', height:'720px', position:'relative', background:'#FFFFFF', fontFamily:'微软雅黑' }}&gt;&#10;  &lt;Box style={{ position:'absolute', left:56, top:36, flexDirection:'row', alignItems:'center', gap:12 }}&gt;&#10;    &lt;Box style={{ width:8, height:34, background:'#4472C4' }} /&gt;&#10;    &lt;Text style={{ fontSize:30, fontWeight:'bold', color:'#052B7C' }}&gt;采购分析助手（ProcurementAnalysis）&lt;/Text&gt;&#10;  &lt;/Box&gt;&#10;&#10;  &lt;Box style={{ position:'absolute', left:56, top:140, right:56, flexDirection:'row', gap:36 }}&gt;&#10;    &lt;Box style={{ width:420, flexDirection:'column', gap:18 }}&gt;&#10;      &lt;Box style={{ background:'#F4F7FC', borderRadius:10, padding:'18px 22px' }}&gt;&#10;        &lt;Text style={{ fontSize:60, fontWeight:'bold', color:'#4472C4' }}&gt;15,227&lt;/Text&gt;&#10;        &lt;Text style={{ fontSize:16, color:'#1A1A1A', marginTop:4 }}&gt;条价格数据（基准价 5,673 + 报价 9,554）&lt;/Text&gt;&#10;      &lt;/Box&gt;&#10;      &lt;Box style={{ flexDirection:'row', gap:18 }}&gt;&#10;        &lt;Box style={{ flex:1, background:'#F4F7FC', borderRadius:10, padding:'16px 18px', alignItems:'center' }}&gt;&#10;          &lt;Text style={{ fontSize:44, fontWeight:'bold', color:'#052B7C' }}&gt;61&lt;/Text&gt;&#10;          &lt;Text style={{ fontSize:15, color:'#1A1A1A', marginTop:2 }}&gt;覆盖品类&lt;/Text&gt;&#10;        &lt;/Box&gt;&#10;        &lt;Box style={{ flex:1, background:'#F4F7FC', borderRadius:10, padding:'16px 18px', alignItems:'center' }}&gt;&#10;          &lt;Text style={{ fontSize:44, fontWeight:'bold', color:'#052B7C' }}&gt;7&lt;/Text&gt;&#10;          &lt;Text style={{ fontSize:15, color:'#1A1A1A', marginTop:2 }}&gt;功能模块&lt;/Text&gt;&#10;        &lt;/Box&gt;&#10;      &lt;/Box&gt;&#10;      &lt;Text style={{ fontSize:16, color:'#1A1A1A' }}&gt;交付周期 &lt;span style={{ fontWeight:'bold', color:'#4472C4' }}&gt;29 天&lt;/span&gt;（04-30 → 05-29 移交采购部）&lt;/Text&gt;&#10;    &lt;/Box&gt;&#10;&#10;    &lt;Box style={{ flex:1, flexDirection:'column', gap:14, justifyContent:'center' }}&gt;&#10;      &lt;Text style={{ fontSize:18, fontWeight:'bold', color:'#052B7C' }}&gt;痛点&lt;/Text&gt;&#10;      &lt;Text style={{ fontSize:17, color:'#1A1A1A', lineHeight:1.6 }}&gt;采购原料价格波动大、品类多（61 个），原靠人工盯盘 + Excel，价格异常往往事后才发现，供应商比价缺系统支撑。&lt;/Text&gt;&#10;      &lt;Text style={{ fontSize:18, fontWeight:'bold', color:'#052B7C', marginTop:6 }}&gt;价值&lt;/Text&gt;&#10;      &lt;Text style={{ fontSize:17, color:'#1A1A1A', lineHeight:1.6 }}&gt;15,227 条数据 + 7 模块把价格监控系统化——看板看趋势、预警推异常、供应商看板横向比价；6 月架构重构后查询更快更稳，让「拍脑袋比价」变「看数据决策」。&lt;/Text&gt;&#10;      &lt;Text style={{ fontSize:17, color:'#1A1A1A', marginTop:4 }}&gt;主要对象：&lt;span style={{ fontWeight:'bold' }}&gt;采购部&lt;/span&gt;&lt;/Text&gt;&#10;    &lt;/Box&gt;&#10;  &lt;/Box&gt;&#10;&#10;  &lt;Box style={{ position:'absolute', left:56, top:668, right:56, flexDirection:'row', justifyContent:'space-between' }}&gt;&#10;    &lt;Text style={{ fontSize:14, color:'#888' }}&gt;入职以来 AI 工作复盘&lt;/Text&gt;&#10;    &lt;Text style={{ fontSize:14, color:'#888' }}&gt;05 / 13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矩形 12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id="126" name="矩形 125"/>
          <p:cNvSpPr/>
          <p:nvPr/>
        </p:nvSpPr>
        <p:spPr>
          <a:xfrm>
            <a:off x="533400" y="352425"/>
            <a:ext cx="76200" cy="323850"/>
          </a:xfrm>
          <a:prstGeom prst="rect">
            <a:avLst/>
          </a:prstGeom>
          <a:solidFill>
            <a:srgbClr val="4472C4"/>
          </a:solidFill>
        </p:spPr>
        <p:txBody>
          <a:bodyPr/>
          <a:p/>
        </p:txBody>
      </p:sp>
      <p:sp>
        <p:nvSpPr>
          <p:cNvPr id="127" name="文本框 126" descr="{&quot;isTemplate&quot;:true,&quot;type&quot;:&quot;text&quot;}"/>
          <p:cNvSpPr txBox="1"/>
          <p:nvPr/>
        </p:nvSpPr>
        <p:spPr>
          <a:xfrm>
            <a:off x="723900" y="342900"/>
            <a:ext cx="5334000" cy="3429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采购分析助手（</a:t>
            </a:r>
            <a:r>
              <a:rPr lang="en-US" sz="225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ProcurementAnalysis</a:t>
            </a:r>
            <a:r>
              <a:rPr lang="zh-CN" sz="225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）</a:t>
            </a:r>
            <a:endParaRPr lang="zh-CN" sz="2250" b="1">
              <a:solidFill>
                <a:srgbClr val="052B7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8" name="圆角矩形 127"/>
          <p:cNvSpPr/>
          <p:nvPr/>
        </p:nvSpPr>
        <p:spPr>
          <a:xfrm>
            <a:off x="533400" y="1333500"/>
            <a:ext cx="4000500" cy="1257300"/>
          </a:xfrm>
          <a:prstGeom prst="roundRect">
            <a:avLst>
              <a:gd name="adj" fmla="val 7576"/>
            </a:avLst>
          </a:prstGeom>
          <a:solidFill>
            <a:srgbClr val="F4F7FC"/>
          </a:solidFill>
        </p:spPr>
        <p:txBody>
          <a:bodyPr/>
          <a:p/>
        </p:txBody>
      </p:sp>
      <p:sp>
        <p:nvSpPr>
          <p:cNvPr id="129" name="文本框 128" descr="{&quot;isTemplate&quot;:true,&quot;type&quot;:&quot;text&quot;}"/>
          <p:cNvSpPr txBox="1"/>
          <p:nvPr/>
        </p:nvSpPr>
        <p:spPr>
          <a:xfrm>
            <a:off x="742950" y="1504950"/>
            <a:ext cx="3581400" cy="6858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500" b="1">
                <a:solidFill>
                  <a:srgbClr val="4472C4"/>
                </a:solidFill>
                <a:latin typeface="微软雅黑" panose="020B0503020204020204" charset="-122"/>
                <a:ea typeface="微软雅黑" panose="020B0503020204020204" charset="-122"/>
              </a:rPr>
              <a:t>15,227</a:t>
            </a:r>
            <a:endParaRPr lang="en-US" sz="4500" b="1">
              <a:solidFill>
                <a:srgbClr val="4472C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0" name="文本框 129" descr="{&quot;isTemplate&quot;:true,&quot;type&quot;:&quot;text&quot;}"/>
          <p:cNvSpPr txBox="1"/>
          <p:nvPr/>
        </p:nvSpPr>
        <p:spPr>
          <a:xfrm>
            <a:off x="742950" y="2228850"/>
            <a:ext cx="3581400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条价格数据（基准价</a:t>
            </a: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5,673 + 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报价</a:t>
            </a: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9,554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）</a:t>
            </a:r>
            <a:endParaRPr lang="zh-CN" sz="120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1" name="圆角矩形 130"/>
          <p:cNvSpPr/>
          <p:nvPr/>
        </p:nvSpPr>
        <p:spPr>
          <a:xfrm>
            <a:off x="533400" y="2762250"/>
            <a:ext cx="1914525" cy="1000125"/>
          </a:xfrm>
          <a:prstGeom prst="roundRect">
            <a:avLst>
              <a:gd name="adj" fmla="val 9524"/>
            </a:avLst>
          </a:prstGeom>
          <a:solidFill>
            <a:srgbClr val="F4F7FC"/>
          </a:solidFill>
        </p:spPr>
        <p:txBody>
          <a:bodyPr/>
          <a:p/>
        </p:txBody>
      </p:sp>
      <p:sp>
        <p:nvSpPr>
          <p:cNvPr id="132" name="文本框 131" descr="{&quot;isTemplate&quot;:true,&quot;type&quot;:&quot;text&quot;}"/>
          <p:cNvSpPr txBox="1"/>
          <p:nvPr/>
        </p:nvSpPr>
        <p:spPr>
          <a:xfrm>
            <a:off x="1219200" y="2914650"/>
            <a:ext cx="542925" cy="5048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30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61</a:t>
            </a:r>
            <a:endParaRPr lang="en-US" sz="3300" b="1">
              <a:solidFill>
                <a:srgbClr val="052B7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3" name="文本框 132" descr="{&quot;isTemplate&quot;:true,&quot;type&quot;:&quot;text&quot;}"/>
          <p:cNvSpPr txBox="1"/>
          <p:nvPr/>
        </p:nvSpPr>
        <p:spPr>
          <a:xfrm>
            <a:off x="1209675" y="3438525"/>
            <a:ext cx="571500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覆盖品类</a:t>
            </a:r>
            <a:endParaRPr lang="zh-CN" sz="1125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4" name="圆角矩形 133"/>
          <p:cNvSpPr/>
          <p:nvPr/>
        </p:nvSpPr>
        <p:spPr>
          <a:xfrm>
            <a:off x="2619375" y="2762250"/>
            <a:ext cx="1914525" cy="1000125"/>
          </a:xfrm>
          <a:prstGeom prst="roundRect">
            <a:avLst>
              <a:gd name="adj" fmla="val 9524"/>
            </a:avLst>
          </a:prstGeom>
          <a:solidFill>
            <a:srgbClr val="F4F7FC"/>
          </a:solidFill>
        </p:spPr>
        <p:txBody>
          <a:bodyPr/>
          <a:p/>
        </p:txBody>
      </p:sp>
      <p:sp>
        <p:nvSpPr>
          <p:cNvPr id="135" name="文本框 134" descr="{&quot;isTemplate&quot;:true,&quot;type&quot;:&quot;text&quot;}"/>
          <p:cNvSpPr txBox="1"/>
          <p:nvPr/>
        </p:nvSpPr>
        <p:spPr>
          <a:xfrm>
            <a:off x="3438525" y="2914650"/>
            <a:ext cx="276225" cy="5048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30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7</a:t>
            </a:r>
            <a:endParaRPr lang="en-US" sz="3300" b="1">
              <a:solidFill>
                <a:srgbClr val="052B7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6" name="文本框 135" descr="{&quot;isTemplate&quot;:true,&quot;type&quot;:&quot;text&quot;}"/>
          <p:cNvSpPr txBox="1"/>
          <p:nvPr/>
        </p:nvSpPr>
        <p:spPr>
          <a:xfrm>
            <a:off x="3295650" y="3438525"/>
            <a:ext cx="571500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功能模块</a:t>
            </a:r>
            <a:endParaRPr lang="zh-CN" sz="1125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7" name="文本框 136" descr="{&quot;isTemplate&quot;:true,&quot;type&quot;:&quot;text&quot;}"/>
          <p:cNvSpPr txBox="1"/>
          <p:nvPr/>
        </p:nvSpPr>
        <p:spPr>
          <a:xfrm>
            <a:off x="533400" y="3933825"/>
            <a:ext cx="4000500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交付周期</a:t>
            </a: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lang="en-US" sz="1200" b="1">
                <a:solidFill>
                  <a:srgbClr val="4472C4"/>
                </a:solidFill>
                <a:latin typeface="微软雅黑" panose="020B0503020204020204" charset="-122"/>
                <a:ea typeface="微软雅黑" panose="020B0503020204020204" charset="-122"/>
              </a:rPr>
              <a:t>29 </a:t>
            </a:r>
            <a:r>
              <a:rPr lang="zh-CN" sz="1200" b="1">
                <a:solidFill>
                  <a:srgbClr val="4472C4"/>
                </a:solidFill>
                <a:latin typeface="微软雅黑" panose="020B0503020204020204" charset="-122"/>
                <a:ea typeface="微软雅黑" panose="020B0503020204020204" charset="-122"/>
              </a:rPr>
              <a:t>天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（</a:t>
            </a: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04-30 → 05-29 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移交采购部）</a:t>
            </a:r>
            <a:endParaRPr lang="zh-CN" sz="120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8" name="文本框 137" descr="{&quot;isTemplate&quot;:true,&quot;type&quot;:&quot;text&quot;}"/>
          <p:cNvSpPr txBox="1"/>
          <p:nvPr/>
        </p:nvSpPr>
        <p:spPr>
          <a:xfrm>
            <a:off x="4876800" y="1476375"/>
            <a:ext cx="6781800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痛点</a:t>
            </a:r>
            <a:endParaRPr lang="zh-CN" sz="1350" b="1">
              <a:solidFill>
                <a:srgbClr val="052B7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9" name="文本框 138" descr="{&quot;isTemplate&quot;:true,&quot;type&quot;:&quot;text&quot;}"/>
          <p:cNvSpPr txBox="1"/>
          <p:nvPr/>
        </p:nvSpPr>
        <p:spPr>
          <a:xfrm>
            <a:off x="4876800" y="1819275"/>
            <a:ext cx="6781800" cy="6286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采购原料价格波动大、品类多（</a:t>
            </a:r>
            <a:r>
              <a:rPr lang="en-US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61 </a:t>
            </a:r>
            <a:r>
              <a:rPr lang="zh-CN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个），原靠人工盯盘</a:t>
            </a:r>
            <a:r>
              <a:rPr lang="en-US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+ Excel</a:t>
            </a:r>
            <a:r>
              <a:rPr lang="zh-CN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，价格异常往往事后才发现，供应商比价缺系统支撑。</a:t>
            </a:r>
            <a:endParaRPr lang="zh-CN" sz="1275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0" name="文本框 139" descr="{&quot;isTemplate&quot;:true,&quot;type&quot;:&quot;text&quot;}"/>
          <p:cNvSpPr txBox="1"/>
          <p:nvPr/>
        </p:nvSpPr>
        <p:spPr>
          <a:xfrm>
            <a:off x="4876800" y="2638425"/>
            <a:ext cx="6781800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价值</a:t>
            </a:r>
            <a:endParaRPr lang="zh-CN" sz="1350" b="1">
              <a:solidFill>
                <a:srgbClr val="052B7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1" name="文本框 140" descr="{&quot;isTemplate&quot;:true,&quot;type&quot;:&quot;text&quot;}"/>
          <p:cNvSpPr txBox="1"/>
          <p:nvPr/>
        </p:nvSpPr>
        <p:spPr>
          <a:xfrm>
            <a:off x="4876800" y="2981325"/>
            <a:ext cx="6781800" cy="6286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15,227 </a:t>
            </a:r>
            <a:r>
              <a:rPr lang="zh-CN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条数据</a:t>
            </a:r>
            <a:r>
              <a:rPr lang="en-US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+ 7 </a:t>
            </a:r>
            <a:r>
              <a:rPr lang="zh-CN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模块把价格监控系统化——看板看趋势、预警推异常、供应商看板横向比价；</a:t>
            </a:r>
            <a:r>
              <a:rPr lang="en-US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6 </a:t>
            </a:r>
            <a:r>
              <a:rPr lang="zh-CN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月架构重构后查询更快更稳，让「拍脑袋比价」变「看数据决策」。</a:t>
            </a:r>
            <a:endParaRPr lang="zh-CN" sz="1275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2" name="文本框 141" descr="{&quot;isTemplate&quot;:true,&quot;type&quot;:&quot;text&quot;}"/>
          <p:cNvSpPr txBox="1"/>
          <p:nvPr/>
        </p:nvSpPr>
        <p:spPr>
          <a:xfrm>
            <a:off x="4876800" y="3781425"/>
            <a:ext cx="6781800" cy="2000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主要对象：</a:t>
            </a:r>
            <a:r>
              <a:rPr lang="zh-CN" sz="1275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采购部</a:t>
            </a:r>
            <a:endParaRPr lang="zh-CN" sz="1275" b="1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3" name="文本框 142" descr="{&quot;isTemplate&quot;:true,&quot;type&quot;:&quot;text&quot;}"/>
          <p:cNvSpPr txBox="1"/>
          <p:nvPr/>
        </p:nvSpPr>
        <p:spPr>
          <a:xfrm>
            <a:off x="533400" y="6362700"/>
            <a:ext cx="1285875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入职以来</a:t>
            </a:r>
            <a:r>
              <a:rPr lang="en-US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 AI </a:t>
            </a:r>
            <a:r>
              <a:rPr lang="zh-CN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工作复盘</a:t>
            </a:r>
            <a:endParaRPr lang="zh-CN" sz="1050">
              <a:solidFill>
                <a:srgbClr val="88888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4" name="文本框 143" descr="{&quot;isTemplate&quot;:true,&quot;type&quot;:&quot;text&quot;}"/>
          <p:cNvSpPr txBox="1"/>
          <p:nvPr/>
        </p:nvSpPr>
        <p:spPr>
          <a:xfrm>
            <a:off x="11229975" y="6362700"/>
            <a:ext cx="428625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05 / 13</a:t>
            </a:r>
            <a:endParaRPr lang="en-US" sz="1050">
              <a:solidFill>
                <a:srgbClr val="88888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45" name="" descr="&lt;Slide style={{ width:'1280px', height:'720px', position:'relative', background:'#FFFFFF', fontFamily:'微软雅黑' }}&gt;&#10;  &lt;Box style={{ position:'absolute', left:56, top:36, flexDirection:'row', alignItems:'center', gap:12 }}&gt;&#10;    &lt;Box style={{ width:8, height:34, background:'#4472C4' }} /&gt;&#10;    &lt;Text style={{ fontSize:30, fontWeight:'bold', color:'#052B7C' }}&gt;船务 T/T 协议自动化（shipping-helper）&lt;/Text&gt;&#10;  &lt;/Box&gt;&#10;&#10;  &lt;Box style={{ position:'absolute', left:56, top:140, right:56, flexDirection:'row', gap:36 }}&gt;&#10;    &lt;Box style={{ width:400, flexDirection:'column', gap:14 }}&gt;&#10;      {[['26 天','首版交付周期（05-28 → 06-22）'],['4 类','支持单证：Booking / LOI / MSDS / 报关'],['389','HS 编码基础数据'],['13+2+3','桶型 / 托盘 / 运输模式'],['95%+','当前进度（07-24 完成培训）']].map((c, i) =&gt; (&#10;        &lt;Box key={i} style={{ flexDirection:'row', alignItems:'center', gap:14, background:'#F4F7FC', borderRadius:10, padding:'12px 18px' }}&gt;&#10;          &lt;Text style={{ fontSize:30, fontWeight:'bold', color:'#4472C4', minWidth:90 }}&gt;{c[0]}&lt;/Text&gt;&#10;          &lt;Text style={{ fontSize:15, color:'#1A1A1A' }}&gt;{c[1]}&lt;/Text&gt;&#10;        &lt;/Box&gt;&#10;      ))}&#10;    &lt;/Box&gt;&#10;&#10;    &lt;Box style={{ flex:1, flexDirection:'column', gap:14, justifyContent:'center' }}&gt;&#10;      &lt;Text style={{ fontSize:18, fontWeight:'bold', color:'#052B7C' }}&gt;痛点&lt;/Text&gt;&#10;      &lt;Text style={{ fontSize:17, color:'#1A1A1A', lineHeight:1.6 }}&gt;船务 TT 协议涉及订舱单、保函、MSDS、报关资料多类单证，原靠人工逐项填写，易错、耗时长；HS 编码归类、包装计算尤其易算错，错了即退单 / 延误。&lt;/Text&gt;&#10;      &lt;Text style={{ fontSize:18, fontWeight:'bold', color:'#052B7C', marginTop:6 }}&gt;价值&lt;/Text&gt;&#10;      &lt;Text style={{ fontSize:17, color:'#1A1A1A', lineHeight:1.6 }}&gt;把 14 份梳理文档沉淀的流程变成自动化工具——录入基础数据即生成 4 类单证、自动算包装与 HS 编码；7 月深化后 PI 解析接入 DeepSeek、报关资料自动化，把「人填」变「系统出」。MSDS 双语生成内嵌，免翻译免乱码。&lt;/Text&gt;&#10;      &lt;Text style={{ fontSize:17, color:'#1A1A1A', marginTop:4 }}&gt;主要对象：&lt;span style={{ fontWeight:'bold' }}&gt;船务部&lt;/span&gt;（万凤、潘慧兰）&lt;/Text&gt;&#10;    &lt;/Box&gt;&#10;  &lt;/Box&gt;&#10;&#10;  &lt;Box style={{ position:'absolute', left:56, top:668, right:56, flexDirection:'row', justifyContent:'space-between' }}&gt;&#10;    &lt;Text style={{ fontSize:14, color:'#888' }}&gt;入职以来 AI 工作复盘&lt;/Text&gt;&#10;    &lt;Text style={{ fontSize:14, color:'#888' }}&gt;06 / 13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矩形 145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id="147" name="矩形 146"/>
          <p:cNvSpPr/>
          <p:nvPr/>
        </p:nvSpPr>
        <p:spPr>
          <a:xfrm>
            <a:off x="533400" y="352425"/>
            <a:ext cx="76200" cy="323850"/>
          </a:xfrm>
          <a:prstGeom prst="rect">
            <a:avLst/>
          </a:prstGeom>
          <a:solidFill>
            <a:srgbClr val="4472C4"/>
          </a:solidFill>
        </p:spPr>
        <p:txBody>
          <a:bodyPr/>
          <a:p/>
        </p:txBody>
      </p:sp>
      <p:sp>
        <p:nvSpPr>
          <p:cNvPr id="148" name="文本框 147" descr="{&quot;isTemplate&quot;:true,&quot;type&quot;:&quot;text&quot;}"/>
          <p:cNvSpPr txBox="1"/>
          <p:nvPr/>
        </p:nvSpPr>
        <p:spPr>
          <a:xfrm>
            <a:off x="723900" y="342900"/>
            <a:ext cx="5514975" cy="3429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船务</a:t>
            </a:r>
            <a:r>
              <a:rPr lang="en-US" sz="225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 T/T </a:t>
            </a:r>
            <a:r>
              <a:rPr lang="zh-CN" sz="225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协议自动化（</a:t>
            </a:r>
            <a:r>
              <a:rPr lang="en-US" sz="225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shipping-helper</a:t>
            </a:r>
            <a:r>
              <a:rPr lang="zh-CN" sz="225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）</a:t>
            </a:r>
            <a:endParaRPr lang="zh-CN" sz="2250" b="1">
              <a:solidFill>
                <a:srgbClr val="052B7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9" name="圆角矩形 148"/>
          <p:cNvSpPr/>
          <p:nvPr/>
        </p:nvSpPr>
        <p:spPr>
          <a:xfrm>
            <a:off x="533400" y="1333500"/>
            <a:ext cx="3810000" cy="571500"/>
          </a:xfrm>
          <a:prstGeom prst="roundRect">
            <a:avLst>
              <a:gd name="adj" fmla="val 16667"/>
            </a:avLst>
          </a:prstGeom>
          <a:solidFill>
            <a:srgbClr val="F4F7FC"/>
          </a:solidFill>
        </p:spPr>
        <p:txBody>
          <a:bodyPr/>
          <a:p/>
        </p:txBody>
      </p:sp>
      <p:sp>
        <p:nvSpPr>
          <p:cNvPr id="150" name="文本框 149" descr="{&quot;isTemplate&quot;:true,&quot;type&quot;:&quot;text&quot;}"/>
          <p:cNvSpPr txBox="1"/>
          <p:nvPr/>
        </p:nvSpPr>
        <p:spPr>
          <a:xfrm>
            <a:off x="704850" y="1447800"/>
            <a:ext cx="857250" cy="3429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4472C4"/>
                </a:solidFill>
                <a:latin typeface="微软雅黑" panose="020B0503020204020204" charset="-122"/>
                <a:ea typeface="微软雅黑" panose="020B0503020204020204" charset="-122"/>
              </a:rPr>
              <a:t>26 </a:t>
            </a:r>
            <a:r>
              <a:rPr lang="zh-CN" sz="2250" b="1">
                <a:solidFill>
                  <a:srgbClr val="4472C4"/>
                </a:solidFill>
                <a:latin typeface="微软雅黑" panose="020B0503020204020204" charset="-122"/>
                <a:ea typeface="微软雅黑" panose="020B0503020204020204" charset="-122"/>
              </a:rPr>
              <a:t>天</a:t>
            </a:r>
            <a:endParaRPr lang="zh-CN" sz="2250" b="1">
              <a:solidFill>
                <a:srgbClr val="4472C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1" name="文本框 150" descr="{&quot;isTemplate&quot;:true,&quot;type&quot;:&quot;text&quot;}"/>
          <p:cNvSpPr txBox="1"/>
          <p:nvPr/>
        </p:nvSpPr>
        <p:spPr>
          <a:xfrm>
            <a:off x="1695450" y="1533525"/>
            <a:ext cx="2105025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首版交付周期（</a:t>
            </a:r>
            <a:r>
              <a:rPr lang="en-US" sz="112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05-28 → 06-22</a:t>
            </a:r>
            <a:r>
              <a:rPr lang="zh-CN" sz="112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）</a:t>
            </a:r>
            <a:endParaRPr lang="zh-CN" sz="1125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2" name="圆角矩形 151"/>
          <p:cNvSpPr/>
          <p:nvPr/>
        </p:nvSpPr>
        <p:spPr>
          <a:xfrm>
            <a:off x="533400" y="2038350"/>
            <a:ext cx="3810000" cy="571500"/>
          </a:xfrm>
          <a:prstGeom prst="roundRect">
            <a:avLst>
              <a:gd name="adj" fmla="val 16667"/>
            </a:avLst>
          </a:prstGeom>
          <a:solidFill>
            <a:srgbClr val="F4F7FC"/>
          </a:solidFill>
        </p:spPr>
        <p:txBody>
          <a:bodyPr/>
          <a:p/>
        </p:txBody>
      </p:sp>
      <p:sp>
        <p:nvSpPr>
          <p:cNvPr id="153" name="文本框 152" descr="{&quot;isTemplate&quot;:true,&quot;type&quot;:&quot;text&quot;}"/>
          <p:cNvSpPr txBox="1"/>
          <p:nvPr/>
        </p:nvSpPr>
        <p:spPr>
          <a:xfrm>
            <a:off x="704850" y="2152650"/>
            <a:ext cx="857250" cy="3429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4472C4"/>
                </a:solidFill>
                <a:latin typeface="微软雅黑" panose="020B0503020204020204" charset="-122"/>
                <a:ea typeface="微软雅黑" panose="020B0503020204020204" charset="-122"/>
              </a:rPr>
              <a:t>4 </a:t>
            </a:r>
            <a:r>
              <a:rPr lang="zh-CN" sz="2250" b="1">
                <a:solidFill>
                  <a:srgbClr val="4472C4"/>
                </a:solidFill>
                <a:latin typeface="微软雅黑" panose="020B0503020204020204" charset="-122"/>
                <a:ea typeface="微软雅黑" panose="020B0503020204020204" charset="-122"/>
              </a:rPr>
              <a:t>类</a:t>
            </a:r>
            <a:endParaRPr lang="zh-CN" sz="2250" b="1">
              <a:solidFill>
                <a:srgbClr val="4472C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4" name="文本框 153" descr="{&quot;isTemplate&quot;:true,&quot;type&quot;:&quot;text&quot;}"/>
          <p:cNvSpPr txBox="1"/>
          <p:nvPr/>
        </p:nvSpPr>
        <p:spPr>
          <a:xfrm>
            <a:off x="1695450" y="2238375"/>
            <a:ext cx="2476500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支持单证：</a:t>
            </a:r>
            <a:r>
              <a:rPr lang="en-US" sz="112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Booking / LOI / MSDS / </a:t>
            </a:r>
            <a:r>
              <a:rPr lang="zh-CN" sz="112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报关</a:t>
            </a:r>
            <a:endParaRPr lang="zh-CN" sz="1125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5" name="圆角矩形 154"/>
          <p:cNvSpPr/>
          <p:nvPr/>
        </p:nvSpPr>
        <p:spPr>
          <a:xfrm>
            <a:off x="533400" y="2743200"/>
            <a:ext cx="3810000" cy="571500"/>
          </a:xfrm>
          <a:prstGeom prst="roundRect">
            <a:avLst>
              <a:gd name="adj" fmla="val 16667"/>
            </a:avLst>
          </a:prstGeom>
          <a:solidFill>
            <a:srgbClr val="F4F7FC"/>
          </a:solidFill>
        </p:spPr>
        <p:txBody>
          <a:bodyPr/>
          <a:p/>
        </p:txBody>
      </p:sp>
      <p:sp>
        <p:nvSpPr>
          <p:cNvPr id="156" name="文本框 155" descr="{&quot;isTemplate&quot;:true,&quot;type&quot;:&quot;text&quot;}"/>
          <p:cNvSpPr txBox="1"/>
          <p:nvPr/>
        </p:nvSpPr>
        <p:spPr>
          <a:xfrm>
            <a:off x="704850" y="2857500"/>
            <a:ext cx="857250" cy="3429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4472C4"/>
                </a:solidFill>
                <a:latin typeface="微软雅黑" panose="020B0503020204020204" charset="-122"/>
                <a:ea typeface="微软雅黑" panose="020B0503020204020204" charset="-122"/>
              </a:rPr>
              <a:t>389</a:t>
            </a:r>
            <a:endParaRPr lang="en-US" sz="2250" b="1">
              <a:solidFill>
                <a:srgbClr val="4472C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7" name="文本框 156" descr="{&quot;isTemplate&quot;:true,&quot;type&quot;:&quot;text&quot;}"/>
          <p:cNvSpPr txBox="1"/>
          <p:nvPr/>
        </p:nvSpPr>
        <p:spPr>
          <a:xfrm>
            <a:off x="1695450" y="2943225"/>
            <a:ext cx="1085850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HS </a:t>
            </a:r>
            <a:r>
              <a:rPr lang="zh-CN" sz="112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编码基础数据</a:t>
            </a:r>
            <a:endParaRPr lang="zh-CN" sz="1125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8" name="圆角矩形 157"/>
          <p:cNvSpPr/>
          <p:nvPr/>
        </p:nvSpPr>
        <p:spPr>
          <a:xfrm>
            <a:off x="533400" y="3448050"/>
            <a:ext cx="3810000" cy="571500"/>
          </a:xfrm>
          <a:prstGeom prst="roundRect">
            <a:avLst>
              <a:gd name="adj" fmla="val 16667"/>
            </a:avLst>
          </a:prstGeom>
          <a:solidFill>
            <a:srgbClr val="F4F7FC"/>
          </a:solidFill>
        </p:spPr>
        <p:txBody>
          <a:bodyPr/>
          <a:p/>
        </p:txBody>
      </p:sp>
      <p:sp>
        <p:nvSpPr>
          <p:cNvPr id="159" name="文本框 158" descr="{&quot;isTemplate&quot;:true,&quot;type&quot;:&quot;text&quot;}"/>
          <p:cNvSpPr txBox="1"/>
          <p:nvPr/>
        </p:nvSpPr>
        <p:spPr>
          <a:xfrm>
            <a:off x="704850" y="3562350"/>
            <a:ext cx="1200150" cy="3429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4472C4"/>
                </a:solidFill>
                <a:latin typeface="微软雅黑" panose="020B0503020204020204" charset="-122"/>
                <a:ea typeface="微软雅黑" panose="020B0503020204020204" charset="-122"/>
              </a:rPr>
              <a:t>13+2+3</a:t>
            </a:r>
            <a:endParaRPr lang="en-US" sz="2250" b="1">
              <a:solidFill>
                <a:srgbClr val="4472C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0" name="文本框 159" descr="{&quot;isTemplate&quot;:true,&quot;type&quot;:&quot;text&quot;}"/>
          <p:cNvSpPr txBox="1"/>
          <p:nvPr/>
        </p:nvSpPr>
        <p:spPr>
          <a:xfrm>
            <a:off x="2038350" y="3648075"/>
            <a:ext cx="1438275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桶型</a:t>
            </a:r>
            <a:r>
              <a:rPr lang="en-US" sz="112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lang="zh-CN" sz="112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托盘</a:t>
            </a:r>
            <a:r>
              <a:rPr lang="en-US" sz="112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lang="zh-CN" sz="112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运输模式</a:t>
            </a:r>
            <a:endParaRPr lang="zh-CN" sz="1125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1" name="圆角矩形 160"/>
          <p:cNvSpPr/>
          <p:nvPr/>
        </p:nvSpPr>
        <p:spPr>
          <a:xfrm>
            <a:off x="533400" y="4152900"/>
            <a:ext cx="3810000" cy="571500"/>
          </a:xfrm>
          <a:prstGeom prst="roundRect">
            <a:avLst>
              <a:gd name="adj" fmla="val 16667"/>
            </a:avLst>
          </a:prstGeom>
          <a:solidFill>
            <a:srgbClr val="F4F7FC"/>
          </a:solidFill>
        </p:spPr>
        <p:txBody>
          <a:bodyPr/>
          <a:p/>
        </p:txBody>
      </p:sp>
      <p:sp>
        <p:nvSpPr>
          <p:cNvPr id="162" name="文本框 161" descr="{&quot;isTemplate&quot;:true,&quot;type&quot;:&quot;text&quot;}"/>
          <p:cNvSpPr txBox="1"/>
          <p:nvPr/>
        </p:nvSpPr>
        <p:spPr>
          <a:xfrm>
            <a:off x="704850" y="4267200"/>
            <a:ext cx="942975" cy="3429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4472C4"/>
                </a:solidFill>
                <a:latin typeface="微软雅黑" panose="020B0503020204020204" charset="-122"/>
                <a:ea typeface="微软雅黑" panose="020B0503020204020204" charset="-122"/>
              </a:rPr>
              <a:t>95%+</a:t>
            </a:r>
            <a:endParaRPr lang="en-US" sz="2250" b="1">
              <a:solidFill>
                <a:srgbClr val="4472C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3" name="文本框 162" descr="{&quot;isTemplate&quot;:true,&quot;type&quot;:&quot;text&quot;}"/>
          <p:cNvSpPr txBox="1"/>
          <p:nvPr/>
        </p:nvSpPr>
        <p:spPr>
          <a:xfrm>
            <a:off x="1781175" y="4352925"/>
            <a:ext cx="1838325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当前进度（</a:t>
            </a:r>
            <a:r>
              <a:rPr lang="en-US" sz="112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07-24 </a:t>
            </a:r>
            <a:r>
              <a:rPr lang="zh-CN" sz="112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完成培训）</a:t>
            </a:r>
            <a:endParaRPr lang="zh-CN" sz="1125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4" name="文本框 163" descr="{&quot;isTemplate&quot;:true,&quot;type&quot;:&quot;text&quot;}"/>
          <p:cNvSpPr txBox="1"/>
          <p:nvPr/>
        </p:nvSpPr>
        <p:spPr>
          <a:xfrm>
            <a:off x="4686300" y="1628775"/>
            <a:ext cx="6972300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痛点</a:t>
            </a:r>
            <a:endParaRPr lang="zh-CN" sz="1350" b="1">
              <a:solidFill>
                <a:srgbClr val="052B7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5" name="文本框 164" descr="{&quot;isTemplate&quot;:true,&quot;type&quot;:&quot;text&quot;}"/>
          <p:cNvSpPr txBox="1"/>
          <p:nvPr/>
        </p:nvSpPr>
        <p:spPr>
          <a:xfrm>
            <a:off x="4686300" y="1971675"/>
            <a:ext cx="6972300" cy="6286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船务</a:t>
            </a:r>
            <a:r>
              <a:rPr lang="en-US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TT </a:t>
            </a:r>
            <a:r>
              <a:rPr lang="zh-CN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协议涉及订舱单、保函、</a:t>
            </a:r>
            <a:r>
              <a:rPr lang="en-US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MSDS</a:t>
            </a:r>
            <a:r>
              <a:rPr lang="zh-CN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、报关资料多类单证，原靠人工逐项填写，易错、耗时长；</a:t>
            </a:r>
            <a:r>
              <a:rPr lang="en-US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HS </a:t>
            </a:r>
            <a:r>
              <a:rPr lang="zh-CN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编码归类、包装计算尤其易算错，错了即退单</a:t>
            </a:r>
            <a:r>
              <a:rPr lang="en-US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lang="zh-CN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延误。</a:t>
            </a:r>
            <a:endParaRPr lang="zh-CN" sz="1275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6" name="文本框 165" descr="{&quot;isTemplate&quot;:true,&quot;type&quot;:&quot;text&quot;}"/>
          <p:cNvSpPr txBox="1"/>
          <p:nvPr/>
        </p:nvSpPr>
        <p:spPr>
          <a:xfrm>
            <a:off x="4686300" y="2790825"/>
            <a:ext cx="6972300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价值</a:t>
            </a:r>
            <a:endParaRPr lang="zh-CN" sz="1350" b="1">
              <a:solidFill>
                <a:srgbClr val="052B7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7" name="文本框 166" descr="{&quot;isTemplate&quot;:true,&quot;type&quot;:&quot;text&quot;}"/>
          <p:cNvSpPr txBox="1"/>
          <p:nvPr/>
        </p:nvSpPr>
        <p:spPr>
          <a:xfrm>
            <a:off x="4686300" y="3133725"/>
            <a:ext cx="6972300" cy="9334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把</a:t>
            </a:r>
            <a:r>
              <a:rPr lang="en-US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14 </a:t>
            </a:r>
            <a:r>
              <a:rPr lang="zh-CN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份梳理文档沉淀的流程变成自动化工具——录入基础数据即生成</a:t>
            </a:r>
            <a:r>
              <a:rPr lang="en-US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4 </a:t>
            </a:r>
            <a:r>
              <a:rPr lang="zh-CN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类单证、自动算包装与</a:t>
            </a:r>
            <a:r>
              <a:rPr lang="en-US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HS </a:t>
            </a:r>
            <a:r>
              <a:rPr lang="zh-CN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编码；</a:t>
            </a:r>
            <a:r>
              <a:rPr lang="en-US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7 </a:t>
            </a:r>
            <a:r>
              <a:rPr lang="zh-CN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月深化后</a:t>
            </a:r>
            <a:r>
              <a:rPr lang="en-US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PI </a:t>
            </a:r>
            <a:r>
              <a:rPr lang="zh-CN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解析接入</a:t>
            </a:r>
            <a:r>
              <a:rPr lang="en-US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DeepSeek</a:t>
            </a:r>
            <a:r>
              <a:rPr lang="zh-CN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、报关资料自动化，把「人填」变「系统出」。</a:t>
            </a:r>
            <a:r>
              <a:rPr lang="en-US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MSDS </a:t>
            </a:r>
            <a:r>
              <a:rPr lang="zh-CN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双语生成内嵌，免翻译免乱码。</a:t>
            </a:r>
            <a:endParaRPr lang="zh-CN" sz="1275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8" name="文本框 167" descr="{&quot;isTemplate&quot;:true,&quot;type&quot;:&quot;text&quot;}"/>
          <p:cNvSpPr txBox="1"/>
          <p:nvPr/>
        </p:nvSpPr>
        <p:spPr>
          <a:xfrm>
            <a:off x="4686300" y="4238625"/>
            <a:ext cx="6972300" cy="2000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主要对象：</a:t>
            </a:r>
            <a:r>
              <a:rPr lang="zh-CN" sz="1275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船务部</a:t>
            </a:r>
            <a:r>
              <a:rPr lang="zh-CN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（万凤、潘慧兰）</a:t>
            </a:r>
            <a:endParaRPr lang="zh-CN" sz="1275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9" name="文本框 168" descr="{&quot;isTemplate&quot;:true,&quot;type&quot;:&quot;text&quot;}"/>
          <p:cNvSpPr txBox="1"/>
          <p:nvPr/>
        </p:nvSpPr>
        <p:spPr>
          <a:xfrm>
            <a:off x="533400" y="6362700"/>
            <a:ext cx="1285875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入职以来</a:t>
            </a:r>
            <a:r>
              <a:rPr lang="en-US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 AI </a:t>
            </a:r>
            <a:r>
              <a:rPr lang="zh-CN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工作复盘</a:t>
            </a:r>
            <a:endParaRPr lang="zh-CN" sz="1050">
              <a:solidFill>
                <a:srgbClr val="88888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0" name="文本框 169" descr="{&quot;isTemplate&quot;:true,&quot;type&quot;:&quot;text&quot;}"/>
          <p:cNvSpPr txBox="1"/>
          <p:nvPr/>
        </p:nvSpPr>
        <p:spPr>
          <a:xfrm>
            <a:off x="11229975" y="6362700"/>
            <a:ext cx="428625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06 / 13</a:t>
            </a:r>
            <a:endParaRPr lang="en-US" sz="1050">
              <a:solidFill>
                <a:srgbClr val="88888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71" name="" descr="&lt;Slide style={{ width:'1280px', height:'720px', position:'relative', background:'#FFFFFF', fontFamily:'微软雅黑' }}&gt;&#10;  &lt;Box style={{ position:'absolute', left:56, top:36, flexDirection:'row', alignItems:'center', gap:12 }}&gt;&#10;    &lt;Box style={{ width:8, height:34, background:'#4472C4' }} /&gt;&#10;    &lt;Text style={{ fontSize:30, fontWeight:'bold', color:'#052B7C' }}&gt;数据脱敏 / 对账单 / Tax_check&lt;/Text&gt;&#10;  &lt;/Box&gt;&#10;&#10;  &lt;Box style={{ position:'absolute', left:56, top:130, right:56, flexDirection:'row', gap:22 }}&gt;&#10;    &lt;Box style={{ flex:1, background:'#F4F7FC', borderRadius:12, padding:22, flexDirection:'column', gap:10 }}&gt;&#10;      &lt;Text style={{ fontSize:22, fontWeight:'bold', color:'#052B7C' }}&gt;数据脱敏 Data_masking&lt;/Text&gt;&#10;      &lt;Text style={{ fontSize:16, color:'#1A1A1A', lineHeight:1.6 }}&gt;· 12 种脱敏方法（姓名/身份证/手机/银行卡…）&lt;/Text&gt;&#10;      &lt;Text style={{ fontSize:16, color:'#1A1A1A', lineHeight:1.6 }}&gt;· .exe 一键打包，支持 4 种编码&lt;/Text&gt;&#10;      &lt;Text style={{ fontSize:16, color:'#1A1A1A', lineHeight:1.6 }}&gt;· 交付 07-28 财务部&lt;/Text&gt;&#10;      &lt;Box style={{ marginTop:6, background:'#FCE4D6', borderRadius:6, padding:'6px 12px', alignSelf:'flex-start' }}&gt;&lt;Text style={{ fontSize:15, fontWeight:'bold', color:'#C0504D' }}&gt;状态：长期优化（小需求大场景）&lt;/Text&gt;&lt;/Box&gt;&#10;    &lt;/Box&gt;&#10;    &lt;Box style={{ flex:1, background:'#F4F7FC', borderRadius:12, padding:22, flexDirection:'column', gap:10 }}&gt;&#10;      &lt;Text style={{ fontSize:22, fontWeight:'bold', color:'#052B7C' }}&gt;对账单&lt;/Text&gt;&#10;      &lt;Text style={{ fontSize:16, color:'#1A1A1A', lineHeight:1.6 }}&gt;· 纯前端 HTML 单页，零部署即开即用&lt;/Text&gt;&#10;      &lt;Text style={{ fontSize:16, color:'#1A1A1A', lineHeight:1.6 }}&gt;· 财务对账从 Excel 手工 → 网页自助生成&lt;/Text&gt;&#10;      &lt;Text style={{ fontSize:16, color:'#1A1A1A', lineHeight:1.6 }}&gt;· 交付：财务部&lt;/Text&gt;&#10;      &lt;Box style={{ marginTop:6, background:'#DAE3F3', borderRadius:6, padding:'6px 12px', alignSelf:'flex-start' }}&gt;&lt;Text style={{ fontSize:15, fontWeight:'bold', color:'#052B7C' }}&gt;状态：已交付&lt;/Text&gt;&lt;/Box&gt;&#10;    &lt;/Box&gt;&#10;    &lt;Box style={{ flex:1, background:'#F4F7FC', borderRadius:12, padding:22, flexDirection:'column', gap:10 }}&gt;&#10;      &lt;Text style={{ fontSize:22, fontWeight:'bold', color:'#052B7C' }}&gt;Tax_check 退税审单&lt;/Text&gt;&#10;      &lt;Text style={{ fontSize:16, color:'#1A1A1A', lineHeight:1.6 }}&gt;· 16+ 单据 OCR + 价格条款矩阵体检&lt;/Text&gt;&#10;      &lt;Text style={{ fontSize:16, color:'#1A1A1A', lineHeight:1.6 }}&gt;· 本地 .exe 运行，数据不出境&lt;/Text&gt;&#10;      &lt;Text style={{ fontSize:16, color:'#1A1A1A', lineHeight:1.6 }}&gt;· 交付 08-01 财务部&lt;/Text&gt;&#10;      &lt;Box style={{ marginTop:6, background:'#DAE3F3', borderRadius:6, padding:'6px 12px', alignSelf:'flex-start' }}&gt;&lt;Text style={{ fontSize:15, fontWeight:'bold', color:'#052B7C' }}&gt;状态：已交付运营（收尾）&lt;/Text&gt;&lt;/Box&gt;&#10;    &lt;/Box&gt;&#10;  &lt;/Box&gt;&#10;&#10;  &lt;Box style={{ position:'absolute', left:56, top:560, right:56 }}&gt;&#10;    &lt;Text style={{ fontSize:16, color:'#1A1A1A', lineHeight:1.5 }}&gt;三项均为财务侧合规 / 效率工具：数据脱敏与 Tax_check 为桌面 .exe（满足敏感数据不出境），对账单为轻量纯前端——体现「小需求、快交付、大场景」。&lt;/Text&gt;&#10;  &lt;/Box&gt;&#10;&#10;  &lt;Box style={{ position:'absolute', left:56, top:668, right:56, flexDirection:'row', justifyContent:'space-between' }}&gt;&#10;    &lt;Text style={{ fontSize:14, color:'#888' }}&gt;入职以来 AI 工作复盘&lt;/Text&gt;&#10;    &lt;Text style={{ fontSize:14, color:'#888' }}&gt;07 / 13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矩形 17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id="173" name="矩形 172"/>
          <p:cNvSpPr/>
          <p:nvPr/>
        </p:nvSpPr>
        <p:spPr>
          <a:xfrm>
            <a:off x="533400" y="352425"/>
            <a:ext cx="76200" cy="323850"/>
          </a:xfrm>
          <a:prstGeom prst="rect">
            <a:avLst/>
          </a:prstGeom>
          <a:solidFill>
            <a:srgbClr val="4472C4"/>
          </a:solidFill>
        </p:spPr>
        <p:txBody>
          <a:bodyPr/>
          <a:p/>
        </p:txBody>
      </p:sp>
      <p:sp>
        <p:nvSpPr>
          <p:cNvPr id="174" name="文本框 173" descr="{&quot;isTemplate&quot;:true,&quot;type&quot;:&quot;text&quot;}"/>
          <p:cNvSpPr txBox="1"/>
          <p:nvPr/>
        </p:nvSpPr>
        <p:spPr>
          <a:xfrm>
            <a:off x="723900" y="342900"/>
            <a:ext cx="4200525" cy="3429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数据脱敏</a:t>
            </a:r>
            <a:r>
              <a:rPr lang="en-US" sz="225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lang="zh-CN" sz="225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对账单</a:t>
            </a:r>
            <a:r>
              <a:rPr lang="en-US" sz="225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 / Tax_check</a:t>
            </a:r>
            <a:endParaRPr lang="en-US" sz="2250" b="1">
              <a:solidFill>
                <a:srgbClr val="052B7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5" name="圆角矩形 174"/>
          <p:cNvSpPr/>
          <p:nvPr/>
        </p:nvSpPr>
        <p:spPr>
          <a:xfrm>
            <a:off x="533400" y="1238250"/>
            <a:ext cx="3571875" cy="2581275"/>
          </a:xfrm>
          <a:prstGeom prst="roundRect">
            <a:avLst>
              <a:gd name="adj" fmla="val 4428"/>
            </a:avLst>
          </a:prstGeom>
          <a:solidFill>
            <a:srgbClr val="F4F7FC"/>
          </a:solidFill>
        </p:spPr>
        <p:txBody>
          <a:bodyPr/>
          <a:p/>
        </p:txBody>
      </p:sp>
      <p:sp>
        <p:nvSpPr>
          <p:cNvPr id="176" name="文本框 175" descr="{&quot;isTemplate&quot;:true,&quot;type&quot;:&quot;text&quot;}"/>
          <p:cNvSpPr txBox="1"/>
          <p:nvPr/>
        </p:nvSpPr>
        <p:spPr>
          <a:xfrm>
            <a:off x="742950" y="1447800"/>
            <a:ext cx="3152775" cy="2571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数据脱敏</a:t>
            </a:r>
            <a:r>
              <a:rPr lang="en-US" sz="165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 Data_masking</a:t>
            </a:r>
            <a:endParaRPr lang="en-US" sz="1650" b="1">
              <a:solidFill>
                <a:srgbClr val="052B7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7" name="文本框 176" descr="{&quot;isTemplate&quot;:true,&quot;type&quot;:&quot;text&quot;}"/>
          <p:cNvSpPr txBox="1"/>
          <p:nvPr/>
        </p:nvSpPr>
        <p:spPr>
          <a:xfrm>
            <a:off x="742950" y="1800225"/>
            <a:ext cx="3152775" cy="5905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· 12 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种脱敏方法（姓名</a:t>
            </a: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身份证</a:t>
            </a: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手机</a:t>
            </a: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银行卡…）</a:t>
            </a:r>
            <a:endParaRPr lang="zh-CN" sz="120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8" name="文本框 177" descr="{&quot;isTemplate&quot;:true,&quot;type&quot;:&quot;text&quot;}"/>
          <p:cNvSpPr txBox="1"/>
          <p:nvPr/>
        </p:nvSpPr>
        <p:spPr>
          <a:xfrm>
            <a:off x="742950" y="2486025"/>
            <a:ext cx="3152775" cy="2952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· .exe 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一键打包，支持</a:t>
            </a: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4 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种编码</a:t>
            </a:r>
            <a:endParaRPr lang="zh-CN" sz="120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9" name="文本框 178" descr="{&quot;isTemplate&quot;:true,&quot;type&quot;:&quot;text&quot;}"/>
          <p:cNvSpPr txBox="1"/>
          <p:nvPr/>
        </p:nvSpPr>
        <p:spPr>
          <a:xfrm>
            <a:off x="742950" y="2876550"/>
            <a:ext cx="3152775" cy="2952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· 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交付</a:t>
            </a: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07-28 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财务部</a:t>
            </a:r>
            <a:endParaRPr lang="zh-CN" sz="120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0" name="圆角矩形 179"/>
          <p:cNvSpPr/>
          <p:nvPr/>
        </p:nvSpPr>
        <p:spPr>
          <a:xfrm>
            <a:off x="742950" y="3324225"/>
            <a:ext cx="2371725" cy="285750"/>
          </a:xfrm>
          <a:prstGeom prst="roundRect">
            <a:avLst>
              <a:gd name="adj" fmla="val 20000"/>
            </a:avLst>
          </a:prstGeom>
          <a:solidFill>
            <a:srgbClr val="FCE4D6"/>
          </a:solidFill>
        </p:spPr>
        <p:txBody>
          <a:bodyPr/>
          <a:p/>
        </p:txBody>
      </p:sp>
      <p:sp>
        <p:nvSpPr>
          <p:cNvPr id="181" name="文本框 180" descr="{&quot;isTemplate&quot;:true,&quot;type&quot;:&quot;text&quot;}"/>
          <p:cNvSpPr txBox="1"/>
          <p:nvPr/>
        </p:nvSpPr>
        <p:spPr>
          <a:xfrm>
            <a:off x="857250" y="3381375"/>
            <a:ext cx="2143125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C0504D"/>
                </a:solidFill>
                <a:latin typeface="微软雅黑" panose="020B0503020204020204" charset="-122"/>
                <a:ea typeface="微软雅黑" panose="020B0503020204020204" charset="-122"/>
              </a:rPr>
              <a:t>状态：长期优化（小需求大场景）</a:t>
            </a:r>
            <a:endParaRPr lang="zh-CN" sz="1125" b="1">
              <a:solidFill>
                <a:srgbClr val="C0504D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2" name="圆角矩形 181"/>
          <p:cNvSpPr/>
          <p:nvPr/>
        </p:nvSpPr>
        <p:spPr>
          <a:xfrm>
            <a:off x="4314825" y="1238250"/>
            <a:ext cx="3562350" cy="2286000"/>
          </a:xfrm>
          <a:prstGeom prst="roundRect">
            <a:avLst>
              <a:gd name="adj" fmla="val 5000"/>
            </a:avLst>
          </a:prstGeom>
          <a:solidFill>
            <a:srgbClr val="F4F7FC"/>
          </a:solidFill>
        </p:spPr>
        <p:txBody>
          <a:bodyPr/>
          <a:p/>
        </p:txBody>
      </p:sp>
      <p:sp>
        <p:nvSpPr>
          <p:cNvPr id="183" name="文本框 182" descr="{&quot;isTemplate&quot;:true,&quot;type&quot;:&quot;text&quot;}"/>
          <p:cNvSpPr txBox="1"/>
          <p:nvPr/>
        </p:nvSpPr>
        <p:spPr>
          <a:xfrm>
            <a:off x="4524375" y="1447800"/>
            <a:ext cx="3143250" cy="2571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对账单</a:t>
            </a:r>
            <a:endParaRPr lang="zh-CN" sz="1650" b="1">
              <a:solidFill>
                <a:srgbClr val="052B7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4" name="文本框 183" descr="{&quot;isTemplate&quot;:true,&quot;type&quot;:&quot;text&quot;}"/>
          <p:cNvSpPr txBox="1"/>
          <p:nvPr/>
        </p:nvSpPr>
        <p:spPr>
          <a:xfrm>
            <a:off x="4524375" y="1800225"/>
            <a:ext cx="3143250" cy="2952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· 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纯前端</a:t>
            </a: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HTML 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单页，零部署即开即用</a:t>
            </a:r>
            <a:endParaRPr lang="zh-CN" sz="120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5" name="文本框 184" descr="{&quot;isTemplate&quot;:true,&quot;type&quot;:&quot;text&quot;}"/>
          <p:cNvSpPr txBox="1"/>
          <p:nvPr/>
        </p:nvSpPr>
        <p:spPr>
          <a:xfrm>
            <a:off x="4524375" y="2190750"/>
            <a:ext cx="3143250" cy="2952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· 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财务对账从</a:t>
            </a: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Excel 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手工</a:t>
            </a: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网页自助生成</a:t>
            </a:r>
            <a:endParaRPr lang="zh-CN" sz="120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6" name="文本框 185" descr="{&quot;isTemplate&quot;:true,&quot;type&quot;:&quot;text&quot;}"/>
          <p:cNvSpPr txBox="1"/>
          <p:nvPr/>
        </p:nvSpPr>
        <p:spPr>
          <a:xfrm>
            <a:off x="4524375" y="2581275"/>
            <a:ext cx="3143250" cy="2952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· 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交付：财务部</a:t>
            </a:r>
            <a:endParaRPr lang="zh-CN" sz="120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7" name="圆角矩形 186"/>
          <p:cNvSpPr/>
          <p:nvPr/>
        </p:nvSpPr>
        <p:spPr>
          <a:xfrm>
            <a:off x="4524375" y="3028950"/>
            <a:ext cx="1085850" cy="285750"/>
          </a:xfrm>
          <a:prstGeom prst="roundRect">
            <a:avLst>
              <a:gd name="adj" fmla="val 20000"/>
            </a:avLst>
          </a:prstGeom>
          <a:solidFill>
            <a:srgbClr val="DAE3F3"/>
          </a:solidFill>
        </p:spPr>
        <p:txBody>
          <a:bodyPr/>
          <a:p/>
        </p:txBody>
      </p:sp>
      <p:sp>
        <p:nvSpPr>
          <p:cNvPr id="188" name="文本框 187" descr="{&quot;isTemplate&quot;:true,&quot;type&quot;:&quot;text&quot;}"/>
          <p:cNvSpPr txBox="1"/>
          <p:nvPr/>
        </p:nvSpPr>
        <p:spPr>
          <a:xfrm>
            <a:off x="4638675" y="3086100"/>
            <a:ext cx="857250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状态：已交付</a:t>
            </a:r>
            <a:endParaRPr lang="zh-CN" sz="1125" b="1">
              <a:solidFill>
                <a:srgbClr val="052B7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9" name="圆角矩形 188"/>
          <p:cNvSpPr/>
          <p:nvPr/>
        </p:nvSpPr>
        <p:spPr>
          <a:xfrm>
            <a:off x="8086725" y="1238250"/>
            <a:ext cx="3571875" cy="2286000"/>
          </a:xfrm>
          <a:prstGeom prst="roundRect">
            <a:avLst>
              <a:gd name="adj" fmla="val 5000"/>
            </a:avLst>
          </a:prstGeom>
          <a:solidFill>
            <a:srgbClr val="F4F7FC"/>
          </a:solidFill>
        </p:spPr>
        <p:txBody>
          <a:bodyPr/>
          <a:p/>
        </p:txBody>
      </p:sp>
      <p:sp>
        <p:nvSpPr>
          <p:cNvPr id="190" name="文本框 189" descr="{&quot;isTemplate&quot;:true,&quot;type&quot;:&quot;text&quot;}"/>
          <p:cNvSpPr txBox="1"/>
          <p:nvPr/>
        </p:nvSpPr>
        <p:spPr>
          <a:xfrm>
            <a:off x="8296275" y="1447800"/>
            <a:ext cx="3152775" cy="2571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Tax_check </a:t>
            </a:r>
            <a:r>
              <a:rPr lang="zh-CN" sz="165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退税审单</a:t>
            </a:r>
            <a:endParaRPr lang="zh-CN" sz="1650" b="1">
              <a:solidFill>
                <a:srgbClr val="052B7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1" name="文本框 190" descr="{&quot;isTemplate&quot;:true,&quot;type&quot;:&quot;text&quot;}"/>
          <p:cNvSpPr txBox="1"/>
          <p:nvPr/>
        </p:nvSpPr>
        <p:spPr>
          <a:xfrm>
            <a:off x="8296275" y="1800225"/>
            <a:ext cx="3152775" cy="2952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· 16+ 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单据</a:t>
            </a: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OCR + 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价格条款矩阵体检</a:t>
            </a:r>
            <a:endParaRPr lang="zh-CN" sz="120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2" name="文本框 191" descr="{&quot;isTemplate&quot;:true,&quot;type&quot;:&quot;text&quot;}"/>
          <p:cNvSpPr txBox="1"/>
          <p:nvPr/>
        </p:nvSpPr>
        <p:spPr>
          <a:xfrm>
            <a:off x="8296275" y="2190750"/>
            <a:ext cx="3152775" cy="2952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· 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本地</a:t>
            </a: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.exe 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运行，数据不出境</a:t>
            </a:r>
            <a:endParaRPr lang="zh-CN" sz="120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3" name="文本框 192" descr="{&quot;isTemplate&quot;:true,&quot;type&quot;:&quot;text&quot;}"/>
          <p:cNvSpPr txBox="1"/>
          <p:nvPr/>
        </p:nvSpPr>
        <p:spPr>
          <a:xfrm>
            <a:off x="8296275" y="2581275"/>
            <a:ext cx="3152775" cy="2952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· 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交付</a:t>
            </a: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08-01 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财务部</a:t>
            </a:r>
            <a:endParaRPr lang="zh-CN" sz="120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4" name="圆角矩形 193"/>
          <p:cNvSpPr/>
          <p:nvPr/>
        </p:nvSpPr>
        <p:spPr>
          <a:xfrm>
            <a:off x="8296275" y="3028950"/>
            <a:ext cx="1943100" cy="285750"/>
          </a:xfrm>
          <a:prstGeom prst="roundRect">
            <a:avLst>
              <a:gd name="adj" fmla="val 20000"/>
            </a:avLst>
          </a:prstGeom>
          <a:solidFill>
            <a:srgbClr val="DAE3F3"/>
          </a:solidFill>
        </p:spPr>
        <p:txBody>
          <a:bodyPr/>
          <a:p/>
        </p:txBody>
      </p:sp>
      <p:sp>
        <p:nvSpPr>
          <p:cNvPr id="195" name="文本框 194" descr="{&quot;isTemplate&quot;:true,&quot;type&quot;:&quot;text&quot;}"/>
          <p:cNvSpPr txBox="1"/>
          <p:nvPr/>
        </p:nvSpPr>
        <p:spPr>
          <a:xfrm>
            <a:off x="8410575" y="3086100"/>
            <a:ext cx="1714500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状态：已交付运营（收尾）</a:t>
            </a:r>
            <a:endParaRPr lang="zh-CN" sz="1125" b="1">
              <a:solidFill>
                <a:srgbClr val="052B7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6" name="文本框 195" descr="{&quot;isTemplate&quot;:true,&quot;type&quot;:&quot;text&quot;}"/>
          <p:cNvSpPr txBox="1"/>
          <p:nvPr/>
        </p:nvSpPr>
        <p:spPr>
          <a:xfrm>
            <a:off x="533400" y="5334000"/>
            <a:ext cx="11125200" cy="276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三项均为财务侧合规</a:t>
            </a: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效率工具：数据脱敏与</a:t>
            </a: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Tax_check 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为桌面</a:t>
            </a: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.exe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（满足敏感数据不出境），对账单为轻量纯前端——体现「小需求、快交付、大场景」。</a:t>
            </a:r>
            <a:endParaRPr lang="zh-CN" sz="120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7" name="文本框 196" descr="{&quot;isTemplate&quot;:true,&quot;type&quot;:&quot;text&quot;}"/>
          <p:cNvSpPr txBox="1"/>
          <p:nvPr/>
        </p:nvSpPr>
        <p:spPr>
          <a:xfrm>
            <a:off x="533400" y="6362700"/>
            <a:ext cx="1285875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入职以来</a:t>
            </a:r>
            <a:r>
              <a:rPr lang="en-US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 AI </a:t>
            </a:r>
            <a:r>
              <a:rPr lang="zh-CN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工作复盘</a:t>
            </a:r>
            <a:endParaRPr lang="zh-CN" sz="1050">
              <a:solidFill>
                <a:srgbClr val="88888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8" name="文本框 197" descr="{&quot;isTemplate&quot;:true,&quot;type&quot;:&quot;text&quot;}"/>
          <p:cNvSpPr txBox="1"/>
          <p:nvPr/>
        </p:nvSpPr>
        <p:spPr>
          <a:xfrm>
            <a:off x="11229975" y="6362700"/>
            <a:ext cx="428625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07 / 13</a:t>
            </a:r>
            <a:endParaRPr lang="en-US" sz="1050">
              <a:solidFill>
                <a:srgbClr val="88888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99" name="" descr="&lt;Slide style={{ width:'1280px', height:'720px', position:'relative', background:'#FFFFFF', fontFamily:'微软雅黑' }}&gt;&#10;  &lt;Box style={{ position:'absolute', left:56, top:36, flexDirection:'row', alignItems:'center', gap:12 }}&gt;&#10;    &lt;Box style={{ width:8, height:34, background:'#4472C4' }} /&gt;&#10;    &lt;Text style={{ fontSize:30, fontWeight:'bold', color:'#052B7C' }}&gt;三、Skill 抽象与复用&lt;/Text&gt;&#10;  &lt;/Box&gt;&#10;&#10;  &lt;Box style={{ position:'absolute', left:56, top:118, right:56, background:'#052B7C', borderRadius:10, padding:'14px 22px' }}&gt;&#10;    &lt;Text style={{ fontSize:17, color:'#FFFFFF', lineHeight:1.5 }}&gt;与「建应用」并列的内部第二条交付路径：复现工作场景 → 抽象输入输出 → 复用 / 赋能业务自建。&lt;/Text&gt;&#10;  &lt;/Box&gt;&#10;&#10;  &lt;Box style={{ position:'absolute', left:56, top:200, right:56, flexDirection:'row', gap:28 }}&gt;&#10;    &lt;Box style={{ flex:1, background:'#F4F7FC', borderRadius:12, padding:24, flexDirection:'column', gap:12 }}&gt;&#10;      &lt;Text style={{ fontSize:22, fontWeight:'bold', color:'#4472C4' }}&gt;tax-refund-audit（退税审单 Skill）&lt;/Text&gt;&#10;      &lt;Text style={{ fontSize:17, color:'#1A1A1A', lineHeight:1.7 }}&gt;· 抽象退税审单工作流为可复用 Skill，交付财务部&lt;/Text&gt;&#10;      &lt;Text style={{ fontSize:17, color:'#1A1A1A', lineHeight:1.7 }}&gt;· 与 Tax_check 应用互补：应用做 OCR + 条款矩阵「体检」，Skill 做审单流程复用与下沉&lt;/Text&gt;&#10;      &lt;Text style={{ fontSize:17, color:'#1A1A1A', lineHeight:1.7 }}&gt;· 降低对专人 / 专工具的依赖&lt;/Text&gt;&#10;      &lt;Box style={{ marginTop:4, background:'#DAE3F3', borderRadius:6, padding:'6px 12px', alignSelf:'flex-start' }}&gt;&lt;Text style={{ fontSize:15, fontWeight:'bold', color:'#052B7C' }}&gt;状态：已交付财务使用&lt;/Text&gt;&lt;/Box&gt;&#10;    &lt;/Box&gt;&#10;    &lt;Box style={{ flex:1, background:'#F4F7FC', borderRadius:12, padding:24, flexDirection:'column', gap:12 }}&gt;&#10;      &lt;Text style={{ fontSize:22, fontWeight:'bold', color:'#4472C4' }}&gt;daily-commodity-price-scraper（价格爬取 Skill）&lt;/Text&gt;&#10;      &lt;Text style={{ fontSize:17, color:'#1A1A1A', lineHeight:1.7 }}&gt;· 作为「钩子」培养采购部门自主制作 Skill 的能力&lt;/Text&gt;&#10;      &lt;Text style={{ fontSize:17, color:'#1A1A1A', lineHeight:1.7 }}&gt;· 后续仍回采购部门培训，巩固「自建 Skill」能力&lt;/Text&gt;&#10;      &lt;Text style={{ fontSize:17, color:'#1A1A1A', lineHeight:1.7 }}&gt;· 体现理念：赋能业务自建，AI 小组退后为把关角色&lt;/Text&gt;&#10;      &lt;Box style={{ marginTop:4, background:'#DAE3F3', borderRadius:6, padding:'6px 12px', alignSelf:'flex-start' }}&gt;&lt;Text style={{ fontSize:15, fontWeight:'bold', color:'#052B7C' }}&gt;状态：赋能中（回培训）&lt;/Text&gt;&lt;/Box&gt;&#10;    &lt;/Box&gt;&#10;  &lt;/Box&gt;&#10;&#10;  &lt;Box style={{ position:'absolute', left:56, top:668, right:56, flexDirection:'row', justifyContent:'space-between' }}&gt;&#10;    &lt;Text style={{ fontSize:14, color:'#888' }}&gt;入职以来 AI 工作复盘&lt;/Text&gt;&#10;    &lt;Text style={{ fontSize:14, color:'#888' }}&gt;08 / 13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矩形 199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id="201" name="矩形 200"/>
          <p:cNvSpPr/>
          <p:nvPr/>
        </p:nvSpPr>
        <p:spPr>
          <a:xfrm>
            <a:off x="533400" y="352425"/>
            <a:ext cx="76200" cy="323850"/>
          </a:xfrm>
          <a:prstGeom prst="rect">
            <a:avLst/>
          </a:prstGeom>
          <a:solidFill>
            <a:srgbClr val="4472C4"/>
          </a:solidFill>
        </p:spPr>
        <p:txBody>
          <a:bodyPr/>
          <a:p/>
        </p:txBody>
      </p:sp>
      <p:sp>
        <p:nvSpPr>
          <p:cNvPr id="202" name="文本框 201" descr="{&quot;isTemplate&quot;:true,&quot;type&quot;:&quot;text&quot;}"/>
          <p:cNvSpPr txBox="1"/>
          <p:nvPr/>
        </p:nvSpPr>
        <p:spPr>
          <a:xfrm>
            <a:off x="723900" y="342900"/>
            <a:ext cx="2705100" cy="3429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三、</a:t>
            </a:r>
            <a:r>
              <a:rPr lang="en-US" sz="225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Skill </a:t>
            </a:r>
            <a:r>
              <a:rPr lang="zh-CN" sz="225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抽象与复用</a:t>
            </a:r>
            <a:endParaRPr lang="zh-CN" sz="2250" b="1">
              <a:solidFill>
                <a:srgbClr val="052B7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3" name="圆角矩形 202"/>
          <p:cNvSpPr/>
          <p:nvPr/>
        </p:nvSpPr>
        <p:spPr>
          <a:xfrm>
            <a:off x="533400" y="1123950"/>
            <a:ext cx="11125200" cy="561975"/>
          </a:xfrm>
          <a:prstGeom prst="roundRect">
            <a:avLst>
              <a:gd name="adj" fmla="val 16949"/>
            </a:avLst>
          </a:prstGeom>
          <a:solidFill>
            <a:srgbClr val="052B7C"/>
          </a:solidFill>
        </p:spPr>
        <p:txBody>
          <a:bodyPr/>
          <a:p/>
        </p:txBody>
      </p:sp>
      <p:sp>
        <p:nvSpPr>
          <p:cNvPr id="204" name="文本框 203" descr="{&quot;isTemplate&quot;:true,&quot;type&quot;:&quot;text&quot;}"/>
          <p:cNvSpPr txBox="1"/>
          <p:nvPr/>
        </p:nvSpPr>
        <p:spPr>
          <a:xfrm>
            <a:off x="742950" y="1257300"/>
            <a:ext cx="10706100" cy="2952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75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与「建应用」并列的内部第二条交付路径：复现工作场景</a:t>
            </a:r>
            <a:r>
              <a:rPr lang="en-US" sz="1275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lang="zh-CN" sz="1275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抽象输入输出</a:t>
            </a:r>
            <a:r>
              <a:rPr lang="en-US" sz="1275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lang="zh-CN" sz="1275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复用</a:t>
            </a:r>
            <a:r>
              <a:rPr lang="en-US" sz="1275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lang="zh-CN" sz="1275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赋能业务自建。</a:t>
            </a:r>
            <a:endParaRPr lang="zh-CN" sz="1275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5" name="圆角矩形 204"/>
          <p:cNvSpPr/>
          <p:nvPr/>
        </p:nvSpPr>
        <p:spPr>
          <a:xfrm>
            <a:off x="533400" y="1905000"/>
            <a:ext cx="5429250" cy="2828925"/>
          </a:xfrm>
          <a:prstGeom prst="roundRect">
            <a:avLst>
              <a:gd name="adj" fmla="val 4040"/>
            </a:avLst>
          </a:prstGeom>
          <a:solidFill>
            <a:srgbClr val="F4F7FC"/>
          </a:solidFill>
        </p:spPr>
        <p:txBody>
          <a:bodyPr/>
          <a:p/>
        </p:txBody>
      </p:sp>
      <p:sp>
        <p:nvSpPr>
          <p:cNvPr id="206" name="文本框 205" descr="{&quot;isTemplate&quot;:true,&quot;type&quot;:&quot;text&quot;}"/>
          <p:cNvSpPr txBox="1"/>
          <p:nvPr/>
        </p:nvSpPr>
        <p:spPr>
          <a:xfrm>
            <a:off x="762000" y="2133600"/>
            <a:ext cx="4972050" cy="2571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4472C4"/>
                </a:solidFill>
                <a:latin typeface="微软雅黑" panose="020B0503020204020204" charset="-122"/>
                <a:ea typeface="微软雅黑" panose="020B0503020204020204" charset="-122"/>
              </a:rPr>
              <a:t>tax-refund-audit</a:t>
            </a:r>
            <a:r>
              <a:rPr lang="zh-CN" sz="1650" b="1">
                <a:solidFill>
                  <a:srgbClr val="4472C4"/>
                </a:solidFill>
                <a:latin typeface="微软雅黑" panose="020B0503020204020204" charset="-122"/>
                <a:ea typeface="微软雅黑" panose="020B0503020204020204" charset="-122"/>
              </a:rPr>
              <a:t>（退税审单</a:t>
            </a:r>
            <a:r>
              <a:rPr lang="en-US" sz="1650" b="1">
                <a:solidFill>
                  <a:srgbClr val="4472C4"/>
                </a:solidFill>
                <a:latin typeface="微软雅黑" panose="020B0503020204020204" charset="-122"/>
                <a:ea typeface="微软雅黑" panose="020B0503020204020204" charset="-122"/>
              </a:rPr>
              <a:t> Skill</a:t>
            </a:r>
            <a:r>
              <a:rPr lang="zh-CN" sz="1650" b="1">
                <a:solidFill>
                  <a:srgbClr val="4472C4"/>
                </a:solidFill>
                <a:latin typeface="微软雅黑" panose="020B0503020204020204" charset="-122"/>
                <a:ea typeface="微软雅黑" panose="020B0503020204020204" charset="-122"/>
              </a:rPr>
              <a:t>）</a:t>
            </a:r>
            <a:endParaRPr lang="zh-CN" sz="1650" b="1">
              <a:solidFill>
                <a:srgbClr val="4472C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7" name="文本框 206" descr="{&quot;isTemplate&quot;:true,&quot;type&quot;:&quot;text&quot;}"/>
          <p:cNvSpPr txBox="1"/>
          <p:nvPr/>
        </p:nvSpPr>
        <p:spPr>
          <a:xfrm>
            <a:off x="762000" y="2505075"/>
            <a:ext cx="4972050" cy="3333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en-US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· </a:t>
            </a:r>
            <a:r>
              <a:rPr lang="zh-CN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抽象退税审单工作流为可复用</a:t>
            </a:r>
            <a:r>
              <a:rPr lang="en-US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Skill</a:t>
            </a:r>
            <a:r>
              <a:rPr lang="zh-CN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，交付财务部</a:t>
            </a:r>
            <a:endParaRPr lang="zh-CN" sz="1275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8" name="文本框 207" descr="{&quot;isTemplate&quot;:true,&quot;type&quot;:&quot;text&quot;}"/>
          <p:cNvSpPr txBox="1"/>
          <p:nvPr/>
        </p:nvSpPr>
        <p:spPr>
          <a:xfrm>
            <a:off x="762000" y="2952750"/>
            <a:ext cx="4972050" cy="6667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en-US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· </a:t>
            </a:r>
            <a:r>
              <a:rPr lang="zh-CN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与</a:t>
            </a:r>
            <a:r>
              <a:rPr lang="en-US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Tax_check </a:t>
            </a:r>
            <a:r>
              <a:rPr lang="zh-CN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应用互补：应用做</a:t>
            </a:r>
            <a:r>
              <a:rPr lang="en-US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OCR + </a:t>
            </a:r>
            <a:r>
              <a:rPr lang="zh-CN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条款矩阵「体检」，</a:t>
            </a:r>
            <a:r>
              <a:rPr lang="en-US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Skill </a:t>
            </a:r>
            <a:r>
              <a:rPr lang="zh-CN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做审单流程复用与下沉</a:t>
            </a:r>
            <a:endParaRPr lang="zh-CN" sz="1275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9" name="文本框 208" descr="{&quot;isTemplate&quot;:true,&quot;type&quot;:&quot;text&quot;}"/>
          <p:cNvSpPr txBox="1"/>
          <p:nvPr/>
        </p:nvSpPr>
        <p:spPr>
          <a:xfrm>
            <a:off x="762000" y="3733800"/>
            <a:ext cx="4972050" cy="3333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en-US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· </a:t>
            </a:r>
            <a:r>
              <a:rPr lang="zh-CN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降低对专人</a:t>
            </a:r>
            <a:r>
              <a:rPr lang="en-US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lang="zh-CN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专工具的依赖</a:t>
            </a:r>
            <a:endParaRPr lang="zh-CN" sz="1275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0" name="圆角矩形 209"/>
          <p:cNvSpPr/>
          <p:nvPr/>
        </p:nvSpPr>
        <p:spPr>
          <a:xfrm>
            <a:off x="762000" y="4219575"/>
            <a:ext cx="1657350" cy="285750"/>
          </a:xfrm>
          <a:prstGeom prst="roundRect">
            <a:avLst>
              <a:gd name="adj" fmla="val 20000"/>
            </a:avLst>
          </a:prstGeom>
          <a:solidFill>
            <a:srgbClr val="DAE3F3"/>
          </a:solidFill>
        </p:spPr>
        <p:txBody>
          <a:bodyPr/>
          <a:p/>
        </p:txBody>
      </p:sp>
      <p:sp>
        <p:nvSpPr>
          <p:cNvPr id="211" name="文本框 210" descr="{&quot;isTemplate&quot;:true,&quot;type&quot;:&quot;text&quot;}"/>
          <p:cNvSpPr txBox="1"/>
          <p:nvPr/>
        </p:nvSpPr>
        <p:spPr>
          <a:xfrm>
            <a:off x="876300" y="4276725"/>
            <a:ext cx="1428750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状态：已交付财务使用</a:t>
            </a:r>
            <a:endParaRPr lang="zh-CN" sz="1125" b="1">
              <a:solidFill>
                <a:srgbClr val="052B7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2" name="圆角矩形 211"/>
          <p:cNvSpPr/>
          <p:nvPr/>
        </p:nvSpPr>
        <p:spPr>
          <a:xfrm>
            <a:off x="6229350" y="1905000"/>
            <a:ext cx="5429250" cy="2828925"/>
          </a:xfrm>
          <a:prstGeom prst="roundRect">
            <a:avLst>
              <a:gd name="adj" fmla="val 4040"/>
            </a:avLst>
          </a:prstGeom>
          <a:solidFill>
            <a:srgbClr val="F4F7FC"/>
          </a:solidFill>
        </p:spPr>
        <p:txBody>
          <a:bodyPr/>
          <a:p/>
        </p:txBody>
      </p:sp>
      <p:sp>
        <p:nvSpPr>
          <p:cNvPr id="213" name="文本框 212" descr="{&quot;isTemplate&quot;:true,&quot;type&quot;:&quot;text&quot;}"/>
          <p:cNvSpPr txBox="1"/>
          <p:nvPr/>
        </p:nvSpPr>
        <p:spPr>
          <a:xfrm>
            <a:off x="6457950" y="2133600"/>
            <a:ext cx="4972050" cy="504825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4472C4"/>
                </a:solidFill>
                <a:latin typeface="微软雅黑" panose="020B0503020204020204" charset="-122"/>
                <a:ea typeface="微软雅黑" panose="020B0503020204020204" charset="-122"/>
              </a:rPr>
              <a:t>daily-commodity-price-scraper</a:t>
            </a:r>
            <a:r>
              <a:rPr lang="zh-CN" sz="1650" b="1">
                <a:solidFill>
                  <a:srgbClr val="4472C4"/>
                </a:solidFill>
                <a:latin typeface="微软雅黑" panose="020B0503020204020204" charset="-122"/>
                <a:ea typeface="微软雅黑" panose="020B0503020204020204" charset="-122"/>
              </a:rPr>
              <a:t>（价格爬取</a:t>
            </a:r>
            <a:r>
              <a:rPr lang="en-US" sz="1650" b="1">
                <a:solidFill>
                  <a:srgbClr val="4472C4"/>
                </a:solidFill>
                <a:latin typeface="微软雅黑" panose="020B0503020204020204" charset="-122"/>
                <a:ea typeface="微软雅黑" panose="020B0503020204020204" charset="-122"/>
              </a:rPr>
              <a:t> Skill</a:t>
            </a:r>
            <a:r>
              <a:rPr lang="zh-CN" sz="1650" b="1">
                <a:solidFill>
                  <a:srgbClr val="4472C4"/>
                </a:solidFill>
                <a:latin typeface="微软雅黑" panose="020B0503020204020204" charset="-122"/>
                <a:ea typeface="微软雅黑" panose="020B0503020204020204" charset="-122"/>
              </a:rPr>
              <a:t>）</a:t>
            </a:r>
            <a:endParaRPr lang="zh-CN" sz="1650" b="1">
              <a:solidFill>
                <a:srgbClr val="4472C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4" name="文本框 213" descr="{&quot;isTemplate&quot;:true,&quot;type&quot;:&quot;text&quot;}"/>
          <p:cNvSpPr txBox="1"/>
          <p:nvPr/>
        </p:nvSpPr>
        <p:spPr>
          <a:xfrm>
            <a:off x="6457950" y="2752725"/>
            <a:ext cx="4972050" cy="3333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en-US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· </a:t>
            </a:r>
            <a:r>
              <a:rPr lang="zh-CN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作为「钩子」培养采购部门自主制作</a:t>
            </a:r>
            <a:r>
              <a:rPr lang="en-US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Skill </a:t>
            </a:r>
            <a:r>
              <a:rPr lang="zh-CN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的能力</a:t>
            </a:r>
            <a:endParaRPr lang="zh-CN" sz="1275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5" name="文本框 214" descr="{&quot;isTemplate&quot;:true,&quot;type&quot;:&quot;text&quot;}"/>
          <p:cNvSpPr txBox="1"/>
          <p:nvPr/>
        </p:nvSpPr>
        <p:spPr>
          <a:xfrm>
            <a:off x="6457950" y="3200400"/>
            <a:ext cx="4972050" cy="3333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en-US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· </a:t>
            </a:r>
            <a:r>
              <a:rPr lang="zh-CN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后续仍回采购部门培训，巩固「自建</a:t>
            </a:r>
            <a:r>
              <a:rPr lang="en-US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Skill</a:t>
            </a:r>
            <a:r>
              <a:rPr lang="zh-CN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」能力</a:t>
            </a:r>
            <a:endParaRPr lang="zh-CN" sz="1275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6" name="文本框 215" descr="{&quot;isTemplate&quot;:true,&quot;type&quot;:&quot;text&quot;}"/>
          <p:cNvSpPr txBox="1"/>
          <p:nvPr/>
        </p:nvSpPr>
        <p:spPr>
          <a:xfrm>
            <a:off x="6457950" y="3648075"/>
            <a:ext cx="4972050" cy="3333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en-US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· </a:t>
            </a:r>
            <a:r>
              <a:rPr lang="zh-CN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体现理念：赋能业务自建，</a:t>
            </a:r>
            <a:r>
              <a:rPr lang="en-US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AI </a:t>
            </a:r>
            <a:r>
              <a:rPr lang="zh-CN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小组退后为把关角色</a:t>
            </a:r>
            <a:endParaRPr lang="zh-CN" sz="1275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7" name="圆角矩形 216"/>
          <p:cNvSpPr/>
          <p:nvPr/>
        </p:nvSpPr>
        <p:spPr>
          <a:xfrm>
            <a:off x="6457950" y="4133850"/>
            <a:ext cx="1800225" cy="285750"/>
          </a:xfrm>
          <a:prstGeom prst="roundRect">
            <a:avLst>
              <a:gd name="adj" fmla="val 20000"/>
            </a:avLst>
          </a:prstGeom>
          <a:solidFill>
            <a:srgbClr val="DAE3F3"/>
          </a:solidFill>
        </p:spPr>
        <p:txBody>
          <a:bodyPr/>
          <a:p/>
        </p:txBody>
      </p:sp>
      <p:sp>
        <p:nvSpPr>
          <p:cNvPr id="218" name="文本框 217" descr="{&quot;isTemplate&quot;:true,&quot;type&quot;:&quot;text&quot;}"/>
          <p:cNvSpPr txBox="1"/>
          <p:nvPr/>
        </p:nvSpPr>
        <p:spPr>
          <a:xfrm>
            <a:off x="6572250" y="4191000"/>
            <a:ext cx="1571625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状态：赋能中（回培训）</a:t>
            </a:r>
            <a:endParaRPr lang="zh-CN" sz="1125" b="1">
              <a:solidFill>
                <a:srgbClr val="052B7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9" name="文本框 218" descr="{&quot;isTemplate&quot;:true,&quot;type&quot;:&quot;text&quot;}"/>
          <p:cNvSpPr txBox="1"/>
          <p:nvPr/>
        </p:nvSpPr>
        <p:spPr>
          <a:xfrm>
            <a:off x="533400" y="6362700"/>
            <a:ext cx="1285875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入职以来</a:t>
            </a:r>
            <a:r>
              <a:rPr lang="en-US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 AI </a:t>
            </a:r>
            <a:r>
              <a:rPr lang="zh-CN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工作复盘</a:t>
            </a:r>
            <a:endParaRPr lang="zh-CN" sz="1050">
              <a:solidFill>
                <a:srgbClr val="88888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20" name="文本框 219" descr="{&quot;isTemplate&quot;:true,&quot;type&quot;:&quot;text&quot;}"/>
          <p:cNvSpPr txBox="1"/>
          <p:nvPr/>
        </p:nvSpPr>
        <p:spPr>
          <a:xfrm>
            <a:off x="11229975" y="6362700"/>
            <a:ext cx="428625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08 / 13</a:t>
            </a:r>
            <a:endParaRPr lang="en-US" sz="1050">
              <a:solidFill>
                <a:srgbClr val="88888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2" name="" descr="&lt;Slide style={{ width:'1280px', height:'720px', position:'relative', background:'#FFFFFF', fontFamily:'微软雅黑' }}&gt;&#10;  &lt;Box style={{ position:'absolute', left:56, top:36, flexDirection:'row', alignItems:'center', gap:12 }}&gt;&#10;    &lt;Box style={{ width:8, height:34, background:'#4472C4' }} /&gt;&#10;    &lt;Text style={{ fontSize:30, fontWeight:'bold', color:'#052B7C' }}&gt;五、宏昊AI助手 · 验收运营&lt;/Text&gt;&#10;  &lt;/Box&gt;&#10;&#10;  &lt;Box style={{ position:'absolute', left:56, top:130, right:56, flexDirection:'row', gap:22 }}&gt;&#10;    {[['37','平台验收项'],['19','问题反馈闭环'],['93.3%','6 月单月通过率']].map((c, i) =&gt; (&#10;      &lt;Box key={i} style={{ flex:1, background:'#F4F7FC', borderRadius:10, padding:'22px 18px', alignItems:'center' }}&gt;&#10;        &lt;Text style={{ fontSize:56, fontWeight:'bold', color:'#4472C4' }}&gt;{c[0]}&lt;/Text&gt;&#10;        &lt;Text style={{ fontSize:18, color:'#1A1A1A', marginTop:6 }}&gt;{c[1]}&lt;/Text&gt;&#10;      &lt;/Box&gt;&#10;    ))}&#10;  &lt;/Box&gt;&#10;&#10;  &lt;Box style={{ position:'absolute', left:56, top:300, right:56, background:'#052B7C', borderRadius:10, padding:'16px 22px' }}&gt;&#10;    &lt;Text style={{ fontSize:18, color:'#FFFFFF', lineHeight:1.5 }}&gt;入职以来 &lt;span style={{ fontWeight:'bold' }}&gt;37 项验收 + 19 项问题反馈闭环&lt;/span&gt;，6 月单月通过率 93.3% → 把「供应商交付」变「可度量、可追溯、有退回机制」的质量门槛。&lt;/Text&gt;&#10;  &lt;/Box&gt;&#10;&#10;  &lt;Box style={{ position:'absolute', left:56, top:400, right:56 }}&gt;&#10;    &lt;Table&#10;      style={{ width:'100%', height:230 }}&#10;      defaultTextStyle={{ fontSize:15, textAlign:'center', color:'#1A1A1A' }}&#10;      defaultCellStyle={{ border:{ left:{width:1,color:'#CCCCCC'}, right:{width:1,color:'#CCCCCC'}, top:{width:1,color:'#CCCCCC'}, bottom:{width:1,color:'#CCCCCC'} } }}&#10;      cells={[&#10;        [ {text:'周期', textStyle:{bold:true,color:'#1A1A1A'}, cellStyle:{background:{color:'#DAE3F3'}}},&#10;          {text:'验收产出', textStyle:{bold:true,color:'#1A1A1A'}, cellStyle:{background:{color:'#DAE3F3'}}},&#10;          {text:'问题反馈', textStyle:{bold:true,color:'#1A1A1A'}, cellStyle:{background:{color:'#DAE3F3'}}},&#10;          {text:'通过情况', textStyle:{bold:true,color:'#1A1A1A'}, cellStyle:{background:{color:'#DAE3F3'}}} ],&#10;        [ '4 月', '3 测试 + 2 验收（5 项）', '4', '—' ],&#10;        [ '5 月', '9 项测试验收', '3', '—' ],&#10;        [ '6 月', '15 用例（5 批次）', '8', {text:'14/15 通过（93.3%）', textStyle:{bold:true,color:'#4472C4'}} ],&#10;        [ '7 月（2607）', '5 轮验收（8 项）', '4', '—' ],&#10;      ]}&#10;    /&gt;&#10;  &lt;/Box&gt;&#10;&#10;  &lt;Box style={{ position:'absolute', left:56, top:668, right:56, flexDirection:'row', justifyContent:'space-between' }}&gt;&#10;    &lt;Text style={{ fontSize:14, color:'#888' }}&gt;入职以来 AI 工作复盘&lt;/Text&gt;&#10;    &lt;Text style={{ fontSize:14, color:'#888' }}&gt;10 / 13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id="14" name="矩形 13"/>
          <p:cNvSpPr/>
          <p:nvPr/>
        </p:nvSpPr>
        <p:spPr>
          <a:xfrm>
            <a:off x="533400" y="352425"/>
            <a:ext cx="76200" cy="323850"/>
          </a:xfrm>
          <a:prstGeom prst="rect">
            <a:avLst/>
          </a:prstGeom>
          <a:solidFill>
            <a:srgbClr val="4472C4"/>
          </a:solidFill>
        </p:spPr>
        <p:txBody>
          <a:bodyPr/>
          <a:p/>
        </p:txBody>
      </p:sp>
      <p:sp>
        <p:nvSpPr>
          <p:cNvPr id="15" name="文本框 14" descr="{&quot;isTemplate&quot;:true,&quot;type&quot;:&quot;text&quot;}"/>
          <p:cNvSpPr txBox="1"/>
          <p:nvPr/>
        </p:nvSpPr>
        <p:spPr>
          <a:xfrm>
            <a:off x="723900" y="342900"/>
            <a:ext cx="3467100" cy="3429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四、宏昊</a:t>
            </a:r>
            <a:r>
              <a:rPr lang="en-US" sz="225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AI</a:t>
            </a:r>
            <a:r>
              <a:rPr lang="zh-CN" sz="225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助手</a:t>
            </a:r>
            <a:r>
              <a:rPr lang="en-US" sz="225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lang="zh-CN" sz="225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验收运营</a:t>
            </a:r>
            <a:endParaRPr lang="zh-CN" sz="2250" b="1">
              <a:solidFill>
                <a:srgbClr val="052B7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圆角矩形 15"/>
          <p:cNvSpPr/>
          <p:nvPr/>
        </p:nvSpPr>
        <p:spPr>
          <a:xfrm>
            <a:off x="533400" y="1238250"/>
            <a:ext cx="3571875" cy="1333500"/>
          </a:xfrm>
          <a:prstGeom prst="roundRect">
            <a:avLst>
              <a:gd name="adj" fmla="val 7143"/>
            </a:avLst>
          </a:prstGeom>
          <a:solidFill>
            <a:srgbClr val="F4F7FC"/>
          </a:solidFill>
        </p:spPr>
        <p:txBody>
          <a:bodyPr/>
          <a:p/>
        </p:txBody>
      </p:sp>
      <p:sp>
        <p:nvSpPr>
          <p:cNvPr id="17" name="文本框 16" descr="{&quot;isTemplate&quot;:true,&quot;type&quot;:&quot;text&quot;}"/>
          <p:cNvSpPr txBox="1"/>
          <p:nvPr/>
        </p:nvSpPr>
        <p:spPr>
          <a:xfrm>
            <a:off x="1981200" y="1447800"/>
            <a:ext cx="685800" cy="6477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200" b="1">
                <a:solidFill>
                  <a:srgbClr val="4472C4"/>
                </a:solidFill>
                <a:latin typeface="微软雅黑" panose="020B0503020204020204" charset="-122"/>
                <a:ea typeface="微软雅黑" panose="020B0503020204020204" charset="-122"/>
              </a:rPr>
              <a:t>37</a:t>
            </a:r>
            <a:endParaRPr lang="en-US" sz="4200" b="1">
              <a:solidFill>
                <a:srgbClr val="4472C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" name="文本框 17" descr="{&quot;isTemplate&quot;:true,&quot;type&quot;:&quot;text&quot;}"/>
          <p:cNvSpPr txBox="1"/>
          <p:nvPr/>
        </p:nvSpPr>
        <p:spPr>
          <a:xfrm>
            <a:off x="1895475" y="2152650"/>
            <a:ext cx="857250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平台验收项</a:t>
            </a:r>
            <a:endParaRPr lang="zh-CN" sz="135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" name="圆角矩形 18"/>
          <p:cNvSpPr/>
          <p:nvPr/>
        </p:nvSpPr>
        <p:spPr>
          <a:xfrm>
            <a:off x="4314825" y="1238250"/>
            <a:ext cx="3562350" cy="1333500"/>
          </a:xfrm>
          <a:prstGeom prst="roundRect">
            <a:avLst>
              <a:gd name="adj" fmla="val 7143"/>
            </a:avLst>
          </a:prstGeom>
          <a:solidFill>
            <a:srgbClr val="F4F7FC"/>
          </a:solidFill>
        </p:spPr>
        <p:txBody>
          <a:bodyPr/>
          <a:p/>
        </p:txBody>
      </p:sp>
      <p:sp>
        <p:nvSpPr>
          <p:cNvPr id="20" name="文本框 19" descr="{&quot;isTemplate&quot;:true,&quot;type&quot;:&quot;text&quot;}"/>
          <p:cNvSpPr txBox="1"/>
          <p:nvPr/>
        </p:nvSpPr>
        <p:spPr>
          <a:xfrm>
            <a:off x="5753100" y="1447800"/>
            <a:ext cx="685800" cy="6477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200" b="1">
                <a:solidFill>
                  <a:srgbClr val="4472C4"/>
                </a:solidFill>
                <a:latin typeface="微软雅黑" panose="020B0503020204020204" charset="-122"/>
                <a:ea typeface="微软雅黑" panose="020B0503020204020204" charset="-122"/>
              </a:rPr>
              <a:t>19</a:t>
            </a:r>
            <a:endParaRPr lang="en-US" sz="4200" b="1">
              <a:solidFill>
                <a:srgbClr val="4472C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文本框 20" descr="{&quot;isTemplate&quot;:true,&quot;type&quot;:&quot;text&quot;}"/>
          <p:cNvSpPr txBox="1"/>
          <p:nvPr/>
        </p:nvSpPr>
        <p:spPr>
          <a:xfrm>
            <a:off x="5581650" y="2152650"/>
            <a:ext cx="1028700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问题反馈闭环</a:t>
            </a:r>
            <a:endParaRPr lang="zh-CN" sz="135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2" name="圆角矩形 21"/>
          <p:cNvSpPr/>
          <p:nvPr/>
        </p:nvSpPr>
        <p:spPr>
          <a:xfrm>
            <a:off x="8086725" y="1238250"/>
            <a:ext cx="3571875" cy="1333500"/>
          </a:xfrm>
          <a:prstGeom prst="roundRect">
            <a:avLst>
              <a:gd name="adj" fmla="val 7143"/>
            </a:avLst>
          </a:prstGeom>
          <a:solidFill>
            <a:srgbClr val="F4F7FC"/>
          </a:solidFill>
        </p:spPr>
        <p:txBody>
          <a:bodyPr/>
          <a:p/>
        </p:txBody>
      </p:sp>
      <p:sp>
        <p:nvSpPr>
          <p:cNvPr id="23" name="文本框 22" descr="{&quot;isTemplate&quot;:true,&quot;type&quot;:&quot;text&quot;}"/>
          <p:cNvSpPr txBox="1"/>
          <p:nvPr/>
        </p:nvSpPr>
        <p:spPr>
          <a:xfrm>
            <a:off x="8963025" y="1447800"/>
            <a:ext cx="1828800" cy="6477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200" b="1">
                <a:solidFill>
                  <a:srgbClr val="4472C4"/>
                </a:solidFill>
                <a:latin typeface="微软雅黑" panose="020B0503020204020204" charset="-122"/>
                <a:ea typeface="微软雅黑" panose="020B0503020204020204" charset="-122"/>
              </a:rPr>
              <a:t>93.3%</a:t>
            </a:r>
            <a:endParaRPr lang="en-US" sz="4200" b="1">
              <a:solidFill>
                <a:srgbClr val="4472C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4" name="文本框 23" descr="{&quot;isTemplate&quot;:true,&quot;type&quot;:&quot;text&quot;}"/>
          <p:cNvSpPr txBox="1"/>
          <p:nvPr/>
        </p:nvSpPr>
        <p:spPr>
          <a:xfrm>
            <a:off x="9286875" y="2152650"/>
            <a:ext cx="1181100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6 </a:t>
            </a:r>
            <a:r>
              <a:rPr lang="zh-CN" sz="135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月单月通过率</a:t>
            </a:r>
            <a:endParaRPr lang="zh-CN" sz="135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" name="圆角矩形 24"/>
          <p:cNvSpPr/>
          <p:nvPr/>
        </p:nvSpPr>
        <p:spPr>
          <a:xfrm>
            <a:off x="533400" y="2857500"/>
            <a:ext cx="11125200" cy="619125"/>
          </a:xfrm>
          <a:prstGeom prst="roundRect">
            <a:avLst>
              <a:gd name="adj" fmla="val 15385"/>
            </a:avLst>
          </a:prstGeom>
          <a:solidFill>
            <a:srgbClr val="052B7C"/>
          </a:solidFill>
        </p:spPr>
        <p:txBody>
          <a:bodyPr/>
          <a:p/>
        </p:txBody>
      </p:sp>
      <p:sp>
        <p:nvSpPr>
          <p:cNvPr id="26" name="文本框 25" descr="{&quot;isTemplate&quot;:true,&quot;type&quot;:&quot;text&quot;}"/>
          <p:cNvSpPr txBox="1"/>
          <p:nvPr/>
        </p:nvSpPr>
        <p:spPr>
          <a:xfrm>
            <a:off x="742950" y="3009900"/>
            <a:ext cx="10706100" cy="3143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入职以来</a:t>
            </a:r>
            <a:r>
              <a:rPr lang="en-US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lang="en-US" sz="13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37 </a:t>
            </a:r>
            <a:r>
              <a:rPr lang="zh-CN" sz="13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项验收</a:t>
            </a:r>
            <a:r>
              <a:rPr lang="en-US" sz="13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+ 19 </a:t>
            </a:r>
            <a:r>
              <a:rPr lang="zh-CN" sz="13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项问题反馈闭环</a:t>
            </a:r>
            <a:r>
              <a:rPr lang="zh-CN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，</a:t>
            </a:r>
            <a:r>
              <a:rPr lang="en-US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6 </a:t>
            </a:r>
            <a:r>
              <a:rPr lang="zh-CN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月单月通过率</a:t>
            </a:r>
            <a:r>
              <a:rPr lang="en-US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93.3% → </a:t>
            </a:r>
            <a:r>
              <a:rPr lang="zh-CN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把「供应商交付」变「可度量、可追溯、有退回机制」的质量门槛。</a:t>
            </a:r>
            <a:endParaRPr lang="zh-CN" sz="135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graphicFrame>
        <p:nvGraphicFramePr>
          <p:cNvPr id="27" name="表格 26"/>
          <p:cNvGraphicFramePr/>
          <p:nvPr/>
        </p:nvGraphicFramePr>
        <p:xfrm>
          <a:off x="533400" y="3810000"/>
          <a:ext cx="11094085" cy="2190750"/>
        </p:xfrm>
        <a:graphic>
          <a:graphicData uri="http://schemas.openxmlformats.org/drawingml/2006/table">
            <a:tbl>
              <a:tblPr/>
              <a:tblGrid>
                <a:gridCol w="1254760"/>
                <a:gridCol w="1995170"/>
                <a:gridCol w="1797050"/>
                <a:gridCol w="6047105"/>
              </a:tblGrid>
              <a:tr h="438150"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周期</a:t>
                      </a:r>
                      <a:endParaRPr sz="1125" b="1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3F3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问题反馈</a:t>
                      </a:r>
                      <a:endParaRPr sz="1125" b="1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3F3"/>
                    </a:solidFill>
                  </a:tcPr>
                </a:tc>
                <a:tc>
                  <a:txBody>
                    <a:bodyPr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产出</a:t>
                      </a:r>
                      <a:endParaRPr sz="1125" b="1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3F3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通过情况</a:t>
                      </a:r>
                      <a:endParaRPr sz="1125" b="1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3F3"/>
                    </a:solidFill>
                  </a:tcPr>
                </a:tc>
              </a:tr>
              <a:tr h="438150"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4 月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lang="en-US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8 </a:t>
                      </a:r>
                      <a:r>
                        <a:rPr lang="zh-CN" altLang="en-US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主要集中在</a:t>
                      </a:r>
                      <a:r>
                        <a:rPr lang="zh-CN" altLang="en-US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培训助手</a:t>
                      </a:r>
                      <a:endParaRPr lang="zh-CN" altLang="en-US"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lang="en-US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4 </a:t>
                      </a:r>
                      <a:r>
                        <a:rPr lang="zh-CN" altLang="en-US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份测试报告</a:t>
                      </a:r>
                      <a:endParaRPr lang="zh-CN" altLang="en-US"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lang="zh-CN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共计</a:t>
                      </a:r>
                      <a:r>
                        <a:rPr lang="en-US" altLang="zh-CN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 10 </a:t>
                      </a:r>
                      <a:r>
                        <a:rPr lang="zh-CN" altLang="en-US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项，未通过</a:t>
                      </a:r>
                      <a:r>
                        <a:rPr lang="en-US" altLang="zh-CN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 1 </a:t>
                      </a:r>
                      <a:r>
                        <a:rPr lang="zh-CN" altLang="en-US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项（</a:t>
                      </a:r>
                      <a:r>
                        <a:rPr lang="zh-CN" altLang="en-US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视频生成）</a:t>
                      </a:r>
                      <a:endParaRPr lang="zh-CN" altLang="en-US"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38150"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5 月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3</a:t>
                      </a:r>
                      <a:r>
                        <a:rPr lang="en-US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 </a:t>
                      </a:r>
                      <a:r>
                        <a:rPr lang="zh-CN" altLang="en-US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主要集中在说明书助手</a:t>
                      </a:r>
                      <a:endParaRPr lang="zh-CN" altLang="en-US"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lang="en-US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9 </a:t>
                      </a:r>
                      <a:r>
                        <a:rPr lang="zh-CN" altLang="en-US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份</a:t>
                      </a:r>
                      <a:r>
                        <a:rPr lang="zh-CN" altLang="en-US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测试报告</a:t>
                      </a:r>
                      <a:endParaRPr lang="zh-CN" altLang="en-US"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lang="zh-CN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共计</a:t>
                      </a:r>
                      <a:r>
                        <a:rPr lang="en-US" altLang="zh-CN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 176 </a:t>
                      </a:r>
                      <a:r>
                        <a:rPr lang="zh-CN" altLang="en-US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项（</a:t>
                      </a:r>
                      <a:r>
                        <a:rPr lang="en-US" altLang="zh-CN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 </a:t>
                      </a:r>
                      <a:r>
                        <a:rPr lang="zh-CN" altLang="en-US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其中：权限模块</a:t>
                      </a:r>
                      <a:r>
                        <a:rPr lang="en-US" altLang="zh-CN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73</a:t>
                      </a:r>
                      <a:r>
                        <a:rPr lang="zh-CN" altLang="en-US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项、说明书助手</a:t>
                      </a:r>
                      <a:r>
                        <a:rPr lang="en-US" altLang="zh-CN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62</a:t>
                      </a:r>
                      <a:r>
                        <a:rPr lang="zh-CN" altLang="en-US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项、视频生成</a:t>
                      </a:r>
                      <a:r>
                        <a:rPr lang="en-US" altLang="zh-CN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35</a:t>
                      </a:r>
                      <a:r>
                        <a:rPr lang="zh-CN" altLang="en-US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项</a:t>
                      </a:r>
                      <a:r>
                        <a:rPr lang="en-US" altLang="zh-CN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 </a:t>
                      </a:r>
                      <a:r>
                        <a:rPr lang="zh-CN" altLang="en-US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）</a:t>
                      </a:r>
                      <a:endParaRPr lang="zh-CN" altLang="en-US"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  <a:sym typeface="+mn-ea"/>
                      </a:endParaRPr>
                    </a:p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lang="zh-CN" altLang="en-US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未通过</a:t>
                      </a:r>
                      <a:r>
                        <a:rPr lang="en-US" altLang="zh-CN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 18 </a:t>
                      </a:r>
                      <a:r>
                        <a:rPr lang="zh-CN" altLang="en-US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项，集中在说明书助手（文件参数提取、产品对比问题）以及知识库权限</a:t>
                      </a:r>
                      <a:r>
                        <a:rPr lang="zh-CN" altLang="en-US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模块</a:t>
                      </a:r>
                      <a:endParaRPr lang="zh-CN" altLang="en-US"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  <a:sym typeface="+mn-ea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38150"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6 月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8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lang="en-US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18</a:t>
                      </a:r>
                      <a:endParaRPr lang="en-US"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lang="zh-CN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共计</a:t>
                      </a:r>
                      <a:r>
                        <a:rPr lang="en-US" altLang="zh-CN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 21</a:t>
                      </a:r>
                      <a:r>
                        <a:rPr lang="zh-CN" altLang="en-US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项，未通过</a:t>
                      </a:r>
                      <a:r>
                        <a:rPr lang="en-US" altLang="zh-CN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 2 </a:t>
                      </a:r>
                      <a:r>
                        <a:rPr lang="zh-CN" altLang="en-US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项（智能体管理）</a:t>
                      </a:r>
                      <a:endParaRPr lang="en-US" sz="1125" b="1">
                        <a:solidFill>
                          <a:srgbClr val="4472C4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38150"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7 月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lang="en-US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12</a:t>
                      </a:r>
                      <a:endParaRPr lang="en-US"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5 轮验收（8 项）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—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28" name="文本框 27" descr="{&quot;isTemplate&quot;:true,&quot;type&quot;:&quot;text&quot;}"/>
          <p:cNvSpPr txBox="1"/>
          <p:nvPr/>
        </p:nvSpPr>
        <p:spPr>
          <a:xfrm>
            <a:off x="533400" y="6362700"/>
            <a:ext cx="1285875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入职以来</a:t>
            </a:r>
            <a:r>
              <a:rPr lang="en-US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 AI </a:t>
            </a:r>
            <a:r>
              <a:rPr lang="zh-CN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工作复盘</a:t>
            </a:r>
            <a:endParaRPr lang="zh-CN" sz="1050">
              <a:solidFill>
                <a:srgbClr val="88888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9" name="文本框 28" descr="{&quot;isTemplate&quot;:true,&quot;type&quot;:&quot;text&quot;}"/>
          <p:cNvSpPr txBox="1"/>
          <p:nvPr/>
        </p:nvSpPr>
        <p:spPr>
          <a:xfrm>
            <a:off x="11229975" y="6362700"/>
            <a:ext cx="428625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10 / 13</a:t>
            </a:r>
            <a:endParaRPr lang="en-US" sz="1050">
              <a:solidFill>
                <a:srgbClr val="88888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0" name="" descr="&lt;Slide style={{ width:'1280px', height:'720px', position:'relative', background:'#FFFFFF', fontFamily:'微软雅黑' }}&gt;&#10;  &lt;Box style={{ position:'absolute', left:56, top:36, flexDirection:'row', alignItems:'center', gap:12 }}&gt;&#10;    &lt;Box style={{ width:8, height:34, background:'#4472C4' }} /&gt;&#10;    &lt;Text style={{ fontSize:30, fontWeight:'bold', color:'#052B7C' }}&gt;五、智能体矩阵与内容生成&lt;/Text&gt;&#10;  &lt;/Box&gt;&#10;&#10;  &lt;Box style={{ position:'absolute', left:56, top:120, right:56 }}&gt;&#10;    &lt;Table&#10;      style={{ width:'100%', height:440 }}&#10;      defaultTextStyle={{ fontSize:15, textAlign:'center', color:'#1A1A1A' }}&#10;      defaultCellStyle={{ border:{ left:{width:1,color:'#CCCCCC'}, right:{width:1,color:'#CCCCCC'}, top:{width:1,color:'#CCCCCC'}, bottom:{width:1,color:'#CCCCCC'} } }}&#10;      cells={[&#10;        [ {text:'智能体', textStyle:{bold:true,color:'#1A1A1A'}, cellStyle:{background:{color:'#DAE3F3'}}},&#10;          {text:'面向', textStyle:{bold:true,color:'#1A1A1A'}, cellStyle:{background:{color:'#DAE3F3'}}},&#10;          {text:'知识规模', textStyle:{bold:true,color:'#1A1A1A'}, cellStyle:{background:{color:'#DAE3F3'}}},&#10;          {text:'结构规模', textStyle:{bold:true,color:'#1A1A1A'}, cellStyle:{background:{color:'#DAE3F3'}}},&#10;          {text:'状态', textStyle:{bold:true,color:'#1A1A1A'}, cellStyle:{background:{color:'#DAE3F3'}}},&#10;          {text:'核心价值', textStyle:{bold:true,color:'#1A1A1A',textAlign:'left'}, cellStyle:{background:{color:'#DAE3F3'}}} ],&#10;        [ '说明书助手', '销售 / 业务', 'TDS 产品库', '6 模式 / 16 节提示词', '已上线', {text:'TDS 咨询秒级应答、选型有据不误导客户', textStyle:{textAlign:'left'}} ],&#10;        [ '销售 SOP / 全能助手', '销售', '7 份 SOP 源文件', '6 场景触发', '已上线', {text:'销售动作标准化、话术统一、新人即上手', textStyle:{textAlign:'left'}} ],&#10;        [ '业务智能助理', '营销中心 / 业务', 'SKILL.md + templates + role', '3 阶段 / 4 岗位自适应', {text:'迭代中 v5', textStyle:{color:'#C0504D',bold:true}}, {text:'客户问题全流程 AI 化 + 合规红线校验', textStyle:{textAlign:'left'}} ],&#10;        [ '应用工艺助手', '研发为主 + 业务', '工艺手册 + 研发培训', '20+ 疵病排查', '已上线', {text:'染整专业问答、客户质疑标准答案', textStyle:{textAlign:'left'}} ],&#10;      ]}&#10;    /&gt;&#10;  &lt;/Box&gt;&#10;&#10;  &lt;Box style={{ position:'absolute', left:56, top:568, right:56 }}&gt;&#10;    &lt;Text style={{ fontSize:16, color:'#1A1A1A', lineHeight:1.5 }}&gt;另有「培训助手」「视频 / 图片生成助手」等能力，构成平台智能体矩阵；06-12 提出 seedance/seedream 独立化诉求，07-14 图片 · 视频生成独立应用落地（营销 / 销售自助生产素材）。&lt;/Text&gt;&#10;  &lt;/Box&gt;&#10;&#10;  &lt;Box style={{ position:'absolute', left:56, top:668, right:56, flexDirection:'row', justifyContent:'space-between' }}&gt;&#10;    &lt;Text style={{ fontSize:14, color:'#888' }}&gt;入职以来 AI 工作复盘&lt;/Text&gt;&#10;    &lt;Text style={{ fontSize:14, color:'#888' }}&gt;11 / 13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矩形 3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id="32" name="矩形 31"/>
          <p:cNvSpPr/>
          <p:nvPr/>
        </p:nvSpPr>
        <p:spPr>
          <a:xfrm>
            <a:off x="533400" y="352425"/>
            <a:ext cx="76200" cy="323850"/>
          </a:xfrm>
          <a:prstGeom prst="rect">
            <a:avLst/>
          </a:prstGeom>
          <a:solidFill>
            <a:srgbClr val="4472C4"/>
          </a:solidFill>
        </p:spPr>
        <p:txBody>
          <a:bodyPr/>
          <a:p/>
        </p:txBody>
      </p:sp>
      <p:sp>
        <p:nvSpPr>
          <p:cNvPr id="33" name="文本框 32" descr="{&quot;isTemplate&quot;:true,&quot;type&quot;:&quot;text&quot;}"/>
          <p:cNvSpPr txBox="1"/>
          <p:nvPr/>
        </p:nvSpPr>
        <p:spPr>
          <a:xfrm>
            <a:off x="723900" y="342900"/>
            <a:ext cx="3429000" cy="3429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五、智能体矩阵与内容生成</a:t>
            </a:r>
            <a:endParaRPr lang="zh-CN" sz="2250" b="1">
              <a:solidFill>
                <a:srgbClr val="052B7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graphicFrame>
        <p:nvGraphicFramePr>
          <p:cNvPr id="34" name="表格 33"/>
          <p:cNvGraphicFramePr/>
          <p:nvPr/>
        </p:nvGraphicFramePr>
        <p:xfrm>
          <a:off x="533400" y="1143000"/>
          <a:ext cx="11125200" cy="4191000"/>
        </p:xfrm>
        <a:graphic>
          <a:graphicData uri="http://schemas.openxmlformats.org/drawingml/2006/table">
            <a:tbl>
              <a:tblPr/>
              <a:tblGrid>
                <a:gridCol w="1661671"/>
                <a:gridCol w="1339556"/>
                <a:gridCol w="2372547"/>
                <a:gridCol w="1739423"/>
                <a:gridCol w="861936"/>
                <a:gridCol w="3150067"/>
              </a:tblGrid>
              <a:tr h="838200"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智能体</a:t>
                      </a:r>
                      <a:endParaRPr sz="1125" b="1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3F3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面向</a:t>
                      </a:r>
                      <a:endParaRPr sz="1125" b="1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3F3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知识规模</a:t>
                      </a:r>
                      <a:endParaRPr sz="1125" b="1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3F3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结构规模</a:t>
                      </a:r>
                      <a:endParaRPr sz="1125" b="1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3F3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状态</a:t>
                      </a:r>
                      <a:endParaRPr sz="1125" b="1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3F3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核心价值</a:t>
                      </a:r>
                      <a:endParaRPr sz="1125" b="1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3F3"/>
                    </a:solidFill>
                  </a:tcPr>
                </a:tc>
              </a:tr>
              <a:tr h="838200"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说明书助手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销售 / 业务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lang="zh-CN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目前仅</a:t>
                      </a: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TDS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6 模式 / 16 节提示词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已上线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TDS 咨询秒级应答、选型有据不误导客户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38200"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销售 SOP 助手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销售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SOP 源文件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6 场景触发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已上线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销售动作标准化、话术统一、新人即上手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38200"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业务智能助理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营销中心 / 业务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SKILL.md + templates + role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3 阶段 / 4 岗位自适应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C0504D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迭代中 v5</a:t>
                      </a:r>
                      <a:endParaRPr sz="1125" b="1">
                        <a:solidFill>
                          <a:srgbClr val="C0504D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客户问题全流程 AI 化 + 合规红线校验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38200"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工艺</a:t>
                      </a:r>
                      <a:r>
                        <a:rPr lang="zh-CN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流程</a:t>
                      </a: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助手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研发为主 + 业务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工艺手册 + 研发培训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20+ 疵病排查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已上线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染整专业问答、客户质疑标准答案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35" name="文本框 34" descr="{&quot;isTemplate&quot;:true,&quot;type&quot;:&quot;text&quot;}"/>
          <p:cNvSpPr txBox="1"/>
          <p:nvPr/>
        </p:nvSpPr>
        <p:spPr>
          <a:xfrm>
            <a:off x="533400" y="5410200"/>
            <a:ext cx="11125200" cy="5524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另有「培训助手」「视频</a:t>
            </a: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图片生成助手」等能力，构成平台智能体矩阵；</a:t>
            </a: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06-12 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提出</a:t>
            </a: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seedance/seedream 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独立化诉求，</a:t>
            </a: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07-14 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图片</a:t>
            </a: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视频生成独立应用落地（营销</a:t>
            </a: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销售自助生产素材）。</a:t>
            </a:r>
            <a:endParaRPr lang="zh-CN" sz="120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6" name="文本框 35" descr="{&quot;isTemplate&quot;:true,&quot;type&quot;:&quot;text&quot;}"/>
          <p:cNvSpPr txBox="1"/>
          <p:nvPr/>
        </p:nvSpPr>
        <p:spPr>
          <a:xfrm>
            <a:off x="533400" y="6362700"/>
            <a:ext cx="1285875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入职以来</a:t>
            </a:r>
            <a:r>
              <a:rPr lang="en-US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 AI </a:t>
            </a:r>
            <a:r>
              <a:rPr lang="zh-CN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工作复盘</a:t>
            </a:r>
            <a:endParaRPr lang="zh-CN" sz="1050">
              <a:solidFill>
                <a:srgbClr val="88888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7" name="文本框 36" descr="{&quot;isTemplate&quot;:true,&quot;type&quot;:&quot;text&quot;}"/>
          <p:cNvSpPr txBox="1"/>
          <p:nvPr/>
        </p:nvSpPr>
        <p:spPr>
          <a:xfrm>
            <a:off x="11229975" y="6362700"/>
            <a:ext cx="428625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11 / 13</a:t>
            </a:r>
            <a:endParaRPr lang="en-US" sz="1050">
              <a:solidFill>
                <a:srgbClr val="88888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8" name="" descr="&lt;Slide style={{ width:'1280px', height:'720px', position:'relative', background:'#FFFFFF', fontFamily:'微软雅黑' }}&gt;&#10;  &lt;Box style={{ position:'absolute', left:56, top:36, flexDirection:'row', alignItems:'center', gap:12 }}&gt;&#10;    &lt;Box style={{ width:8, height:34, background:'#4472C4' }} /&gt;&#10;    &lt;Text style={{ fontSize:30, fontWeight:'bold', color:'#052B7C' }}&gt;六、下阶段计划与需支持事项&lt;/Text&gt;&#10;  &lt;/Box&gt;&#10;&#10;  &lt;Box style={{ position:'absolute', left:56, top:130, right:56, flexDirection:'row', gap:36 }}&gt;&#10;    &lt;Box style={{ flex:1.4, flexDirection:'column', gap:14 }}&gt;&#10;      &lt;Text style={{ fontSize:20, fontWeight:'bold', color:'#052B7C' }}&gt;下阶段计划&lt;/Text&gt;&#10;      {['业务智能助理上线前完成检索稳定性测试，沉淀为营销中心标准智能体','推动供应商修复待解项（图片变视频范围、竖屏不支持）','建立工具活跃度 / 采纳率轻量看板','补采采购 / 船务「节省工时」量化，用于增量价值申报','Tax_check / Data_masking 持续运营深化','价格爬取 Skill 回采购培训，巩固「自建 Skill」能力'].map((t, i) =&gt; (&#10;        &lt;Box key={i} style={{ flexDirection:'row', alignItems:'flex-start', gap:12 }}&gt;&#10;          &lt;Box style={{ width:8, height:8, background:'#4472C4', borderRadius:2, marginTop:8 }} /&gt;&#10;          &lt;Text style={{ fontSize:16, color:'#1A1A1A', lineHeight:1.5 }}&gt;{t}&lt;/Text&gt;&#10;        &lt;/Box&gt;&#10;      ))}&#10;    &lt;/Box&gt;&#10;&#10;    &lt;Box style={{ flex:1, flexDirection:'column', gap:14 }}&gt;&#10;      &lt;Text style={{ fontSize:20, fontWeight:'bold', color:'#C0504D' }}&gt;需支持事项&lt;/Text&gt;&#10;      {['业务智能助理检索测试需营销中心提供真实客户问题样本','待解项修复依赖供应商排期，需领导推动优先级','工时量化需业务方配合记录使用前后耗时','采纳率看板需 IT / 数据侧轻量支持'].map((t, i) =&gt; (&#10;        &lt;Box key={i} style={{ flexDirection:'row', alignItems:'flex-start', gap:12 }}&gt;&#10;          &lt;Box style={{ width:8, height:8, background:'#C0504D', borderRadius:2, marginTop:8 }} /&gt;&#10;          &lt;Text style={{ fontSize:16, color:'#1A1A1A', lineHeight:1.5 }}&gt;{t}&lt;/Text&gt;&#10;        &lt;/Box&gt;&#10;      ))}&#10;    &lt;/Box&gt;&#10;  &lt;/Box&gt;&#10;&#10;  &lt;Box style={{ position:'absolute', left:56, top:668, right:56, flexDirection:'row', justifyContent:'space-between' }}&gt;&#10;    &lt;Text style={{ fontSize:14, color:'#888' }}&gt;入职以来 AI 工作复盘&lt;/Text&gt;&#10;    &lt;Text style={{ fontSize:14, color:'#888' }}&gt;12 / 13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矩形 3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id="40" name="矩形 39"/>
          <p:cNvSpPr/>
          <p:nvPr/>
        </p:nvSpPr>
        <p:spPr>
          <a:xfrm>
            <a:off x="533400" y="352425"/>
            <a:ext cx="76200" cy="323850"/>
          </a:xfrm>
          <a:prstGeom prst="rect">
            <a:avLst/>
          </a:prstGeom>
          <a:solidFill>
            <a:srgbClr val="4472C4"/>
          </a:solidFill>
        </p:spPr>
        <p:txBody>
          <a:bodyPr/>
          <a:p/>
        </p:txBody>
      </p:sp>
      <p:sp>
        <p:nvSpPr>
          <p:cNvPr id="41" name="文本框 40" descr="{&quot;isTemplate&quot;:true,&quot;type&quot;:&quot;text&quot;}"/>
          <p:cNvSpPr txBox="1"/>
          <p:nvPr/>
        </p:nvSpPr>
        <p:spPr>
          <a:xfrm>
            <a:off x="723900" y="342900"/>
            <a:ext cx="3714750" cy="3429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六、下阶段计划与需支持事项</a:t>
            </a:r>
            <a:endParaRPr lang="zh-CN" sz="2250" b="1">
              <a:solidFill>
                <a:srgbClr val="052B7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2" name="文本框 41" descr="{&quot;isTemplate&quot;:true,&quot;type&quot;:&quot;text&quot;}"/>
          <p:cNvSpPr txBox="1"/>
          <p:nvPr/>
        </p:nvSpPr>
        <p:spPr>
          <a:xfrm>
            <a:off x="533400" y="1238250"/>
            <a:ext cx="6286500" cy="2286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下阶段计划</a:t>
            </a:r>
            <a:endParaRPr lang="zh-CN" sz="1500" b="1">
              <a:solidFill>
                <a:srgbClr val="052B7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3" name="圆角矩形 42"/>
          <p:cNvSpPr/>
          <p:nvPr/>
        </p:nvSpPr>
        <p:spPr>
          <a:xfrm>
            <a:off x="533400" y="1676400"/>
            <a:ext cx="76200" cy="76200"/>
          </a:xfrm>
          <a:prstGeom prst="roundRect">
            <a:avLst>
              <a:gd name="adj" fmla="val 25000"/>
            </a:avLst>
          </a:prstGeom>
          <a:solidFill>
            <a:srgbClr val="4472C4"/>
          </a:solidFill>
        </p:spPr>
        <p:txBody>
          <a:bodyPr/>
          <a:p/>
        </p:txBody>
      </p:sp>
      <p:sp>
        <p:nvSpPr>
          <p:cNvPr id="44" name="文本框 43" descr="{&quot;isTemplate&quot;:true,&quot;type&quot;:&quot;text&quot;}"/>
          <p:cNvSpPr txBox="1"/>
          <p:nvPr/>
        </p:nvSpPr>
        <p:spPr>
          <a:xfrm>
            <a:off x="723900" y="1600200"/>
            <a:ext cx="4724400" cy="276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业务智能助理上线前完成检索稳定性测试，沉淀为营销中心标准智能体</a:t>
            </a:r>
            <a:endParaRPr lang="zh-CN" sz="120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5" name="圆角矩形 44"/>
          <p:cNvSpPr/>
          <p:nvPr/>
        </p:nvSpPr>
        <p:spPr>
          <a:xfrm>
            <a:off x="533400" y="2085975"/>
            <a:ext cx="76200" cy="76200"/>
          </a:xfrm>
          <a:prstGeom prst="roundRect">
            <a:avLst>
              <a:gd name="adj" fmla="val 25000"/>
            </a:avLst>
          </a:prstGeom>
          <a:solidFill>
            <a:srgbClr val="4472C4"/>
          </a:solidFill>
        </p:spPr>
        <p:txBody>
          <a:bodyPr/>
          <a:p/>
        </p:txBody>
      </p:sp>
      <p:sp>
        <p:nvSpPr>
          <p:cNvPr id="46" name="文本框 45" descr="{&quot;isTemplate&quot;:true,&quot;type&quot;:&quot;text&quot;}"/>
          <p:cNvSpPr txBox="1"/>
          <p:nvPr/>
        </p:nvSpPr>
        <p:spPr>
          <a:xfrm>
            <a:off x="723900" y="2009775"/>
            <a:ext cx="3810000" cy="276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推动供应商修复待解项（图片变视频范围、竖屏不支持）</a:t>
            </a:r>
            <a:endParaRPr lang="zh-CN" sz="120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7" name="圆角矩形 46"/>
          <p:cNvSpPr/>
          <p:nvPr/>
        </p:nvSpPr>
        <p:spPr>
          <a:xfrm>
            <a:off x="533400" y="2495550"/>
            <a:ext cx="76200" cy="76200"/>
          </a:xfrm>
          <a:prstGeom prst="roundRect">
            <a:avLst>
              <a:gd name="adj" fmla="val 25000"/>
            </a:avLst>
          </a:prstGeom>
          <a:solidFill>
            <a:srgbClr val="4472C4"/>
          </a:solidFill>
        </p:spPr>
        <p:txBody>
          <a:bodyPr/>
          <a:p/>
        </p:txBody>
      </p:sp>
      <p:sp>
        <p:nvSpPr>
          <p:cNvPr id="48" name="文本框 47" descr="{&quot;isTemplate&quot;:true,&quot;type&quot;:&quot;text&quot;}"/>
          <p:cNvSpPr txBox="1"/>
          <p:nvPr/>
        </p:nvSpPr>
        <p:spPr>
          <a:xfrm>
            <a:off x="723900" y="2419350"/>
            <a:ext cx="2295525" cy="276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建立工具活跃度</a:t>
            </a: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采纳率轻量看板</a:t>
            </a:r>
            <a:endParaRPr lang="zh-CN" sz="120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9" name="圆角矩形 48"/>
          <p:cNvSpPr/>
          <p:nvPr/>
        </p:nvSpPr>
        <p:spPr>
          <a:xfrm>
            <a:off x="533400" y="2905125"/>
            <a:ext cx="76200" cy="76200"/>
          </a:xfrm>
          <a:prstGeom prst="roundRect">
            <a:avLst>
              <a:gd name="adj" fmla="val 25000"/>
            </a:avLst>
          </a:prstGeom>
          <a:solidFill>
            <a:srgbClr val="4472C4"/>
          </a:solidFill>
        </p:spPr>
        <p:txBody>
          <a:bodyPr/>
          <a:p/>
        </p:txBody>
      </p:sp>
      <p:sp>
        <p:nvSpPr>
          <p:cNvPr id="50" name="文本框 49" descr="{&quot;isTemplate&quot;:true,&quot;type&quot;:&quot;text&quot;}"/>
          <p:cNvSpPr txBox="1"/>
          <p:nvPr/>
        </p:nvSpPr>
        <p:spPr>
          <a:xfrm>
            <a:off x="723900" y="2828925"/>
            <a:ext cx="3667125" cy="276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补采采购</a:t>
            </a: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船务「节省工时」量化，用于增量价值申报</a:t>
            </a:r>
            <a:endParaRPr lang="zh-CN" sz="120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1" name="圆角矩形 50"/>
          <p:cNvSpPr/>
          <p:nvPr/>
        </p:nvSpPr>
        <p:spPr>
          <a:xfrm>
            <a:off x="533400" y="3314700"/>
            <a:ext cx="76200" cy="76200"/>
          </a:xfrm>
          <a:prstGeom prst="roundRect">
            <a:avLst>
              <a:gd name="adj" fmla="val 25000"/>
            </a:avLst>
          </a:prstGeom>
          <a:solidFill>
            <a:srgbClr val="4472C4"/>
          </a:solidFill>
        </p:spPr>
        <p:txBody>
          <a:bodyPr/>
          <a:p/>
        </p:txBody>
      </p:sp>
      <p:sp>
        <p:nvSpPr>
          <p:cNvPr id="52" name="文本框 51" descr="{&quot;isTemplate&quot;:true,&quot;type&quot;:&quot;text&quot;}"/>
          <p:cNvSpPr txBox="1"/>
          <p:nvPr/>
        </p:nvSpPr>
        <p:spPr>
          <a:xfrm>
            <a:off x="723900" y="3238500"/>
            <a:ext cx="2762250" cy="276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Tax_check / Data_masking 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持续运营深化</a:t>
            </a:r>
            <a:endParaRPr lang="zh-CN" sz="120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3" name="圆角矩形 52"/>
          <p:cNvSpPr/>
          <p:nvPr/>
        </p:nvSpPr>
        <p:spPr>
          <a:xfrm>
            <a:off x="533400" y="3724275"/>
            <a:ext cx="76200" cy="76200"/>
          </a:xfrm>
          <a:prstGeom prst="roundRect">
            <a:avLst>
              <a:gd name="adj" fmla="val 25000"/>
            </a:avLst>
          </a:prstGeom>
          <a:solidFill>
            <a:srgbClr val="4472C4"/>
          </a:solidFill>
        </p:spPr>
        <p:txBody>
          <a:bodyPr/>
          <a:p/>
        </p:txBody>
      </p:sp>
      <p:sp>
        <p:nvSpPr>
          <p:cNvPr id="54" name="文本框 53" descr="{&quot;isTemplate&quot;:true,&quot;type&quot;:&quot;text&quot;}"/>
          <p:cNvSpPr txBox="1"/>
          <p:nvPr/>
        </p:nvSpPr>
        <p:spPr>
          <a:xfrm>
            <a:off x="723900" y="3648075"/>
            <a:ext cx="3419475" cy="276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价格爬取</a:t>
            </a: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Skill 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回采购培训，巩固「自建</a:t>
            </a: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Skill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」能力</a:t>
            </a:r>
            <a:endParaRPr lang="zh-CN" sz="120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5" name="文本框 54" descr="{&quot;isTemplate&quot;:true,&quot;type&quot;:&quot;text&quot;}"/>
          <p:cNvSpPr txBox="1"/>
          <p:nvPr/>
        </p:nvSpPr>
        <p:spPr>
          <a:xfrm>
            <a:off x="7162800" y="1238250"/>
            <a:ext cx="4495800" cy="2286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C0504D"/>
                </a:solidFill>
                <a:latin typeface="微软雅黑" panose="020B0503020204020204" charset="-122"/>
                <a:ea typeface="微软雅黑" panose="020B0503020204020204" charset="-122"/>
              </a:rPr>
              <a:t>需支持事项</a:t>
            </a:r>
            <a:endParaRPr lang="zh-CN" sz="1500" b="1">
              <a:solidFill>
                <a:srgbClr val="C0504D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6" name="圆角矩形 55"/>
          <p:cNvSpPr/>
          <p:nvPr/>
        </p:nvSpPr>
        <p:spPr>
          <a:xfrm>
            <a:off x="7162800" y="1676400"/>
            <a:ext cx="76200" cy="76200"/>
          </a:xfrm>
          <a:prstGeom prst="roundRect">
            <a:avLst>
              <a:gd name="adj" fmla="val 25000"/>
            </a:avLst>
          </a:prstGeom>
          <a:solidFill>
            <a:srgbClr val="C0504D"/>
          </a:solidFill>
        </p:spPr>
        <p:txBody>
          <a:bodyPr/>
          <a:p/>
        </p:txBody>
      </p:sp>
      <p:sp>
        <p:nvSpPr>
          <p:cNvPr id="57" name="文本框 56" descr="{&quot;isTemplate&quot;:true,&quot;type&quot;:&quot;text&quot;}"/>
          <p:cNvSpPr txBox="1"/>
          <p:nvPr/>
        </p:nvSpPr>
        <p:spPr>
          <a:xfrm>
            <a:off x="7353300" y="1600200"/>
            <a:ext cx="3810000" cy="276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业务智能助理检索测试需营销中心提供真实客户问题样本</a:t>
            </a:r>
            <a:endParaRPr lang="zh-CN" sz="120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8" name="圆角矩形 57"/>
          <p:cNvSpPr/>
          <p:nvPr/>
        </p:nvSpPr>
        <p:spPr>
          <a:xfrm>
            <a:off x="7162800" y="2085975"/>
            <a:ext cx="76200" cy="76200"/>
          </a:xfrm>
          <a:prstGeom prst="roundRect">
            <a:avLst>
              <a:gd name="adj" fmla="val 25000"/>
            </a:avLst>
          </a:prstGeom>
          <a:solidFill>
            <a:srgbClr val="C0504D"/>
          </a:solidFill>
        </p:spPr>
        <p:txBody>
          <a:bodyPr/>
          <a:p/>
        </p:txBody>
      </p:sp>
      <p:sp>
        <p:nvSpPr>
          <p:cNvPr id="59" name="文本框 58" descr="{&quot;isTemplate&quot;:true,&quot;type&quot;:&quot;text&quot;}"/>
          <p:cNvSpPr txBox="1"/>
          <p:nvPr/>
        </p:nvSpPr>
        <p:spPr>
          <a:xfrm>
            <a:off x="7353300" y="2009775"/>
            <a:ext cx="3200400" cy="276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待解项修复依赖供应商排期，需领导推动优先级</a:t>
            </a:r>
            <a:endParaRPr lang="zh-CN" sz="120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0" name="圆角矩形 59"/>
          <p:cNvSpPr/>
          <p:nvPr/>
        </p:nvSpPr>
        <p:spPr>
          <a:xfrm>
            <a:off x="7162800" y="2495550"/>
            <a:ext cx="76200" cy="76200"/>
          </a:xfrm>
          <a:prstGeom prst="roundRect">
            <a:avLst>
              <a:gd name="adj" fmla="val 25000"/>
            </a:avLst>
          </a:prstGeom>
          <a:solidFill>
            <a:srgbClr val="C0504D"/>
          </a:solidFill>
        </p:spPr>
        <p:txBody>
          <a:bodyPr/>
          <a:p/>
        </p:txBody>
      </p:sp>
      <p:sp>
        <p:nvSpPr>
          <p:cNvPr id="61" name="文本框 60" descr="{&quot;isTemplate&quot;:true,&quot;type&quot;:&quot;text&quot;}"/>
          <p:cNvSpPr txBox="1"/>
          <p:nvPr/>
        </p:nvSpPr>
        <p:spPr>
          <a:xfrm>
            <a:off x="7353300" y="2419350"/>
            <a:ext cx="2743200" cy="276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工时量化需业务方配合记录使用前后耗时</a:t>
            </a:r>
            <a:endParaRPr lang="zh-CN" sz="120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2" name="圆角矩形 61"/>
          <p:cNvSpPr/>
          <p:nvPr/>
        </p:nvSpPr>
        <p:spPr>
          <a:xfrm>
            <a:off x="7162800" y="2905125"/>
            <a:ext cx="76200" cy="76200"/>
          </a:xfrm>
          <a:prstGeom prst="roundRect">
            <a:avLst>
              <a:gd name="adj" fmla="val 25000"/>
            </a:avLst>
          </a:prstGeom>
          <a:solidFill>
            <a:srgbClr val="C0504D"/>
          </a:solidFill>
        </p:spPr>
        <p:txBody>
          <a:bodyPr/>
          <a:p/>
        </p:txBody>
      </p:sp>
      <p:sp>
        <p:nvSpPr>
          <p:cNvPr id="63" name="文本框 62" descr="{&quot;isTemplate&quot;:true,&quot;type&quot;:&quot;text&quot;}"/>
          <p:cNvSpPr txBox="1"/>
          <p:nvPr/>
        </p:nvSpPr>
        <p:spPr>
          <a:xfrm>
            <a:off x="7353300" y="2828925"/>
            <a:ext cx="2333625" cy="276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采纳率看板需</a:t>
            </a: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IT / 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数据侧轻量支持</a:t>
            </a:r>
            <a:endParaRPr lang="zh-CN" sz="120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4" name="文本框 63" descr="{&quot;isTemplate&quot;:true,&quot;type&quot;:&quot;text&quot;}"/>
          <p:cNvSpPr txBox="1"/>
          <p:nvPr/>
        </p:nvSpPr>
        <p:spPr>
          <a:xfrm>
            <a:off x="533400" y="6362700"/>
            <a:ext cx="1285875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入职以来</a:t>
            </a:r>
            <a:r>
              <a:rPr lang="en-US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 AI </a:t>
            </a:r>
            <a:r>
              <a:rPr lang="zh-CN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工作复盘</a:t>
            </a:r>
            <a:endParaRPr lang="zh-CN" sz="1050">
              <a:solidFill>
                <a:srgbClr val="88888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5" name="文本框 64" descr="{&quot;isTemplate&quot;:true,&quot;type&quot;:&quot;text&quot;}"/>
          <p:cNvSpPr txBox="1"/>
          <p:nvPr/>
        </p:nvSpPr>
        <p:spPr>
          <a:xfrm>
            <a:off x="11229975" y="6362700"/>
            <a:ext cx="428625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12 / 13</a:t>
            </a:r>
            <a:endParaRPr lang="en-US" sz="1050">
              <a:solidFill>
                <a:srgbClr val="88888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66" name="" descr="&lt;Slide style={{ width:'1280px', height:'720px', position:'relative', background:'#FFFFFF', fontFamily:'微软雅黑' }}&gt;&#10;  &lt;Box style={{ position:'absolute', left:0, top:300, width:1280, height:230, background:'#4472C4', justifyContent:'center', alignItems:'center' }}&gt;&#10;    &lt;Text style={{ fontSize:56, fontWeight:'bold', color:'#FFFFFF' }}&gt;汇报完毕！&lt;/Text&gt;&#10;    &lt;Text style={{ fontSize:26, color:'#FFFFFF', marginTop:16 }}&gt;没有绩效，一切无效&lt;/Text&gt;&#10;  &lt;/Box&gt;&#10;&#10;  &lt;Box style={{ position:'absolute', left:80, top:120, flexDirection:'row', alignItems:'center', gap:12 }}&gt;&#10;    &lt;Box style={{ width:48, height:3, background:'#4472C4' }} /&gt;&#10;    &lt;Text style={{ fontSize:16, color:'#052B7C' }}&gt;助力企业利润持续增长&lt;/Text&gt;&#10;  &lt;/Box&gt;&#10;&#10;  &lt;Box style={{ position:'absolute', left:80, top:580, flexDirection:'column', gap:10 }}&gt;&#10;    &lt;Text style={{ fontSize:18, color:'#052B7C' }}&gt;部　　门：AI 技术专员（宏昊AI助手平台）&lt;/Text&gt;&#10;    &lt;Text style={{ fontSize:18, color:'#052B7C' }}&gt;汇报人：肖聪&lt;/Text&gt;&#10;    &lt;Text style={{ fontSize:18, color:'#052B7C' }}&gt;汇报期间：2026.04.15 – 2026.07.31（入职以来）&lt;/Text&gt;&#10;  &lt;/Box&gt;&#10;&#10;  &lt;Text style={{ position:'absolute', right:80, bottom:60, fontSize:16, color:'#052B7C', fontWeight:'bold' }}&gt;- 机密受控 -&lt;/Text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矩形 66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id="68" name="矩形 67"/>
          <p:cNvSpPr/>
          <p:nvPr/>
        </p:nvSpPr>
        <p:spPr>
          <a:xfrm>
            <a:off x="0" y="2019300"/>
            <a:ext cx="12192000" cy="2190750"/>
          </a:xfrm>
          <a:prstGeom prst="rect">
            <a:avLst/>
          </a:prstGeom>
          <a:solidFill>
            <a:srgbClr val="4472C4"/>
          </a:solidFill>
        </p:spPr>
        <p:txBody>
          <a:bodyPr/>
          <a:p/>
        </p:txBody>
      </p:sp>
      <p:sp>
        <p:nvSpPr>
          <p:cNvPr id="69" name="文本框 68" descr="{&quot;isTemplate&quot;:true,&quot;type&quot;:&quot;text&quot;}"/>
          <p:cNvSpPr txBox="1"/>
          <p:nvPr/>
        </p:nvSpPr>
        <p:spPr>
          <a:xfrm>
            <a:off x="4762500" y="2562225"/>
            <a:ext cx="2667000" cy="6477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42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汇报完毕！</a:t>
            </a:r>
            <a:endParaRPr lang="zh-CN" sz="42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0" name="文本框 69" descr="{&quot;isTemplate&quot;:true,&quot;type&quot;:&quot;text&quot;}"/>
          <p:cNvSpPr txBox="1"/>
          <p:nvPr/>
        </p:nvSpPr>
        <p:spPr>
          <a:xfrm>
            <a:off x="4981575" y="3362325"/>
            <a:ext cx="2228850" cy="3048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没有绩效，一切无效</a:t>
            </a:r>
            <a:endParaRPr lang="zh-CN" sz="195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226.5,&quot;left&quot;:42,&quot;top&quot;:97.5,&quot;width&quot;:876}"/>
</p:tagLst>
</file>

<file path=ppt/tags/tag2.xml><?xml version="1.0" encoding="utf-8"?>
<p:tagLst xmlns:p="http://schemas.openxmlformats.org/presentationml/2006/main">
  <p:tag name="KSO_WM_DIAGRAM_VIRTUALLY_FRAME" val="{&quot;height&quot;:226.5,&quot;left&quot;:42,&quot;top&quot;:97.5,&quot;width&quot;:876}"/>
</p:tagLst>
</file>

<file path=ppt/tags/tag3.xml><?xml version="1.0" encoding="utf-8"?>
<p:tagLst xmlns:p="http://schemas.openxmlformats.org/presentationml/2006/main">
  <p:tag name="KSO_WM_DIAGRAM_VIRTUALLY_FRAME" val="{&quot;height&quot;:226.5,&quot;left&quot;:42,&quot;top&quot;:97.5,&quot;width&quot;:876}"/>
</p:tagLst>
</file>

<file path=ppt/tags/tag4.xml><?xml version="1.0" encoding="utf-8"?>
<p:tagLst xmlns:p="http://schemas.openxmlformats.org/presentationml/2006/main">
  <p:tag name="KSO_WM_DIAGRAM_VIRTUALLY_FRAME" val="{&quot;height&quot;:226.5,&quot;left&quot;:42,&quot;top&quot;:97.5,&quot;width&quot;:876}"/>
</p:tagLst>
</file>

<file path=ppt/tags/tag5.xml><?xml version="1.0" encoding="utf-8"?>
<p:tagLst xmlns:p="http://schemas.openxmlformats.org/presentationml/2006/main">
  <p:tag name="KSO_WM_DIAGRAM_VIRTUALLY_FRAME" val="{&quot;height&quot;:226.5,&quot;left&quot;:42,&quot;top&quot;:97.5,&quot;width&quot;:876}"/>
</p:tagLst>
</file>

<file path=ppt/tags/tag6.xml><?xml version="1.0" encoding="utf-8"?>
<p:tagLst xmlns:p="http://schemas.openxmlformats.org/presentationml/2006/main">
  <p:tag name="KSO_WM_DIAGRAM_VIRTUALLY_FRAME" val="{&quot;height&quot;:226.5,&quot;left&quot;:42,&quot;top&quot;:97.5,&quot;width&quot;:876}"/>
</p:tagLst>
</file>

<file path=ppt/tags/tag7.xml><?xml version="1.0" encoding="utf-8"?>
<p:tagLst xmlns:p="http://schemas.openxmlformats.org/presentationml/2006/main">
  <p:tag name="KSO_WM_DIAGRAM_VIRTUALLY_FRAME" val="{&quot;height&quot;:226.5,&quot;left&quot;:42,&quot;top&quot;:97.5,&quot;width&quot;:876}"/>
</p:tagLst>
</file>

<file path=ppt/tags/tag8.xml><?xml version="1.0" encoding="utf-8"?>
<p:tagLst xmlns:p="http://schemas.openxmlformats.org/presentationml/2006/main">
  <p:tag name="KSO_WM_DIAGRAM_VIRTUALLY_FRAME" val="{&quot;height&quot;:226.5,&quot;left&quot;:42,&quot;top&quot;:97.5,&quot;width&quot;:876}"/>
</p:tagLst>
</file>

<file path=ppt/tags/tag9.xml><?xml version="1.0" encoding="utf-8"?>
<p:tagLst xmlns:p="http://schemas.openxmlformats.org/presentationml/2006/main">
  <p:tag name="KSO_WM_DIAGRAM_VIRTUALLY_FRAME" val="{&quot;height&quot;:226.5,&quot;left&quot;:42,&quot;top&quot;:97.5,&quot;width&quot;:876}"/>
</p:tagLst>
</file>

<file path=ppt/tags/tag10.xml><?xml version="1.0" encoding="utf-8"?>
<p:tagLst xmlns:p="http://schemas.openxmlformats.org/presentationml/2006/main">
  <p:tag name="KSO_WM_DIAGRAM_VIRTUALLY_FRAME" val="{&quot;height&quot;:226.5,&quot;left&quot;:42,&quot;top&quot;:97.5,&quot;width&quot;:876}"/>
</p:tagLst>
</file>

<file path=ppt/tags/tag11.xml><?xml version="1.0" encoding="utf-8"?>
<p:tagLst xmlns:p="http://schemas.openxmlformats.org/presentationml/2006/main">
  <p:tag name="KSO_WM_DIAGRAM_VIRTUALLY_FRAME" val="{&quot;height&quot;:226.5,&quot;left&quot;:42,&quot;top&quot;:97.5,&quot;width&quot;:876}"/>
</p:tagLst>
</file>

<file path=ppt/tags/tag12.xml><?xml version="1.0" encoding="utf-8"?>
<p:tagLst xmlns:p="http://schemas.openxmlformats.org/presentationml/2006/main">
  <p:tag name="KSO_WM_DIAGRAM_VIRTUALLY_FRAME" val="{&quot;height&quot;:226.5,&quot;left&quot;:42,&quot;top&quot;:97.5,&quot;width&quot;:876}"/>
</p:tagLst>
</file>

<file path=ppt/tags/tag13.xml><?xml version="1.0" encoding="utf-8"?>
<p:tagLst xmlns:p="http://schemas.openxmlformats.org/presentationml/2006/main">
  <p:tag name="KSO_WM_DIAGRAM_VIRTUALLY_FRAME" val="{&quot;height&quot;:226.5,&quot;left&quot;:42,&quot;top&quot;:97.5,&quot;width&quot;:876}"/>
</p:tagLst>
</file>

<file path=ppt/tags/tag14.xml><?xml version="1.0" encoding="utf-8"?>
<p:tagLst xmlns:p="http://schemas.openxmlformats.org/presentationml/2006/main">
  <p:tag name="KSO_WM_DIAGRAM_VIRTUALLY_FRAME" val="{&quot;height&quot;:226.5,&quot;left&quot;:42,&quot;top&quot;:97.5,&quot;width&quot;:876}"/>
</p:tagLst>
</file>

<file path=ppt/tags/tag15.xml><?xml version="1.0" encoding="utf-8"?>
<p:tagLst xmlns:p="http://schemas.openxmlformats.org/presentationml/2006/main">
  <p:tag name="KSO_WM_DIAGRAM_VIRTUALLY_FRAME" val="{&quot;height&quot;:226.5,&quot;left&quot;:42,&quot;top&quot;:97.5,&quot;width&quot;:876}"/>
</p:tagLst>
</file>

<file path=ppt/tags/tag16.xml><?xml version="1.0" encoding="utf-8"?>
<p:tagLst xmlns:p="http://schemas.openxmlformats.org/presentationml/2006/main">
  <p:tag name="KSO_WM_DIAGRAM_VIRTUALLY_FRAME" val="{&quot;height&quot;:226.5,&quot;left&quot;:42,&quot;top&quot;:97.5,&quot;width&quot;:876}"/>
</p:tagLst>
</file>

<file path=ppt/tags/tag17.xml><?xml version="1.0" encoding="utf-8"?>
<p:tagLst xmlns:p="http://schemas.openxmlformats.org/presentationml/2006/main">
  <p:tag name="KSO_WM_DIAGRAM_VIRTUALLY_FRAME" val="{&quot;height&quot;:226.5,&quot;left&quot;:42,&quot;top&quot;:97.5,&quot;width&quot;:876}"/>
</p:tagLst>
</file>

<file path=ppt/tags/tag18.xml><?xml version="1.0" encoding="utf-8"?>
<p:tagLst xmlns:p="http://schemas.openxmlformats.org/presentationml/2006/main">
  <p:tag name="KSO_WM_DIAGRAM_VIRTUALLY_FRAME" val="{&quot;height&quot;:226.5,&quot;left&quot;:42,&quot;top&quot;:97.5,&quot;width&quot;:876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3052</Words>
  <Application>WPS 演示</Application>
  <PresentationFormat/>
  <Paragraphs>425</Paragraphs>
  <Slides>12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20" baseType="lpstr">
      <vt:lpstr>Arial</vt:lpstr>
      <vt:lpstr>宋体</vt:lpstr>
      <vt:lpstr>Wingdings</vt:lpstr>
      <vt:lpstr>Arial</vt:lpstr>
      <vt:lpstr>微软雅黑</vt:lpstr>
      <vt:lpstr>Calibri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lw</cp:lastModifiedBy>
  <cp:revision>6</cp:revision>
  <dcterms:created xsi:type="dcterms:W3CDTF">2026-08-17T09:56:00Z</dcterms:created>
  <dcterms:modified xsi:type="dcterms:W3CDTF">2026-08-18T00:29:27Z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2052-12.1.0.28043</vt:lpwstr>
  </property>
  <property fmtid="{D5CDD505-2E9C-101B-9397-08002B2CF9AE}" pid="3" name="ICV">
    <vt:lpwstr>7230EDF0E163401FA65271E63094E600_12</vt:lpwstr>
  </property>
</Properties>
</file>