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2"/>
  </p:notesMasterIdLst>
  <p:sldIdLst>
    <p:sldId id="256" r:id="rId3"/>
    <p:sldId id="257" r:id="rId4"/>
    <p:sldId id="258" r:id="rId5"/>
    <p:sldId id="259" r:id="rId6"/>
    <p:sldId id="263" r:id="rId7"/>
    <p:sldId id="265" r:id="rId8"/>
    <p:sldId id="266" r:id="rId9"/>
    <p:sldId id="267" r:id="rId10"/>
    <p:sldId id="268" r:id="rId1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5" Type="http://schemas.openxmlformats.org/officeDocument/2006/relationships/tableStyles" Target="tableStyles.xml"/><Relationship Id="rId14" Type="http://schemas.openxmlformats.org/officeDocument/2006/relationships/viewProps" Target="viewProps.xml"/><Relationship Id="rId13" Type="http://schemas.openxmlformats.org/officeDocument/2006/relationships/presProps" Target="presProps.xml"/><Relationship Id="rId12" Type="http://schemas.openxmlformats.org/officeDocument/2006/relationships/notesMaster" Target="notesMasters/notesMaster1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9" Type="http://schemas.openxmlformats.org/officeDocument/2006/relationships/tags" Target="../tags/tag9.xml"/><Relationship Id="rId8" Type="http://schemas.openxmlformats.org/officeDocument/2006/relationships/tags" Target="../tags/tag8.xml"/><Relationship Id="rId7" Type="http://schemas.openxmlformats.org/officeDocument/2006/relationships/tags" Target="../tags/tag7.xml"/><Relationship Id="rId6" Type="http://schemas.openxmlformats.org/officeDocument/2006/relationships/tags" Target="../tags/tag6.xml"/><Relationship Id="rId5" Type="http://schemas.openxmlformats.org/officeDocument/2006/relationships/tags" Target="../tags/tag5.xml"/><Relationship Id="rId4" Type="http://schemas.openxmlformats.org/officeDocument/2006/relationships/tags" Target="../tags/tag4.xml"/><Relationship Id="rId3" Type="http://schemas.openxmlformats.org/officeDocument/2006/relationships/tags" Target="../tags/tag3.xml"/><Relationship Id="rId2" Type="http://schemas.openxmlformats.org/officeDocument/2006/relationships/tags" Target="../tags/tag2.xml"/><Relationship Id="rId13" Type="http://schemas.openxmlformats.org/officeDocument/2006/relationships/slideLayout" Target="../slideLayouts/slideLayout1.xml"/><Relationship Id="rId12" Type="http://schemas.openxmlformats.org/officeDocument/2006/relationships/tags" Target="../tags/tag12.xml"/><Relationship Id="rId11" Type="http://schemas.openxmlformats.org/officeDocument/2006/relationships/tags" Target="../tags/tag11.xml"/><Relationship Id="rId10" Type="http://schemas.openxmlformats.org/officeDocument/2006/relationships/tags" Target="../tags/tag10.xml"/><Relationship Id="rId1" Type="http://schemas.openxmlformats.org/officeDocument/2006/relationships/tags" Target="../tags/tag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9" Type="http://schemas.openxmlformats.org/officeDocument/2006/relationships/tags" Target="../tags/tag21.xml"/><Relationship Id="rId8" Type="http://schemas.openxmlformats.org/officeDocument/2006/relationships/tags" Target="../tags/tag20.xml"/><Relationship Id="rId7" Type="http://schemas.openxmlformats.org/officeDocument/2006/relationships/tags" Target="../tags/tag19.xml"/><Relationship Id="rId6" Type="http://schemas.openxmlformats.org/officeDocument/2006/relationships/tags" Target="../tags/tag18.xml"/><Relationship Id="rId5" Type="http://schemas.openxmlformats.org/officeDocument/2006/relationships/tags" Target="../tags/tag17.xml"/><Relationship Id="rId4" Type="http://schemas.openxmlformats.org/officeDocument/2006/relationships/tags" Target="../tags/tag16.xml"/><Relationship Id="rId3" Type="http://schemas.openxmlformats.org/officeDocument/2006/relationships/tags" Target="../tags/tag15.xml"/><Relationship Id="rId2" Type="http://schemas.openxmlformats.org/officeDocument/2006/relationships/tags" Target="../tags/tag14.xml"/><Relationship Id="rId10" Type="http://schemas.openxmlformats.org/officeDocument/2006/relationships/slideLayout" Target="../slideLayouts/slideLayout1.xml"/><Relationship Id="rId1" Type="http://schemas.openxmlformats.org/officeDocument/2006/relationships/tags" Target="../tags/tag1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 descr="&lt;Slide style={{ width:'1280px', height:'720px', position:'relative', background:'#FFFFFF', fontFamily:'微软雅黑' }}&gt;&#10;  &lt;Box style={{ position:'absolute', left:80, top:110, flexDirection:'row', alignItems:'center', gap:12 }}&gt;&#10;    &lt;Box style={{ width:48, height:3, background:'#4472C4' }} /&gt;&#10;    &lt;Text style={{ fontSize:16, color:'#052B7C' }}&gt;助力企业利润持续增长&lt;/Text&gt;&#10;  &lt;/Box&gt;&#10;&#10;  &lt;Box style={{ position:'absolute', left:0, top:300, width:1280, height:230, background:'#4472C4', justifyContent:'center', alignItems:'center' }}&gt;&#10;    &lt;Text style={{ fontSize:52, fontWeight:'bold', color:'#FFFFFF' }}&gt;入职以来 AI 应用交付复盘&lt;/Text&gt;&#10;    &lt;Text style={{ fontSize:22, color:'#FFFFFF', marginTop:14 }}&gt;月度经营分析会汇报 · AI 技术专员工作复盘&lt;/Text&gt;&#10;  &lt;/Box&gt;&#10;&#10;  &lt;Box style={{ position:'absolute', left:80, top:580, flexDirection:'column', gap:10 }}&gt;&#10;    &lt;Text style={{ fontSize:18, color:'#052B7C' }}&gt;部　　门：AI 技术专员（宏昊AI助手平台）&lt;/Text&gt;&#10;    &lt;Text style={{ fontSize:18, color:'#052B7C' }}&gt;汇报人：肖聪&lt;/Text&gt;&#10;    &lt;Text style={{ fontSize:18, color:'#052B7C' }}&gt;汇报期间：2026.04.15 – 2026.07.31（入职以来）&lt;/Text&gt;&#10;  &lt;/Box&gt;&#10;&#10;  &lt;Text style={{ position:'absolute', right:80, bottom:60, fontSize:16, color:'#052B7C', fontWeight:'bold' }}&gt;- 机密受控 -&lt;/Text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</p:spPr>
        <p:txBody>
          <a:bodyPr/>
          <a:p/>
        </p:txBody>
      </p:sp>
      <p:sp>
        <p:nvSpPr>
          <p:cNvPr id="12" name="AutoShape 2"/>
          <p:cNvSpPr/>
          <p:nvPr/>
        </p:nvSpPr>
        <p:spPr>
          <a:xfrm>
            <a:off x="1968500" y="1997075"/>
            <a:ext cx="8255000" cy="2625090"/>
          </a:xfrm>
          <a:prstGeom prst="rect">
            <a:avLst/>
          </a:prstGeom>
          <a:solidFill>
            <a:srgbClr val="BFBFBF">
              <a:alpha val="68000"/>
            </a:srgbClr>
          </a:solidFill>
          <a:ln w="12700" cap="flat" cmpd="sng">
            <a:noFill/>
            <a:prstDash val="solid"/>
            <a:round/>
          </a:ln>
        </p:spPr>
        <p:txBody>
          <a:bodyPr wrap="square" lIns="91440" tIns="45720" rIns="91440" bIns="45720" rtlCol="0" anchor="t">
            <a:noAutofit/>
          </a:bodyPr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755" b="0" i="0" u="none" strike="noStrik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 </a:t>
            </a:r>
            <a:endParaRPr lang="en-US" sz="1100"/>
          </a:p>
        </p:txBody>
      </p:sp>
      <p:sp>
        <p:nvSpPr>
          <p:cNvPr id="5" name="矩形 4"/>
          <p:cNvSpPr/>
          <p:nvPr/>
        </p:nvSpPr>
        <p:spPr>
          <a:xfrm>
            <a:off x="0" y="2164715"/>
            <a:ext cx="12192000" cy="2190750"/>
          </a:xfrm>
          <a:prstGeom prst="rect">
            <a:avLst/>
          </a:prstGeom>
          <a:solidFill>
            <a:srgbClr val="4472C4"/>
          </a:solidFill>
        </p:spPr>
        <p:txBody>
          <a:bodyPr/>
          <a:p/>
        </p:txBody>
      </p:sp>
      <p:sp>
        <p:nvSpPr>
          <p:cNvPr id="6" name="文本框 5" descr="{&quot;isTemplate&quot;:true,&quot;type&quot;:&quot;text&quot;}"/>
          <p:cNvSpPr txBox="1"/>
          <p:nvPr/>
        </p:nvSpPr>
        <p:spPr>
          <a:xfrm>
            <a:off x="3181350" y="2764790"/>
            <a:ext cx="5829300" cy="6000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39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入职以来</a:t>
            </a:r>
            <a:r>
              <a:rPr lang="en-US" sz="39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AI </a:t>
            </a:r>
            <a:r>
              <a:rPr lang="zh-CN" sz="39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应用交付复盘</a:t>
            </a:r>
            <a:endParaRPr lang="zh-CN" sz="39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" name="文本框 6" descr="{&quot;isTemplate&quot;:true,&quot;type&quot;:&quot;text&quot;}"/>
          <p:cNvSpPr txBox="1"/>
          <p:nvPr/>
        </p:nvSpPr>
        <p:spPr>
          <a:xfrm>
            <a:off x="4076700" y="3498215"/>
            <a:ext cx="4038600" cy="2571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月度经营分析会汇报</a:t>
            </a:r>
            <a:r>
              <a:rPr lang="en-US" sz="165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· AI </a:t>
            </a:r>
            <a:r>
              <a:rPr lang="zh-CN" sz="165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技术专员工作复盘</a:t>
            </a:r>
            <a:endParaRPr lang="zh-CN" sz="165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" name="文本框 7" descr="{&quot;isTemplate&quot;:true,&quot;type&quot;:&quot;text&quot;}"/>
          <p:cNvSpPr txBox="1"/>
          <p:nvPr/>
        </p:nvSpPr>
        <p:spPr>
          <a:xfrm>
            <a:off x="4798060" y="4984115"/>
            <a:ext cx="3781425" cy="2095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00" b="1">
                <a:solidFill>
                  <a:srgbClr val="052B7C"/>
                </a:solidFill>
                <a:latin typeface="微软雅黑" panose="020B0503020204020204" charset="-122"/>
                <a:ea typeface="微软雅黑" panose="020B0503020204020204" charset="-122"/>
              </a:rPr>
              <a:t>部　门：</a:t>
            </a:r>
            <a:r>
              <a:rPr lang="en-US" sz="1600" b="1">
                <a:solidFill>
                  <a:srgbClr val="052B7C"/>
                </a:solidFill>
                <a:latin typeface="微软雅黑" panose="020B0503020204020204" charset="-122"/>
                <a:ea typeface="微软雅黑" panose="020B0503020204020204" charset="-122"/>
              </a:rPr>
              <a:t>AI </a:t>
            </a:r>
            <a:r>
              <a:rPr lang="zh-CN" sz="1600" b="1">
                <a:solidFill>
                  <a:srgbClr val="052B7C"/>
                </a:solidFill>
                <a:latin typeface="微软雅黑" panose="020B0503020204020204" charset="-122"/>
                <a:ea typeface="微软雅黑" panose="020B0503020204020204" charset="-122"/>
              </a:rPr>
              <a:t>技术专员</a:t>
            </a:r>
            <a:endParaRPr lang="zh-CN" sz="1600" b="1">
              <a:solidFill>
                <a:srgbClr val="052B7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" name="文本框 8" descr="{&quot;isTemplate&quot;:true,&quot;type&quot;:&quot;text&quot;}"/>
          <p:cNvSpPr txBox="1"/>
          <p:nvPr/>
        </p:nvSpPr>
        <p:spPr>
          <a:xfrm>
            <a:off x="4798060" y="5288915"/>
            <a:ext cx="3781425" cy="2095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00" b="1">
                <a:solidFill>
                  <a:srgbClr val="052B7C"/>
                </a:solidFill>
                <a:latin typeface="微软雅黑" panose="020B0503020204020204" charset="-122"/>
                <a:ea typeface="微软雅黑" panose="020B0503020204020204" charset="-122"/>
              </a:rPr>
              <a:t>汇报人：肖聪</a:t>
            </a:r>
            <a:endParaRPr lang="zh-CN" sz="1600" b="1">
              <a:solidFill>
                <a:srgbClr val="052B7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77" name="" descr="&lt;Slide style={{ width:'1280px', height:'720px', position:'relative', background:'#FFFFFF', fontFamily:'微软雅黑' }}&gt;&#10;  &lt;Box style={{ position:'absolute', left:56, top:80, right:56, flexDirection:'row', gap:48, height:520, alignItems:'center' }}&gt;&#10;    &lt;Box style={{ width:300, justifyContent:'center' }}&gt;&#10;      &lt;Text style={{ fontSize:54, fontWeight:'bold', color:'#2F5597' }}&gt;目录&lt;/Text&gt;&#10;      &lt;Text style={{ fontSize:24, color:'#2F5597', marginTop:8, letterSpacing:4 }}&gt;CONTENTS&lt;/Text&gt;&#10;    &lt;/Box&gt;&#10;    &lt;Box style={{ width:2, height:300, background:'#4472C4' }} /&gt;&#10;    &lt;Box style={{ flex:1, flexDirection:'column', gap:20, justifyContent:'center' }}&gt;&#10;      {['一、工作概览与量化总览','二、内部工作：自研应用交付','三、内部工作：Skill 抽象与复用','四、内部工作：培训与推广','五、外部工作：宏昊AI助手平台','六、下阶段计划与需支持事项'].map((t, i) =&gt; (&#10;        &lt;Text key={i} style={{ fontSize:24, fontWeight:'bold', color:'#1A1A1A' }}&gt;{t}&lt;/Text&gt;&#10;      ))}&#10;    &lt;/Box&gt;&#10;  &lt;/Box&gt;&#10;  &lt;Box style={{ position:'absolute', left:56, top:668, right:56, flexDirection:'row', justifyContent:'space-between' }}&gt;&#10;    &lt;Text style={{ fontSize:14, color:'#888' }}&gt;入职以来 AI 工作复盘&lt;/Text&gt;&#10;    &lt;Text style={{ fontSize:14, color:'#888' }}&gt;02 / 13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矩形 77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</p:spPr>
        <p:txBody>
          <a:bodyPr/>
          <a:p/>
        </p:txBody>
      </p:sp>
      <p:sp>
        <p:nvSpPr>
          <p:cNvPr id="79" name="文本框 78" descr="{&quot;isTemplate&quot;:true,&quot;type&quot;:&quot;text&quot;}"/>
          <p:cNvSpPr txBox="1"/>
          <p:nvPr/>
        </p:nvSpPr>
        <p:spPr>
          <a:xfrm>
            <a:off x="533400" y="2752725"/>
            <a:ext cx="2857500" cy="6191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4050" b="1">
                <a:solidFill>
                  <a:srgbClr val="2F5597"/>
                </a:solidFill>
                <a:latin typeface="微软雅黑" panose="020B0503020204020204" charset="-122"/>
                <a:ea typeface="微软雅黑" panose="020B0503020204020204" charset="-122"/>
              </a:rPr>
              <a:t>目录</a:t>
            </a:r>
            <a:endParaRPr lang="zh-CN" sz="4050" b="1">
              <a:solidFill>
                <a:srgbClr val="2F559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0" name="文本框 79" descr="{&quot;isTemplate&quot;:true,&quot;type&quot;:&quot;text&quot;}"/>
          <p:cNvSpPr txBox="1"/>
          <p:nvPr/>
        </p:nvSpPr>
        <p:spPr>
          <a:xfrm>
            <a:off x="533400" y="3448050"/>
            <a:ext cx="2857500" cy="2762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spc="300">
                <a:solidFill>
                  <a:srgbClr val="2F5597"/>
                </a:solidFill>
                <a:latin typeface="微软雅黑" panose="020B0503020204020204" charset="-122"/>
                <a:ea typeface="微软雅黑" panose="020B0503020204020204" charset="-122"/>
              </a:rPr>
              <a:t>CONTENTS</a:t>
            </a:r>
            <a:endParaRPr lang="en-US" sz="1800" spc="300">
              <a:solidFill>
                <a:srgbClr val="2F559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1" name="矩形 80"/>
          <p:cNvSpPr/>
          <p:nvPr/>
        </p:nvSpPr>
        <p:spPr>
          <a:xfrm>
            <a:off x="3848100" y="1809750"/>
            <a:ext cx="19050" cy="2857500"/>
          </a:xfrm>
          <a:prstGeom prst="rect">
            <a:avLst/>
          </a:prstGeom>
          <a:solidFill>
            <a:srgbClr val="4472C4"/>
          </a:solidFill>
        </p:spPr>
        <p:txBody>
          <a:bodyPr/>
          <a:p/>
        </p:txBody>
      </p:sp>
      <p:sp>
        <p:nvSpPr>
          <p:cNvPr id="82" name="文本框 81" descr="{&quot;isTemplate&quot;:true,&quot;type&quot;:&quot;text&quot;}"/>
          <p:cNvSpPr txBox="1"/>
          <p:nvPr/>
        </p:nvSpPr>
        <p:spPr>
          <a:xfrm>
            <a:off x="4324350" y="1933575"/>
            <a:ext cx="7334250" cy="2762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 b="1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一、工作概览与量化总览</a:t>
            </a:r>
            <a:endParaRPr lang="zh-CN" sz="1800" b="1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3" name="文本框 82" descr="{&quot;isTemplate&quot;:true,&quot;type&quot;:&quot;text&quot;}"/>
          <p:cNvSpPr txBox="1"/>
          <p:nvPr/>
        </p:nvSpPr>
        <p:spPr>
          <a:xfrm>
            <a:off x="4324350" y="2400300"/>
            <a:ext cx="7334250" cy="2762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 b="1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二、内部工作：自研应用交付</a:t>
            </a:r>
            <a:endParaRPr lang="zh-CN" sz="1800" b="1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4" name="文本框 83" descr="{&quot;isTemplate&quot;:true,&quot;type&quot;:&quot;text&quot;}"/>
          <p:cNvSpPr txBox="1"/>
          <p:nvPr/>
        </p:nvSpPr>
        <p:spPr>
          <a:xfrm>
            <a:off x="4324350" y="2867025"/>
            <a:ext cx="7334250" cy="2762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 b="1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三、内部工作：</a:t>
            </a:r>
            <a:r>
              <a:rPr lang="en-US" sz="1800" b="1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Skill </a:t>
            </a:r>
            <a:r>
              <a:rPr lang="zh-CN" sz="1800" b="1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抽象与复用</a:t>
            </a:r>
            <a:endParaRPr lang="zh-CN" sz="1800" b="1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5" name="文本框 84" descr="{&quot;isTemplate&quot;:true,&quot;type&quot;:&quot;text&quot;}"/>
          <p:cNvSpPr txBox="1"/>
          <p:nvPr/>
        </p:nvSpPr>
        <p:spPr>
          <a:xfrm>
            <a:off x="4324350" y="3333750"/>
            <a:ext cx="7334250" cy="2762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 b="1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四、内部工作：培训与推广</a:t>
            </a:r>
            <a:endParaRPr lang="zh-CN" sz="1800" b="1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6" name="文本框 85" descr="{&quot;isTemplate&quot;:true,&quot;type&quot;:&quot;text&quot;}"/>
          <p:cNvSpPr txBox="1"/>
          <p:nvPr/>
        </p:nvSpPr>
        <p:spPr>
          <a:xfrm>
            <a:off x="4324350" y="3800475"/>
            <a:ext cx="7334250" cy="2762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 b="1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五、外部工作：宏昊</a:t>
            </a:r>
            <a:r>
              <a:rPr lang="en-US" sz="1800" b="1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AI</a:t>
            </a:r>
            <a:r>
              <a:rPr lang="zh-CN" sz="1800" b="1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助手平台</a:t>
            </a:r>
            <a:endParaRPr lang="zh-CN" sz="1800" b="1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7" name="文本框 86" descr="{&quot;isTemplate&quot;:true,&quot;type&quot;:&quot;text&quot;}"/>
          <p:cNvSpPr txBox="1"/>
          <p:nvPr/>
        </p:nvSpPr>
        <p:spPr>
          <a:xfrm>
            <a:off x="4324350" y="4267200"/>
            <a:ext cx="7334250" cy="2762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 b="1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六、下阶段计划与需支持事项</a:t>
            </a:r>
            <a:endParaRPr lang="zh-CN" sz="1800" b="1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8" name="文本框 87" descr="{&quot;isTemplate&quot;:true,&quot;type&quot;:&quot;text&quot;}"/>
          <p:cNvSpPr txBox="1"/>
          <p:nvPr/>
        </p:nvSpPr>
        <p:spPr>
          <a:xfrm>
            <a:off x="533400" y="6362700"/>
            <a:ext cx="1285875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88888"/>
                </a:solidFill>
                <a:latin typeface="微软雅黑" panose="020B0503020204020204" charset="-122"/>
                <a:ea typeface="微软雅黑" panose="020B0503020204020204" charset="-122"/>
              </a:rPr>
              <a:t>入职以来</a:t>
            </a:r>
            <a:r>
              <a:rPr lang="en-US" sz="1050">
                <a:solidFill>
                  <a:srgbClr val="888888"/>
                </a:solidFill>
                <a:latin typeface="微软雅黑" panose="020B0503020204020204" charset="-122"/>
                <a:ea typeface="微软雅黑" panose="020B0503020204020204" charset="-122"/>
              </a:rPr>
              <a:t> AI </a:t>
            </a:r>
            <a:r>
              <a:rPr lang="zh-CN" sz="1050">
                <a:solidFill>
                  <a:srgbClr val="888888"/>
                </a:solidFill>
                <a:latin typeface="微软雅黑" panose="020B0503020204020204" charset="-122"/>
                <a:ea typeface="微软雅黑" panose="020B0503020204020204" charset="-122"/>
              </a:rPr>
              <a:t>工作复盘</a:t>
            </a:r>
            <a:endParaRPr lang="zh-CN" sz="1050">
              <a:solidFill>
                <a:srgbClr val="88888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9" name="文本框 88" descr="{&quot;isTemplate&quot;:true,&quot;type&quot;:&quot;text&quot;}"/>
          <p:cNvSpPr txBox="1"/>
          <p:nvPr/>
        </p:nvSpPr>
        <p:spPr>
          <a:xfrm>
            <a:off x="11229975" y="6362700"/>
            <a:ext cx="428625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88888"/>
                </a:solidFill>
                <a:latin typeface="微软雅黑" panose="020B0503020204020204" charset="-122"/>
                <a:ea typeface="微软雅黑" panose="020B0503020204020204" charset="-122"/>
              </a:rPr>
              <a:t>02 / 13</a:t>
            </a:r>
            <a:endParaRPr lang="en-US" sz="1050">
              <a:solidFill>
                <a:srgbClr val="88888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90" name="" descr="&lt;Slide style={{ width:'1280px', height:'720px', position:'relative', background:'#FFFFFF', fontFamily:'微软雅黑' }}&gt;&#10;  &lt;Box style={{ position:'absolute', left:56, top:36, flexDirection:'row', alignItems:'center', gap:12 }}&gt;&#10;    &lt;Box style={{ width:8, height:34, background:'#4472C4' }} /&gt;&#10;    &lt;Text style={{ fontSize:30, fontWeight:'bold', color:'#052B7C' }}&gt;一、工作概览与量化总览&lt;/Text&gt;&#10;  &lt;/Box&gt;&#10;&#10;  &lt;Box style={{ position:'absolute', left:56, top:130, right:56, flexDirection:'column', gap:22 }}&gt;&#10;    &lt;Box style={{ flexDirection:'row', gap:22 }}&gt;&#10;      {[['5','自研应用 / 工具'],['2','复用 Skill'],['4','业务智能体']].map((c, i) =&gt; (&#10;        &lt;Box key={i} style={{ flex:1, background:'#F4F7FC', borderRadius:10, padding:'22px 18px', alignItems:'center' }}&gt;&#10;          &lt;Text style={{ fontSize:56, fontWeight:'bold', color:'#4472C4' }}&gt;{c[0]}&lt;/Text&gt;&#10;          &lt;Text style={{ fontSize:18, color:'#1A1A1A', marginTop:6 }}&gt;{c[1]}&lt;/Text&gt;&#10;        &lt;/Box&gt;&#10;      ))}&#10;    &lt;/Box&gt;&#10;    &lt;Box style={{ flexDirection:'row', gap:22 }}&gt;&#10;      {[['37','平台验收项'],['12','培训场次'],['7','覆盖部门']].map((c, i) =&gt; (&#10;        &lt;Box key={i} style={{ flex:1, background:'#F4F7FC', borderRadius:10, padding:'22px 18px', alignItems:'center' }}&gt;&#10;          &lt;Text style={{ fontSize:56, fontWeight:'bold', color:'#4472C4' }}&gt;{c[0]}&lt;/Text&gt;&#10;          &lt;Text style={{ fontSize:18, color:'#1A1A1A', marginTop:6 }}&gt;{c[1]}&lt;/Text&gt;&#10;        &lt;/Box&gt;&#10;      ))}&#10;    &lt;/Box&gt;&#10;  &lt;/Box&gt;&#10;&#10;  &lt;Box style={{ position:'absolute', left:56, top:560, right:56, background:'#052B7C', borderRadius:10, padding:'16px 22px' }}&gt;&#10;    &lt;Text style={{ fontSize:18, color:'#FFFFFF', lineHeight:1.5 }}&gt;入职 3.5 个月，从 0 搭起「自研工具 + 复用 Skill + 平台验收运营 + 培训推广」完整交付体系，覆盖采购 / 船务 / 财务 / 销售 / 研发 / 营销 6 类业务方；交付快（自研平均 ~25 天）、持续迭代（110+ 条代码）。&lt;/Text&gt;&#10;  &lt;/Box&gt;&#10;&#10;  &lt;Box style={{ position:'absolute', left:56, top:668, right:56, flexDirection:'row', justifyContent:'space-between' }}&gt;&#10;    &lt;Text style={{ fontSize:14, color:'#888' }}&gt;入职以来 AI 工作复盘&lt;/Text&gt;&#10;    &lt;Text style={{ fontSize:14, color:'#888' }}&gt;03 / 13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矩形 9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</p:spPr>
        <p:txBody>
          <a:bodyPr/>
          <a:p/>
        </p:txBody>
      </p:sp>
      <p:sp>
        <p:nvSpPr>
          <p:cNvPr id="92" name="矩形 91"/>
          <p:cNvSpPr/>
          <p:nvPr/>
        </p:nvSpPr>
        <p:spPr>
          <a:xfrm>
            <a:off x="533400" y="352425"/>
            <a:ext cx="76200" cy="323850"/>
          </a:xfrm>
          <a:prstGeom prst="rect">
            <a:avLst/>
          </a:prstGeom>
          <a:solidFill>
            <a:srgbClr val="4472C4"/>
          </a:solidFill>
        </p:spPr>
        <p:txBody>
          <a:bodyPr/>
          <a:p/>
        </p:txBody>
      </p:sp>
      <p:sp>
        <p:nvSpPr>
          <p:cNvPr id="93" name="文本框 92" descr="{&quot;isTemplate&quot;:true,&quot;type&quot;:&quot;text&quot;}"/>
          <p:cNvSpPr txBox="1"/>
          <p:nvPr/>
        </p:nvSpPr>
        <p:spPr>
          <a:xfrm>
            <a:off x="723900" y="342900"/>
            <a:ext cx="3143250" cy="3429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052B7C"/>
                </a:solidFill>
                <a:latin typeface="微软雅黑" panose="020B0503020204020204" charset="-122"/>
                <a:ea typeface="微软雅黑" panose="020B0503020204020204" charset="-122"/>
              </a:rPr>
              <a:t>一、工作概览与量化总览</a:t>
            </a:r>
            <a:endParaRPr lang="zh-CN" sz="2250" b="1">
              <a:solidFill>
                <a:srgbClr val="052B7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4" name="圆角矩形 93"/>
          <p:cNvSpPr/>
          <p:nvPr>
            <p:custDataLst>
              <p:tags r:id="rId1"/>
            </p:custDataLst>
          </p:nvPr>
        </p:nvSpPr>
        <p:spPr>
          <a:xfrm>
            <a:off x="2362200" y="1338580"/>
            <a:ext cx="3571875" cy="1333500"/>
          </a:xfrm>
          <a:prstGeom prst="roundRect">
            <a:avLst>
              <a:gd name="adj" fmla="val 7143"/>
            </a:avLst>
          </a:prstGeom>
          <a:solidFill>
            <a:srgbClr val="F4F7FC"/>
          </a:solidFill>
        </p:spPr>
        <p:txBody>
          <a:bodyPr/>
          <a:p/>
        </p:txBody>
      </p:sp>
      <p:sp>
        <p:nvSpPr>
          <p:cNvPr id="95" name="文本框 94" descr="{&quot;isTemplate&quot;:true,&quot;type&quot;:&quot;text&quot;}"/>
          <p:cNvSpPr txBox="1"/>
          <p:nvPr>
            <p:custDataLst>
              <p:tags r:id="rId2"/>
            </p:custDataLst>
          </p:nvPr>
        </p:nvSpPr>
        <p:spPr>
          <a:xfrm>
            <a:off x="3981450" y="1548130"/>
            <a:ext cx="342900" cy="6477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200" b="1">
                <a:solidFill>
                  <a:srgbClr val="4472C4"/>
                </a:solidFill>
                <a:latin typeface="微软雅黑" panose="020B0503020204020204" charset="-122"/>
                <a:ea typeface="微软雅黑" panose="020B0503020204020204" charset="-122"/>
              </a:rPr>
              <a:t>5</a:t>
            </a:r>
            <a:endParaRPr lang="en-US" sz="4200" b="1">
              <a:solidFill>
                <a:srgbClr val="4472C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6" name="文本框 95" descr="{&quot;isTemplate&quot;:true,&quot;type&quot;:&quot;text&quot;}"/>
          <p:cNvSpPr txBox="1"/>
          <p:nvPr>
            <p:custDataLst>
              <p:tags r:id="rId3"/>
            </p:custDataLst>
          </p:nvPr>
        </p:nvSpPr>
        <p:spPr>
          <a:xfrm>
            <a:off x="3543300" y="2252980"/>
            <a:ext cx="1209675" cy="2095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开发应用</a:t>
            </a:r>
            <a:r>
              <a:rPr lang="en-US" sz="135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 / </a:t>
            </a:r>
            <a:r>
              <a:rPr lang="zh-CN" sz="135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工具</a:t>
            </a:r>
            <a:endParaRPr lang="zh-CN" sz="1350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7" name="圆角矩形 96"/>
          <p:cNvSpPr/>
          <p:nvPr>
            <p:custDataLst>
              <p:tags r:id="rId4"/>
            </p:custDataLst>
          </p:nvPr>
        </p:nvSpPr>
        <p:spPr>
          <a:xfrm>
            <a:off x="6143625" y="1338580"/>
            <a:ext cx="3562350" cy="1333500"/>
          </a:xfrm>
          <a:prstGeom prst="roundRect">
            <a:avLst>
              <a:gd name="adj" fmla="val 7143"/>
            </a:avLst>
          </a:prstGeom>
          <a:solidFill>
            <a:srgbClr val="F4F7FC"/>
          </a:solidFill>
        </p:spPr>
        <p:txBody>
          <a:bodyPr/>
          <a:p/>
        </p:txBody>
      </p:sp>
      <p:sp>
        <p:nvSpPr>
          <p:cNvPr id="98" name="文本框 97" descr="{&quot;isTemplate&quot;:true,&quot;type&quot;:&quot;text&quot;}"/>
          <p:cNvSpPr txBox="1"/>
          <p:nvPr>
            <p:custDataLst>
              <p:tags r:id="rId5"/>
            </p:custDataLst>
          </p:nvPr>
        </p:nvSpPr>
        <p:spPr>
          <a:xfrm>
            <a:off x="7753350" y="1548130"/>
            <a:ext cx="342900" cy="6477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200" b="1">
                <a:solidFill>
                  <a:srgbClr val="4472C4"/>
                </a:solidFill>
                <a:latin typeface="微软雅黑" panose="020B0503020204020204" charset="-122"/>
                <a:ea typeface="微软雅黑" panose="020B0503020204020204" charset="-122"/>
              </a:rPr>
              <a:t>3</a:t>
            </a:r>
            <a:endParaRPr lang="en-US" sz="4200" b="1">
              <a:solidFill>
                <a:srgbClr val="4472C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9" name="文本框 98" descr="{&quot;isTemplate&quot;:true,&quot;type&quot;:&quot;text&quot;}"/>
          <p:cNvSpPr txBox="1"/>
          <p:nvPr>
            <p:custDataLst>
              <p:tags r:id="rId6"/>
            </p:custDataLst>
          </p:nvPr>
        </p:nvSpPr>
        <p:spPr>
          <a:xfrm>
            <a:off x="7572375" y="2252980"/>
            <a:ext cx="704850" cy="2095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复用</a:t>
            </a:r>
            <a:r>
              <a:rPr lang="en-US" sz="135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 Skill</a:t>
            </a:r>
            <a:endParaRPr lang="en-US" sz="1350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0" name="圆角矩形 99"/>
          <p:cNvSpPr/>
          <p:nvPr>
            <p:custDataLst>
              <p:tags r:id="rId7"/>
            </p:custDataLst>
          </p:nvPr>
        </p:nvSpPr>
        <p:spPr>
          <a:xfrm>
            <a:off x="6143625" y="2880995"/>
            <a:ext cx="3571875" cy="1333500"/>
          </a:xfrm>
          <a:prstGeom prst="roundRect">
            <a:avLst>
              <a:gd name="adj" fmla="val 7143"/>
            </a:avLst>
          </a:prstGeom>
          <a:solidFill>
            <a:srgbClr val="F4F7FC"/>
          </a:solidFill>
        </p:spPr>
        <p:txBody>
          <a:bodyPr/>
          <a:p/>
        </p:txBody>
      </p:sp>
      <p:sp>
        <p:nvSpPr>
          <p:cNvPr id="101" name="文本框 100" descr="{&quot;isTemplate&quot;:true,&quot;type&quot;:&quot;text&quot;}"/>
          <p:cNvSpPr txBox="1"/>
          <p:nvPr>
            <p:custDataLst>
              <p:tags r:id="rId8"/>
            </p:custDataLst>
          </p:nvPr>
        </p:nvSpPr>
        <p:spPr>
          <a:xfrm>
            <a:off x="7762875" y="3090545"/>
            <a:ext cx="342900" cy="6477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200" b="1">
                <a:solidFill>
                  <a:srgbClr val="4472C4"/>
                </a:solidFill>
                <a:latin typeface="微软雅黑" panose="020B0503020204020204" charset="-122"/>
                <a:ea typeface="微软雅黑" panose="020B0503020204020204" charset="-122"/>
              </a:rPr>
              <a:t>4</a:t>
            </a:r>
            <a:endParaRPr lang="en-US" sz="4200" b="1">
              <a:solidFill>
                <a:srgbClr val="4472C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2" name="文本框 101" descr="{&quot;isTemplate&quot;:true,&quot;type&quot;:&quot;text&quot;}"/>
          <p:cNvSpPr txBox="1"/>
          <p:nvPr>
            <p:custDataLst>
              <p:tags r:id="rId9"/>
            </p:custDataLst>
          </p:nvPr>
        </p:nvSpPr>
        <p:spPr>
          <a:xfrm>
            <a:off x="7505700" y="3795395"/>
            <a:ext cx="857250" cy="2095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业务智能体</a:t>
            </a:r>
            <a:endParaRPr lang="zh-CN" sz="1350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3" name="圆角矩形 102"/>
          <p:cNvSpPr/>
          <p:nvPr>
            <p:custDataLst>
              <p:tags r:id="rId10"/>
            </p:custDataLst>
          </p:nvPr>
        </p:nvSpPr>
        <p:spPr>
          <a:xfrm>
            <a:off x="2362200" y="2881630"/>
            <a:ext cx="3571875" cy="1333500"/>
          </a:xfrm>
          <a:prstGeom prst="roundRect">
            <a:avLst>
              <a:gd name="adj" fmla="val 7143"/>
            </a:avLst>
          </a:prstGeom>
          <a:solidFill>
            <a:srgbClr val="F4F7FC"/>
          </a:solidFill>
        </p:spPr>
        <p:txBody>
          <a:bodyPr/>
          <a:p/>
        </p:txBody>
      </p:sp>
      <p:sp>
        <p:nvSpPr>
          <p:cNvPr id="104" name="文本框 103" descr="{&quot;isTemplate&quot;:true,&quot;type&quot;:&quot;text&quot;}"/>
          <p:cNvSpPr txBox="1"/>
          <p:nvPr>
            <p:custDataLst>
              <p:tags r:id="rId11"/>
            </p:custDataLst>
          </p:nvPr>
        </p:nvSpPr>
        <p:spPr>
          <a:xfrm>
            <a:off x="3810000" y="3091180"/>
            <a:ext cx="685800" cy="6477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200" b="1">
                <a:solidFill>
                  <a:srgbClr val="4472C4"/>
                </a:solidFill>
                <a:latin typeface="微软雅黑" panose="020B0503020204020204" charset="-122"/>
                <a:ea typeface="微软雅黑" panose="020B0503020204020204" charset="-122"/>
              </a:rPr>
              <a:t>37</a:t>
            </a:r>
            <a:endParaRPr lang="en-US" sz="4200" b="1">
              <a:solidFill>
                <a:srgbClr val="4472C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5" name="文本框 104" descr="{&quot;isTemplate&quot;:true,&quot;type&quot;:&quot;text&quot;}"/>
          <p:cNvSpPr txBox="1"/>
          <p:nvPr>
            <p:custDataLst>
              <p:tags r:id="rId12"/>
            </p:custDataLst>
          </p:nvPr>
        </p:nvSpPr>
        <p:spPr>
          <a:xfrm>
            <a:off x="3724275" y="3796030"/>
            <a:ext cx="857250" cy="2095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平台验收项</a:t>
            </a:r>
            <a:endParaRPr lang="zh-CN" sz="1350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2" name="圆角矩形 111"/>
          <p:cNvSpPr/>
          <p:nvPr/>
        </p:nvSpPr>
        <p:spPr>
          <a:xfrm>
            <a:off x="514350" y="4776470"/>
            <a:ext cx="11125200" cy="923925"/>
          </a:xfrm>
          <a:prstGeom prst="roundRect">
            <a:avLst>
              <a:gd name="adj" fmla="val 10309"/>
            </a:avLst>
          </a:prstGeom>
          <a:solidFill>
            <a:srgbClr val="052B7C"/>
          </a:solidFill>
        </p:spPr>
        <p:txBody>
          <a:bodyPr/>
          <a:p/>
        </p:txBody>
      </p:sp>
      <p:sp>
        <p:nvSpPr>
          <p:cNvPr id="113" name="文本框 112" descr="{&quot;isTemplate&quot;:true,&quot;type&quot;:&quot;text&quot;}"/>
          <p:cNvSpPr txBox="1"/>
          <p:nvPr/>
        </p:nvSpPr>
        <p:spPr>
          <a:xfrm>
            <a:off x="723900" y="4928870"/>
            <a:ext cx="10706100" cy="619125"/>
          </a:xfrm>
          <a:prstGeom prst="rect">
            <a:avLst/>
          </a:prstGeom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35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入职</a:t>
            </a:r>
            <a:r>
              <a:rPr lang="en-US" sz="135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3.5 </a:t>
            </a:r>
            <a:r>
              <a:rPr lang="zh-CN" sz="135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个月，从</a:t>
            </a:r>
            <a:r>
              <a:rPr lang="en-US" sz="135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0 </a:t>
            </a:r>
            <a:r>
              <a:rPr lang="zh-CN" sz="135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搭起「自研工具</a:t>
            </a:r>
            <a:r>
              <a:rPr lang="en-US" sz="135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+ </a:t>
            </a:r>
            <a:r>
              <a:rPr lang="zh-CN" sz="135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复用</a:t>
            </a:r>
            <a:r>
              <a:rPr lang="en-US" sz="135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Skill + </a:t>
            </a:r>
            <a:r>
              <a:rPr lang="zh-CN" sz="135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平台验收运营</a:t>
            </a:r>
            <a:r>
              <a:rPr lang="en-US" sz="135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+ </a:t>
            </a:r>
            <a:r>
              <a:rPr lang="zh-CN" sz="135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培训推广」完整交付体系，覆盖采购</a:t>
            </a:r>
            <a:r>
              <a:rPr lang="en-US" sz="135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/ </a:t>
            </a:r>
            <a:r>
              <a:rPr lang="zh-CN" sz="135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船务</a:t>
            </a:r>
            <a:r>
              <a:rPr lang="en-US" sz="135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/ </a:t>
            </a:r>
            <a:r>
              <a:rPr lang="zh-CN" sz="135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财务</a:t>
            </a:r>
            <a:r>
              <a:rPr lang="en-US" sz="135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/ </a:t>
            </a:r>
            <a:r>
              <a:rPr lang="zh-CN" sz="135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销售</a:t>
            </a:r>
            <a:r>
              <a:rPr lang="en-US" sz="135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/ </a:t>
            </a:r>
            <a:r>
              <a:rPr lang="zh-CN" sz="135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研发</a:t>
            </a:r>
            <a:r>
              <a:rPr lang="en-US" sz="135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/ </a:t>
            </a:r>
            <a:r>
              <a:rPr lang="zh-CN" sz="135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营销</a:t>
            </a:r>
            <a:r>
              <a:rPr lang="en-US" sz="135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6 </a:t>
            </a:r>
            <a:r>
              <a:rPr lang="zh-CN" sz="135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类业务方；交付快（自研平均</a:t>
            </a:r>
            <a:r>
              <a:rPr lang="en-US" sz="135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~25 </a:t>
            </a:r>
            <a:r>
              <a:rPr lang="zh-CN" sz="135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天）、持续迭代。</a:t>
            </a:r>
            <a:endParaRPr lang="zh-CN" sz="135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4" name="文本框 113" descr="{&quot;isTemplate&quot;:true,&quot;type&quot;:&quot;text&quot;}"/>
          <p:cNvSpPr txBox="1"/>
          <p:nvPr/>
        </p:nvSpPr>
        <p:spPr>
          <a:xfrm>
            <a:off x="533400" y="6362700"/>
            <a:ext cx="1285875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88888"/>
                </a:solidFill>
                <a:latin typeface="微软雅黑" panose="020B0503020204020204" charset="-122"/>
                <a:ea typeface="微软雅黑" panose="020B0503020204020204" charset="-122"/>
              </a:rPr>
              <a:t>入职以来</a:t>
            </a:r>
            <a:r>
              <a:rPr lang="en-US" sz="1050">
                <a:solidFill>
                  <a:srgbClr val="888888"/>
                </a:solidFill>
                <a:latin typeface="微软雅黑" panose="020B0503020204020204" charset="-122"/>
                <a:ea typeface="微软雅黑" panose="020B0503020204020204" charset="-122"/>
              </a:rPr>
              <a:t> AI </a:t>
            </a:r>
            <a:r>
              <a:rPr lang="zh-CN" sz="1050">
                <a:solidFill>
                  <a:srgbClr val="888888"/>
                </a:solidFill>
                <a:latin typeface="微软雅黑" panose="020B0503020204020204" charset="-122"/>
                <a:ea typeface="微软雅黑" panose="020B0503020204020204" charset="-122"/>
              </a:rPr>
              <a:t>工作复盘</a:t>
            </a:r>
            <a:endParaRPr lang="zh-CN" sz="1050">
              <a:solidFill>
                <a:srgbClr val="88888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5" name="文本框 114" descr="{&quot;isTemplate&quot;:true,&quot;type&quot;:&quot;text&quot;}"/>
          <p:cNvSpPr txBox="1"/>
          <p:nvPr/>
        </p:nvSpPr>
        <p:spPr>
          <a:xfrm>
            <a:off x="11229975" y="6362700"/>
            <a:ext cx="428625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88888"/>
                </a:solidFill>
                <a:latin typeface="微软雅黑" panose="020B0503020204020204" charset="-122"/>
                <a:ea typeface="微软雅黑" panose="020B0503020204020204" charset="-122"/>
              </a:rPr>
              <a:t>03 / 13</a:t>
            </a:r>
            <a:endParaRPr lang="en-US" sz="1050">
              <a:solidFill>
                <a:srgbClr val="88888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16" name="" descr="&lt;Slide style={{ width:'1280px', height:'720px', position:'relative', background:'#FFFFFF', fontFamily:'微软雅黑' }}&gt;&#10;  &lt;Box style={{ position:'absolute', left:56, top:36, flexDirection:'row', alignItems:'center', gap:12 }}&gt;&#10;    &lt;Box style={{ width:8, height:34, background:'#4472C4' }} /&gt;&#10;    &lt;Text style={{ fontSize:30, fontWeight:'bold', color:'#052B7C' }}&gt;二、自研应用交付总览&lt;/Text&gt;&#10;  &lt;/Box&gt;&#10;&#10;  &lt;Box style={{ position:'absolute', left:56, top:120, right:56 }}&gt;&#10;    &lt;Table&#10;      style={{ width:'100%', height:420 }}&#10;      defaultTextStyle={{ fontSize:15, textAlign:'center', color:'#1A1A1A' }}&#10;      defaultCellStyle={{ border:{ left:{width:1,color:'#CCCCCC'}, right:{width:1,color:'#CCCCCC'}, top:{width:1,color:'#CCCCCC'}, bottom:{width:1,color:'#CCCCCC'} } }}&#10;      cells={[&#10;        [ {text:'应用 / 工具', textStyle:{bold:true,color:'#1A1A1A'}, cellStyle:{background:{color:'#DAE3F3'}}},&#10;          {text:'交付时间', textStyle:{bold:true,color:'#1A1A1A'}, cellStyle:{background:{color:'#DAE3F3'}}},&#10;          {text:'形态', textStyle:{bold:true,color:'#1A1A1A'}, cellStyle:{background:{color:'#DAE3F3'}}},&#10;          {text:'主要对象', textStyle:{bold:true,color:'#1A1A1A'}, cellStyle:{background:{color:'#DAE3F3'}}},&#10;          {text:'当前状态', textStyle:{bold:true,color:'#1A1A1A'}, cellStyle:{background:{color:'#DAE3F3'}}} ],&#10;        ['采购分析助手','05-29','前后端 Web','采购部','维护中（至 07-30）'],&#10;        ['船务 T/T 协议自动化','06-22','前后端 Web','船务部','95%+ 试用'],&#10;        ['数据脱敏 Data_masking','07-28','桌面 .exe','财务部','长期优化'],&#10;        ['对账单','已交付','纯前端 HTML','财务部','已交付'],&#10;        ['Tax_check 退税审单','08-01','桌面 .exe','财务部','已交付运营（收尾）'],&#10;      ]}&#10;    /&gt;&#10;  &lt;/Box&gt;&#10;&#10;  &lt;Box style={{ position:'absolute', left:56, top:560, right:56 }}&gt;&#10;    &lt;Text style={{ fontSize:16, color:'#1A1A1A', lineHeight:1.5 }}&gt;自研平均 &lt;span style={{ fontWeight:'bold', color:'#4472C4' }}&gt;~25 天&lt;/span&gt; 交付；含 1 次 PyQt5→Web 重构（05-27）、2 次架构级重构（采购 06-27、船务 08-01 JSON→SQLite）；110+ 条代码迭代。MSDS 中英文双语生成内嵌于船务助手，不作独立交付项。&lt;/Text&gt;&#10;  &lt;/Box&gt;&#10;&#10;  &lt;Box style={{ position:'absolute', left:56, top:668, right:56, flexDirection:'row', justifyContent:'space-between' }}&gt;&#10;    &lt;Text style={{ fontSize:14, color:'#888' }}&gt;入职以来 AI 工作复盘&lt;/Text&gt;&#10;    &lt;Text style={{ fontSize:14, color:'#888' }}&gt;04 / 13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矩形 116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</p:spPr>
        <p:txBody>
          <a:bodyPr/>
          <a:p/>
        </p:txBody>
      </p:sp>
      <p:sp>
        <p:nvSpPr>
          <p:cNvPr id="118" name="矩形 117"/>
          <p:cNvSpPr/>
          <p:nvPr/>
        </p:nvSpPr>
        <p:spPr>
          <a:xfrm>
            <a:off x="533400" y="352425"/>
            <a:ext cx="76200" cy="323850"/>
          </a:xfrm>
          <a:prstGeom prst="rect">
            <a:avLst/>
          </a:prstGeom>
          <a:solidFill>
            <a:srgbClr val="4472C4"/>
          </a:solidFill>
        </p:spPr>
        <p:txBody>
          <a:bodyPr/>
          <a:p/>
        </p:txBody>
      </p:sp>
      <p:sp>
        <p:nvSpPr>
          <p:cNvPr id="119" name="文本框 118" descr="{&quot;isTemplate&quot;:true,&quot;type&quot;:&quot;text&quot;}"/>
          <p:cNvSpPr txBox="1"/>
          <p:nvPr/>
        </p:nvSpPr>
        <p:spPr>
          <a:xfrm>
            <a:off x="723900" y="342900"/>
            <a:ext cx="2857500" cy="3429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052B7C"/>
                </a:solidFill>
                <a:latin typeface="微软雅黑" panose="020B0503020204020204" charset="-122"/>
                <a:ea typeface="微软雅黑" panose="020B0503020204020204" charset="-122"/>
              </a:rPr>
              <a:t>二、</a:t>
            </a:r>
            <a:r>
              <a:rPr lang="zh-CN" sz="2250" b="1">
                <a:solidFill>
                  <a:srgbClr val="052B7C"/>
                </a:solidFill>
                <a:latin typeface="微软雅黑" panose="020B0503020204020204" charset="-122"/>
                <a:ea typeface="微软雅黑" panose="020B0503020204020204" charset="-122"/>
              </a:rPr>
              <a:t>开发应用交付总览</a:t>
            </a:r>
            <a:endParaRPr lang="zh-CN" sz="2250" b="1">
              <a:solidFill>
                <a:srgbClr val="052B7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graphicFrame>
        <p:nvGraphicFramePr>
          <p:cNvPr id="120" name="表格 119"/>
          <p:cNvGraphicFramePr/>
          <p:nvPr/>
        </p:nvGraphicFramePr>
        <p:xfrm>
          <a:off x="533400" y="1143000"/>
          <a:ext cx="11125201" cy="4000500"/>
        </p:xfrm>
        <a:graphic>
          <a:graphicData uri="http://schemas.openxmlformats.org/drawingml/2006/table">
            <a:tbl>
              <a:tblPr/>
              <a:tblGrid>
                <a:gridCol w="3469956"/>
                <a:gridCol w="1375336"/>
                <a:gridCol w="2007674"/>
                <a:gridCol w="1375336"/>
                <a:gridCol w="2896899"/>
              </a:tblGrid>
              <a:tr h="666750"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 b="1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应用 / 工具</a:t>
                      </a:r>
                      <a:endParaRPr sz="1125" b="1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AE3F3"/>
                    </a:solidFill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 b="1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交付时间</a:t>
                      </a:r>
                      <a:endParaRPr sz="1125" b="1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AE3F3"/>
                    </a:solidFill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 b="1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形态</a:t>
                      </a:r>
                      <a:endParaRPr sz="1125" b="1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AE3F3"/>
                    </a:solidFill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 b="1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主要对象</a:t>
                      </a:r>
                      <a:endParaRPr sz="1125" b="1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AE3F3"/>
                    </a:solidFill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 b="1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当前状态</a:t>
                      </a:r>
                      <a:endParaRPr sz="1125" b="1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AE3F3"/>
                    </a:solidFill>
                  </a:tcPr>
                </a:tc>
              </a:tr>
              <a:tr h="666750"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采购分析助手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05-29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前后端 Web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采购部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维护中（至 07-30）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66750"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船务 T/T 协议自动化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06-22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前后端 Web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船务部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95%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66750"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数据脱敏 Data_masking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07-28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桌面 .exe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财务部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长期优化</a:t>
                      </a:r>
                      <a:r>
                        <a:rPr lang="en-US"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+</a:t>
                      </a:r>
                      <a:r>
                        <a:rPr lang="zh-CN" altLang="en-US"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新调整</a:t>
                      </a:r>
                      <a:endParaRPr lang="zh-CN" altLang="en-US"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66750"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对账单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已交付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纯前端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财务部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已交付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66750"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Tax_check 退税审单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08-01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桌面 .exe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财务部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已交付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121" name="文本框 120" descr="{&quot;isTemplate&quot;:true,&quot;type&quot;:&quot;text&quot;}"/>
          <p:cNvSpPr txBox="1"/>
          <p:nvPr/>
        </p:nvSpPr>
        <p:spPr>
          <a:xfrm>
            <a:off x="533400" y="5334000"/>
            <a:ext cx="11125200" cy="552450"/>
          </a:xfrm>
          <a:prstGeom prst="rect">
            <a:avLst/>
          </a:prstGeom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自研平均</a:t>
            </a:r>
            <a:r>
              <a:rPr lang="en-US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 </a:t>
            </a:r>
            <a:r>
              <a:rPr lang="en-US" sz="1200" b="1">
                <a:solidFill>
                  <a:srgbClr val="4472C4"/>
                </a:solidFill>
                <a:latin typeface="微软雅黑" panose="020B0503020204020204" charset="-122"/>
                <a:ea typeface="微软雅黑" panose="020B0503020204020204" charset="-122"/>
              </a:rPr>
              <a:t>~25 </a:t>
            </a:r>
            <a:r>
              <a:rPr lang="zh-CN" sz="1200" b="1">
                <a:solidFill>
                  <a:srgbClr val="4472C4"/>
                </a:solidFill>
                <a:latin typeface="微软雅黑" panose="020B0503020204020204" charset="-122"/>
                <a:ea typeface="微软雅黑" panose="020B0503020204020204" charset="-122"/>
              </a:rPr>
              <a:t>天</a:t>
            </a:r>
            <a:r>
              <a:rPr lang="en-US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 </a:t>
            </a:r>
            <a:r>
              <a:rPr lang="zh-CN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交付；含</a:t>
            </a:r>
            <a:r>
              <a:rPr lang="en-US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 1 </a:t>
            </a:r>
            <a:r>
              <a:rPr lang="zh-CN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次</a:t>
            </a:r>
            <a:r>
              <a:rPr lang="en-US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 PyQt5→Web </a:t>
            </a:r>
            <a:r>
              <a:rPr lang="zh-CN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重构（</a:t>
            </a:r>
            <a:r>
              <a:rPr lang="en-US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05-27</a:t>
            </a:r>
            <a:r>
              <a:rPr lang="zh-CN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）、</a:t>
            </a:r>
            <a:r>
              <a:rPr lang="en-US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2 </a:t>
            </a:r>
            <a:r>
              <a:rPr lang="zh-CN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次架构级重构（采购</a:t>
            </a:r>
            <a:r>
              <a:rPr lang="en-US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 06-27</a:t>
            </a:r>
            <a:r>
              <a:rPr lang="zh-CN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、船务</a:t>
            </a:r>
            <a:r>
              <a:rPr lang="en-US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 08-01 JSON→SQLite</a:t>
            </a:r>
            <a:r>
              <a:rPr lang="zh-CN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）；</a:t>
            </a:r>
            <a:r>
              <a:rPr lang="en-US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110+ </a:t>
            </a:r>
            <a:r>
              <a:rPr lang="zh-CN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条代码迭代。</a:t>
            </a:r>
            <a:r>
              <a:rPr lang="en-US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MSDS </a:t>
            </a:r>
            <a:r>
              <a:rPr lang="zh-CN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中英文双语生成内嵌于船务助手，不作独立交付项。</a:t>
            </a:r>
            <a:endParaRPr lang="zh-CN" sz="1200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22" name="文本框 121" descr="{&quot;isTemplate&quot;:true,&quot;type&quot;:&quot;text&quot;}"/>
          <p:cNvSpPr txBox="1"/>
          <p:nvPr/>
        </p:nvSpPr>
        <p:spPr>
          <a:xfrm>
            <a:off x="533400" y="6362700"/>
            <a:ext cx="1285875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88888"/>
                </a:solidFill>
                <a:latin typeface="微软雅黑" panose="020B0503020204020204" charset="-122"/>
                <a:ea typeface="微软雅黑" panose="020B0503020204020204" charset="-122"/>
              </a:rPr>
              <a:t>入职以来</a:t>
            </a:r>
            <a:r>
              <a:rPr lang="en-US" sz="1050">
                <a:solidFill>
                  <a:srgbClr val="888888"/>
                </a:solidFill>
                <a:latin typeface="微软雅黑" panose="020B0503020204020204" charset="-122"/>
                <a:ea typeface="微软雅黑" panose="020B0503020204020204" charset="-122"/>
              </a:rPr>
              <a:t> AI </a:t>
            </a:r>
            <a:r>
              <a:rPr lang="zh-CN" sz="1050">
                <a:solidFill>
                  <a:srgbClr val="888888"/>
                </a:solidFill>
                <a:latin typeface="微软雅黑" panose="020B0503020204020204" charset="-122"/>
                <a:ea typeface="微软雅黑" panose="020B0503020204020204" charset="-122"/>
              </a:rPr>
              <a:t>工作复盘</a:t>
            </a:r>
            <a:endParaRPr lang="zh-CN" sz="1050">
              <a:solidFill>
                <a:srgbClr val="88888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23" name="文本框 122" descr="{&quot;isTemplate&quot;:true,&quot;type&quot;:&quot;text&quot;}"/>
          <p:cNvSpPr txBox="1"/>
          <p:nvPr/>
        </p:nvSpPr>
        <p:spPr>
          <a:xfrm>
            <a:off x="11229975" y="6362700"/>
            <a:ext cx="428625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88888"/>
                </a:solidFill>
                <a:latin typeface="微软雅黑" panose="020B0503020204020204" charset="-122"/>
                <a:ea typeface="微软雅黑" panose="020B0503020204020204" charset="-122"/>
              </a:rPr>
              <a:t>04 / 13</a:t>
            </a:r>
            <a:endParaRPr lang="en-US" sz="1050">
              <a:solidFill>
                <a:srgbClr val="88888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99" name="" descr="&lt;Slide style={{ width:'1280px', height:'720px', position:'relative', background:'#FFFFFF', fontFamily:'微软雅黑' }}&gt;&#10;  &lt;Box style={{ position:'absolute', left:56, top:36, flexDirection:'row', alignItems:'center', gap:12 }}&gt;&#10;    &lt;Box style={{ width:8, height:34, background:'#4472C4' }} /&gt;&#10;    &lt;Text style={{ fontSize:30, fontWeight:'bold', color:'#052B7C' }}&gt;三、Skill 抽象与复用&lt;/Text&gt;&#10;  &lt;/Box&gt;&#10;&#10;  &lt;Box style={{ position:'absolute', left:56, top:118, right:56, background:'#052B7C', borderRadius:10, padding:'14px 22px' }}&gt;&#10;    &lt;Text style={{ fontSize:17, color:'#FFFFFF', lineHeight:1.5 }}&gt;与「建应用」并列的内部第二条交付路径：复现工作场景 → 抽象输入输出 → 复用 / 赋能业务自建。&lt;/Text&gt;&#10;  &lt;/Box&gt;&#10;&#10;  &lt;Box style={{ position:'absolute', left:56, top:200, right:56, flexDirection:'row', gap:28 }}&gt;&#10;    &lt;Box style={{ flex:1, background:'#F4F7FC', borderRadius:12, padding:24, flexDirection:'column', gap:12 }}&gt;&#10;      &lt;Text style={{ fontSize:22, fontWeight:'bold', color:'#4472C4' }}&gt;tax-refund-audit（退税审单 Skill）&lt;/Text&gt;&#10;      &lt;Text style={{ fontSize:17, color:'#1A1A1A', lineHeight:1.7 }}&gt;· 抽象退税审单工作流为可复用 Skill，交付财务部&lt;/Text&gt;&#10;      &lt;Text style={{ fontSize:17, color:'#1A1A1A', lineHeight:1.7 }}&gt;· 与 Tax_check 应用互补：应用做 OCR + 条款矩阵「体检」，Skill 做审单流程复用与下沉&lt;/Text&gt;&#10;      &lt;Text style={{ fontSize:17, color:'#1A1A1A', lineHeight:1.7 }}&gt;· 降低对专人 / 专工具的依赖&lt;/Text&gt;&#10;      &lt;Box style={{ marginTop:4, background:'#DAE3F3', borderRadius:6, padding:'6px 12px', alignSelf:'flex-start' }}&gt;&lt;Text style={{ fontSize:15, fontWeight:'bold', color:'#052B7C' }}&gt;状态：已交付财务使用&lt;/Text&gt;&lt;/Box&gt;&#10;    &lt;/Box&gt;&#10;    &lt;Box style={{ flex:1, background:'#F4F7FC', borderRadius:12, padding:24, flexDirection:'column', gap:12 }}&gt;&#10;      &lt;Text style={{ fontSize:22, fontWeight:'bold', color:'#4472C4' }}&gt;daily-commodity-price-scraper（价格爬取 Skill）&lt;/Text&gt;&#10;      &lt;Text style={{ fontSize:17, color:'#1A1A1A', lineHeight:1.7 }}&gt;· 作为「钩子」培养采购部门自主制作 Skill 的能力&lt;/Text&gt;&#10;      &lt;Text style={{ fontSize:17, color:'#1A1A1A', lineHeight:1.7 }}&gt;· 后续仍回采购部门培训，巩固「自建 Skill」能力&lt;/Text&gt;&#10;      &lt;Text style={{ fontSize:17, color:'#1A1A1A', lineHeight:1.7 }}&gt;· 体现理念：赋能业务自建，AI 小组退后为把关角色&lt;/Text&gt;&#10;      &lt;Box style={{ marginTop:4, background:'#DAE3F3', borderRadius:6, padding:'6px 12px', alignSelf:'flex-start' }}&gt;&lt;Text style={{ fontSize:15, fontWeight:'bold', color:'#052B7C' }}&gt;状态：赋能中（回培训）&lt;/Text&gt;&lt;/Box&gt;&#10;    &lt;/Box&gt;&#10;  &lt;/Box&gt;&#10;&#10;  &lt;Box style={{ position:'absolute', left:56, top:668, right:56, flexDirection:'row', justifyContent:'space-between' }}&gt;&#10;    &lt;Text style={{ fontSize:14, color:'#888' }}&gt;入职以来 AI 工作复盘&lt;/Text&gt;&#10;    &lt;Text style={{ fontSize:14, color:'#888' }}&gt;08 / 13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矩形 199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</p:spPr>
        <p:txBody>
          <a:bodyPr/>
          <a:p/>
        </p:txBody>
      </p:sp>
      <p:sp>
        <p:nvSpPr>
          <p:cNvPr id="201" name="矩形 200"/>
          <p:cNvSpPr/>
          <p:nvPr/>
        </p:nvSpPr>
        <p:spPr>
          <a:xfrm>
            <a:off x="533400" y="352425"/>
            <a:ext cx="76200" cy="323850"/>
          </a:xfrm>
          <a:prstGeom prst="rect">
            <a:avLst/>
          </a:prstGeom>
          <a:solidFill>
            <a:srgbClr val="4472C4"/>
          </a:solidFill>
        </p:spPr>
        <p:txBody>
          <a:bodyPr/>
          <a:p/>
        </p:txBody>
      </p:sp>
      <p:sp>
        <p:nvSpPr>
          <p:cNvPr id="202" name="文本框 201" descr="{&quot;isTemplate&quot;:true,&quot;type&quot;:&quot;text&quot;}"/>
          <p:cNvSpPr txBox="1"/>
          <p:nvPr/>
        </p:nvSpPr>
        <p:spPr>
          <a:xfrm>
            <a:off x="723900" y="342900"/>
            <a:ext cx="2705100" cy="3429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052B7C"/>
                </a:solidFill>
                <a:latin typeface="微软雅黑" panose="020B0503020204020204" charset="-122"/>
                <a:ea typeface="微软雅黑" panose="020B0503020204020204" charset="-122"/>
              </a:rPr>
              <a:t>三、</a:t>
            </a:r>
            <a:r>
              <a:rPr lang="en-US" sz="2250" b="1">
                <a:solidFill>
                  <a:srgbClr val="052B7C"/>
                </a:solidFill>
                <a:latin typeface="微软雅黑" panose="020B0503020204020204" charset="-122"/>
                <a:ea typeface="微软雅黑" panose="020B0503020204020204" charset="-122"/>
              </a:rPr>
              <a:t>Skill </a:t>
            </a:r>
            <a:r>
              <a:rPr lang="zh-CN" sz="2250" b="1">
                <a:solidFill>
                  <a:srgbClr val="052B7C"/>
                </a:solidFill>
                <a:latin typeface="微软雅黑" panose="020B0503020204020204" charset="-122"/>
                <a:ea typeface="微软雅黑" panose="020B0503020204020204" charset="-122"/>
              </a:rPr>
              <a:t>抽象与复用</a:t>
            </a:r>
            <a:endParaRPr lang="zh-CN" sz="2250" b="1">
              <a:solidFill>
                <a:srgbClr val="052B7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03" name="圆角矩形 202"/>
          <p:cNvSpPr/>
          <p:nvPr/>
        </p:nvSpPr>
        <p:spPr>
          <a:xfrm>
            <a:off x="533400" y="1123950"/>
            <a:ext cx="11125200" cy="561975"/>
          </a:xfrm>
          <a:prstGeom prst="roundRect">
            <a:avLst>
              <a:gd name="adj" fmla="val 16949"/>
            </a:avLst>
          </a:prstGeom>
          <a:solidFill>
            <a:srgbClr val="052B7C"/>
          </a:solidFill>
        </p:spPr>
        <p:txBody>
          <a:bodyPr/>
          <a:p/>
        </p:txBody>
      </p:sp>
      <p:sp>
        <p:nvSpPr>
          <p:cNvPr id="204" name="文本框 203" descr="{&quot;isTemplate&quot;:true,&quot;type&quot;:&quot;text&quot;}"/>
          <p:cNvSpPr txBox="1"/>
          <p:nvPr/>
        </p:nvSpPr>
        <p:spPr>
          <a:xfrm>
            <a:off x="742950" y="1257300"/>
            <a:ext cx="10706100" cy="2952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275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与「建应用」并列的内部第二条交付路径：复现工作场景</a:t>
            </a:r>
            <a:r>
              <a:rPr lang="en-US" sz="1275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→ </a:t>
            </a:r>
            <a:r>
              <a:rPr lang="zh-CN" sz="1275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抽象输入输出</a:t>
            </a:r>
            <a:r>
              <a:rPr lang="en-US" sz="1275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→ </a:t>
            </a:r>
            <a:r>
              <a:rPr lang="zh-CN" sz="1275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复用</a:t>
            </a:r>
            <a:r>
              <a:rPr lang="en-US" sz="1275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/ </a:t>
            </a:r>
            <a:r>
              <a:rPr lang="zh-CN" sz="1275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赋能业务自建。</a:t>
            </a:r>
            <a:endParaRPr lang="zh-CN" sz="1275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05" name="圆角矩形 204"/>
          <p:cNvSpPr/>
          <p:nvPr/>
        </p:nvSpPr>
        <p:spPr>
          <a:xfrm>
            <a:off x="533400" y="1905000"/>
            <a:ext cx="5429250" cy="2828925"/>
          </a:xfrm>
          <a:prstGeom prst="roundRect">
            <a:avLst>
              <a:gd name="adj" fmla="val 4040"/>
            </a:avLst>
          </a:prstGeom>
          <a:solidFill>
            <a:srgbClr val="F4F7FC"/>
          </a:solidFill>
        </p:spPr>
        <p:txBody>
          <a:bodyPr/>
          <a:p/>
        </p:txBody>
      </p:sp>
      <p:sp>
        <p:nvSpPr>
          <p:cNvPr id="206" name="文本框 205" descr="{&quot;isTemplate&quot;:true,&quot;type&quot;:&quot;text&quot;}"/>
          <p:cNvSpPr txBox="1"/>
          <p:nvPr/>
        </p:nvSpPr>
        <p:spPr>
          <a:xfrm>
            <a:off x="762000" y="2133600"/>
            <a:ext cx="4972050" cy="2571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4472C4"/>
                </a:solidFill>
                <a:latin typeface="微软雅黑" panose="020B0503020204020204" charset="-122"/>
                <a:ea typeface="微软雅黑" panose="020B0503020204020204" charset="-122"/>
              </a:rPr>
              <a:t>tax-refund-audit</a:t>
            </a:r>
            <a:r>
              <a:rPr lang="zh-CN" sz="1650" b="1">
                <a:solidFill>
                  <a:srgbClr val="4472C4"/>
                </a:solidFill>
                <a:latin typeface="微软雅黑" panose="020B0503020204020204" charset="-122"/>
                <a:ea typeface="微软雅黑" panose="020B0503020204020204" charset="-122"/>
              </a:rPr>
              <a:t>（退税审单</a:t>
            </a:r>
            <a:r>
              <a:rPr lang="en-US" sz="1650" b="1">
                <a:solidFill>
                  <a:srgbClr val="4472C4"/>
                </a:solidFill>
                <a:latin typeface="微软雅黑" panose="020B0503020204020204" charset="-122"/>
                <a:ea typeface="微软雅黑" panose="020B0503020204020204" charset="-122"/>
              </a:rPr>
              <a:t> Skill</a:t>
            </a:r>
            <a:r>
              <a:rPr lang="zh-CN" sz="1650" b="1">
                <a:solidFill>
                  <a:srgbClr val="4472C4"/>
                </a:solidFill>
                <a:latin typeface="微软雅黑" panose="020B0503020204020204" charset="-122"/>
                <a:ea typeface="微软雅黑" panose="020B0503020204020204" charset="-122"/>
              </a:rPr>
              <a:t>）</a:t>
            </a:r>
            <a:endParaRPr lang="zh-CN" sz="1650" b="1">
              <a:solidFill>
                <a:srgbClr val="4472C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07" name="文本框 206" descr="{&quot;isTemplate&quot;:true,&quot;type&quot;:&quot;text&quot;}"/>
          <p:cNvSpPr txBox="1"/>
          <p:nvPr/>
        </p:nvSpPr>
        <p:spPr>
          <a:xfrm>
            <a:off x="762000" y="2505075"/>
            <a:ext cx="4972050" cy="3333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en-US" sz="127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· </a:t>
            </a:r>
            <a:r>
              <a:rPr lang="zh-CN" sz="127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抽象退税审单工作流为可复用</a:t>
            </a:r>
            <a:r>
              <a:rPr lang="en-US" sz="127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 Skill</a:t>
            </a:r>
            <a:r>
              <a:rPr lang="zh-CN" sz="127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，交付财务部</a:t>
            </a:r>
            <a:endParaRPr lang="zh-CN" sz="1275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08" name="文本框 207" descr="{&quot;isTemplate&quot;:true,&quot;type&quot;:&quot;text&quot;}"/>
          <p:cNvSpPr txBox="1"/>
          <p:nvPr/>
        </p:nvSpPr>
        <p:spPr>
          <a:xfrm>
            <a:off x="762000" y="2952750"/>
            <a:ext cx="4972050" cy="666750"/>
          </a:xfrm>
          <a:prstGeom prst="rect">
            <a:avLst/>
          </a:prstGeom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en-US" sz="127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· </a:t>
            </a:r>
            <a:r>
              <a:rPr lang="zh-CN" sz="127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与</a:t>
            </a:r>
            <a:r>
              <a:rPr lang="en-US" sz="127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 Tax_check </a:t>
            </a:r>
            <a:r>
              <a:rPr lang="zh-CN" sz="127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应用互补：应用做</a:t>
            </a:r>
            <a:r>
              <a:rPr lang="en-US" sz="127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 OCR + </a:t>
            </a:r>
            <a:r>
              <a:rPr lang="zh-CN" sz="127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条款矩阵「体检」，</a:t>
            </a:r>
            <a:r>
              <a:rPr lang="en-US" sz="127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Skill </a:t>
            </a:r>
            <a:r>
              <a:rPr lang="zh-CN" sz="127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做审单流程复用与下沉</a:t>
            </a:r>
            <a:endParaRPr lang="zh-CN" sz="1275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09" name="文本框 208" descr="{&quot;isTemplate&quot;:true,&quot;type&quot;:&quot;text&quot;}"/>
          <p:cNvSpPr txBox="1"/>
          <p:nvPr/>
        </p:nvSpPr>
        <p:spPr>
          <a:xfrm>
            <a:off x="762000" y="3733800"/>
            <a:ext cx="4972050" cy="3333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en-US" sz="127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· </a:t>
            </a:r>
            <a:r>
              <a:rPr lang="zh-CN" sz="127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降低对专人</a:t>
            </a:r>
            <a:r>
              <a:rPr lang="en-US" sz="127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 / </a:t>
            </a:r>
            <a:r>
              <a:rPr lang="zh-CN" sz="127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专工具的依赖</a:t>
            </a:r>
            <a:endParaRPr lang="zh-CN" sz="1275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10" name="圆角矩形 209"/>
          <p:cNvSpPr/>
          <p:nvPr/>
        </p:nvSpPr>
        <p:spPr>
          <a:xfrm>
            <a:off x="762000" y="4219575"/>
            <a:ext cx="1657350" cy="285750"/>
          </a:xfrm>
          <a:prstGeom prst="roundRect">
            <a:avLst>
              <a:gd name="adj" fmla="val 20000"/>
            </a:avLst>
          </a:prstGeom>
          <a:solidFill>
            <a:srgbClr val="DAE3F3"/>
          </a:solidFill>
        </p:spPr>
        <p:txBody>
          <a:bodyPr/>
          <a:p/>
        </p:txBody>
      </p:sp>
      <p:sp>
        <p:nvSpPr>
          <p:cNvPr id="211" name="文本框 210" descr="{&quot;isTemplate&quot;:true,&quot;type&quot;:&quot;text&quot;}"/>
          <p:cNvSpPr txBox="1"/>
          <p:nvPr/>
        </p:nvSpPr>
        <p:spPr>
          <a:xfrm>
            <a:off x="876300" y="4276725"/>
            <a:ext cx="1428750" cy="1714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052B7C"/>
                </a:solidFill>
                <a:latin typeface="微软雅黑" panose="020B0503020204020204" charset="-122"/>
                <a:ea typeface="微软雅黑" panose="020B0503020204020204" charset="-122"/>
              </a:rPr>
              <a:t>状态：已交付财务使用</a:t>
            </a:r>
            <a:endParaRPr lang="zh-CN" sz="1125" b="1">
              <a:solidFill>
                <a:srgbClr val="052B7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12" name="圆角矩形 211"/>
          <p:cNvSpPr/>
          <p:nvPr/>
        </p:nvSpPr>
        <p:spPr>
          <a:xfrm>
            <a:off x="6229350" y="1905000"/>
            <a:ext cx="5429250" cy="2828925"/>
          </a:xfrm>
          <a:prstGeom prst="roundRect">
            <a:avLst>
              <a:gd name="adj" fmla="val 4040"/>
            </a:avLst>
          </a:prstGeom>
          <a:solidFill>
            <a:srgbClr val="F4F7FC"/>
          </a:solidFill>
        </p:spPr>
        <p:txBody>
          <a:bodyPr/>
          <a:p/>
        </p:txBody>
      </p:sp>
      <p:sp>
        <p:nvSpPr>
          <p:cNvPr id="213" name="文本框 212" descr="{&quot;isTemplate&quot;:true,&quot;type&quot;:&quot;text&quot;}"/>
          <p:cNvSpPr txBox="1"/>
          <p:nvPr/>
        </p:nvSpPr>
        <p:spPr>
          <a:xfrm>
            <a:off x="6457950" y="2133600"/>
            <a:ext cx="4972050" cy="504825"/>
          </a:xfrm>
          <a:prstGeom prst="rect">
            <a:avLst/>
          </a:prstGeom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4472C4"/>
                </a:solidFill>
                <a:latin typeface="微软雅黑" panose="020B0503020204020204" charset="-122"/>
                <a:ea typeface="微软雅黑" panose="020B0503020204020204" charset="-122"/>
              </a:rPr>
              <a:t>daily-commodity-price-scraper</a:t>
            </a:r>
            <a:r>
              <a:rPr lang="zh-CN" sz="1650" b="1">
                <a:solidFill>
                  <a:srgbClr val="4472C4"/>
                </a:solidFill>
                <a:latin typeface="微软雅黑" panose="020B0503020204020204" charset="-122"/>
                <a:ea typeface="微软雅黑" panose="020B0503020204020204" charset="-122"/>
              </a:rPr>
              <a:t>（价格爬取</a:t>
            </a:r>
            <a:r>
              <a:rPr lang="en-US" sz="1650" b="1">
                <a:solidFill>
                  <a:srgbClr val="4472C4"/>
                </a:solidFill>
                <a:latin typeface="微软雅黑" panose="020B0503020204020204" charset="-122"/>
                <a:ea typeface="微软雅黑" panose="020B0503020204020204" charset="-122"/>
              </a:rPr>
              <a:t> Skill</a:t>
            </a:r>
            <a:r>
              <a:rPr lang="zh-CN" sz="1650" b="1">
                <a:solidFill>
                  <a:srgbClr val="4472C4"/>
                </a:solidFill>
                <a:latin typeface="微软雅黑" panose="020B0503020204020204" charset="-122"/>
                <a:ea typeface="微软雅黑" panose="020B0503020204020204" charset="-122"/>
              </a:rPr>
              <a:t>）</a:t>
            </a:r>
            <a:endParaRPr lang="zh-CN" sz="1650" b="1">
              <a:solidFill>
                <a:srgbClr val="4472C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14" name="文本框 213" descr="{&quot;isTemplate&quot;:true,&quot;type&quot;:&quot;text&quot;}"/>
          <p:cNvSpPr txBox="1"/>
          <p:nvPr/>
        </p:nvSpPr>
        <p:spPr>
          <a:xfrm>
            <a:off x="6457950" y="2752725"/>
            <a:ext cx="4972050" cy="3333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en-US" sz="127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· </a:t>
            </a:r>
            <a:r>
              <a:rPr lang="zh-CN" sz="127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作为「钩子」培养采购部门自主制作</a:t>
            </a:r>
            <a:r>
              <a:rPr lang="en-US" sz="127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 Skill </a:t>
            </a:r>
            <a:r>
              <a:rPr lang="zh-CN" sz="127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的能力</a:t>
            </a:r>
            <a:endParaRPr lang="zh-CN" sz="1275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15" name="文本框 214" descr="{&quot;isTemplate&quot;:true,&quot;type&quot;:&quot;text&quot;}"/>
          <p:cNvSpPr txBox="1"/>
          <p:nvPr/>
        </p:nvSpPr>
        <p:spPr>
          <a:xfrm>
            <a:off x="6457950" y="3200400"/>
            <a:ext cx="4972050" cy="3333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en-US" sz="127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· </a:t>
            </a:r>
            <a:r>
              <a:rPr lang="zh-CN" sz="127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后续仍回采购部门培训，巩固「自建</a:t>
            </a:r>
            <a:r>
              <a:rPr lang="en-US" sz="127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 Skill</a:t>
            </a:r>
            <a:r>
              <a:rPr lang="zh-CN" sz="127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」能力</a:t>
            </a:r>
            <a:endParaRPr lang="zh-CN" sz="1275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16" name="文本框 215" descr="{&quot;isTemplate&quot;:true,&quot;type&quot;:&quot;text&quot;}"/>
          <p:cNvSpPr txBox="1"/>
          <p:nvPr/>
        </p:nvSpPr>
        <p:spPr>
          <a:xfrm>
            <a:off x="6457950" y="3648075"/>
            <a:ext cx="4972050" cy="3333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en-US" sz="127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· </a:t>
            </a:r>
            <a:r>
              <a:rPr lang="zh-CN" sz="127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体现理念：赋能业务自建，</a:t>
            </a:r>
            <a:r>
              <a:rPr lang="en-US" sz="127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AI </a:t>
            </a:r>
            <a:r>
              <a:rPr lang="zh-CN" sz="127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小组退后为把关角色</a:t>
            </a:r>
            <a:endParaRPr lang="zh-CN" sz="1275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17" name="圆角矩形 216"/>
          <p:cNvSpPr/>
          <p:nvPr/>
        </p:nvSpPr>
        <p:spPr>
          <a:xfrm>
            <a:off x="6457950" y="4133850"/>
            <a:ext cx="1800225" cy="285750"/>
          </a:xfrm>
          <a:prstGeom prst="roundRect">
            <a:avLst>
              <a:gd name="adj" fmla="val 20000"/>
            </a:avLst>
          </a:prstGeom>
          <a:solidFill>
            <a:srgbClr val="DAE3F3"/>
          </a:solidFill>
        </p:spPr>
        <p:txBody>
          <a:bodyPr/>
          <a:p/>
        </p:txBody>
      </p:sp>
      <p:sp>
        <p:nvSpPr>
          <p:cNvPr id="218" name="文本框 217" descr="{&quot;isTemplate&quot;:true,&quot;type&quot;:&quot;text&quot;}"/>
          <p:cNvSpPr txBox="1"/>
          <p:nvPr/>
        </p:nvSpPr>
        <p:spPr>
          <a:xfrm>
            <a:off x="6572250" y="4191000"/>
            <a:ext cx="1571625" cy="1714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052B7C"/>
                </a:solidFill>
                <a:latin typeface="微软雅黑" panose="020B0503020204020204" charset="-122"/>
                <a:ea typeface="微软雅黑" panose="020B0503020204020204" charset="-122"/>
              </a:rPr>
              <a:t>状态：赋能中（回培训）</a:t>
            </a:r>
            <a:endParaRPr lang="zh-CN" sz="1125" b="1">
              <a:solidFill>
                <a:srgbClr val="052B7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19" name="文本框 218" descr="{&quot;isTemplate&quot;:true,&quot;type&quot;:&quot;text&quot;}"/>
          <p:cNvSpPr txBox="1"/>
          <p:nvPr/>
        </p:nvSpPr>
        <p:spPr>
          <a:xfrm>
            <a:off x="533400" y="6362700"/>
            <a:ext cx="1285875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88888"/>
                </a:solidFill>
                <a:latin typeface="微软雅黑" panose="020B0503020204020204" charset="-122"/>
                <a:ea typeface="微软雅黑" panose="020B0503020204020204" charset="-122"/>
              </a:rPr>
              <a:t>入职以来</a:t>
            </a:r>
            <a:r>
              <a:rPr lang="en-US" sz="1050">
                <a:solidFill>
                  <a:srgbClr val="888888"/>
                </a:solidFill>
                <a:latin typeface="微软雅黑" panose="020B0503020204020204" charset="-122"/>
                <a:ea typeface="微软雅黑" panose="020B0503020204020204" charset="-122"/>
              </a:rPr>
              <a:t> AI </a:t>
            </a:r>
            <a:r>
              <a:rPr lang="zh-CN" sz="1050">
                <a:solidFill>
                  <a:srgbClr val="888888"/>
                </a:solidFill>
                <a:latin typeface="微软雅黑" panose="020B0503020204020204" charset="-122"/>
                <a:ea typeface="微软雅黑" panose="020B0503020204020204" charset="-122"/>
              </a:rPr>
              <a:t>工作复盘</a:t>
            </a:r>
            <a:endParaRPr lang="zh-CN" sz="1050">
              <a:solidFill>
                <a:srgbClr val="88888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20" name="文本框 219" descr="{&quot;isTemplate&quot;:true,&quot;type&quot;:&quot;text&quot;}"/>
          <p:cNvSpPr txBox="1"/>
          <p:nvPr/>
        </p:nvSpPr>
        <p:spPr>
          <a:xfrm>
            <a:off x="11229975" y="6362700"/>
            <a:ext cx="428625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88888"/>
                </a:solidFill>
                <a:latin typeface="微软雅黑" panose="020B0503020204020204" charset="-122"/>
                <a:ea typeface="微软雅黑" panose="020B0503020204020204" charset="-122"/>
              </a:rPr>
              <a:t>08 / 13</a:t>
            </a:r>
            <a:endParaRPr lang="en-US" sz="1050">
              <a:solidFill>
                <a:srgbClr val="88888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2" name="" descr="&lt;Slide style={{ width:'1280px', height:'720px', position:'relative', background:'#FFFFFF', fontFamily:'微软雅黑' }}&gt;&#10;  &lt;Box style={{ position:'absolute', left:56, top:36, flexDirection:'row', alignItems:'center', gap:12 }}&gt;&#10;    &lt;Box style={{ width:8, height:34, background:'#4472C4' }} /&gt;&#10;    &lt;Text style={{ fontSize:30, fontWeight:'bold', color:'#052B7C' }}&gt;五、宏昊AI助手 · 验收运营&lt;/Text&gt;&#10;  &lt;/Box&gt;&#10;&#10;  &lt;Box style={{ position:'absolute', left:56, top:130, right:56, flexDirection:'row', gap:22 }}&gt;&#10;    {[['37','平台验收项'],['19','问题反馈闭环'],['93.3%','6 月单月通过率']].map((c, i) =&gt; (&#10;      &lt;Box key={i} style={{ flex:1, background:'#F4F7FC', borderRadius:10, padding:'22px 18px', alignItems:'center' }}&gt;&#10;        &lt;Text style={{ fontSize:56, fontWeight:'bold', color:'#4472C4' }}&gt;{c[0]}&lt;/Text&gt;&#10;        &lt;Text style={{ fontSize:18, color:'#1A1A1A', marginTop:6 }}&gt;{c[1]}&lt;/Text&gt;&#10;      &lt;/Box&gt;&#10;    ))}&#10;  &lt;/Box&gt;&#10;&#10;  &lt;Box style={{ position:'absolute', left:56, top:300, right:56, background:'#052B7C', borderRadius:10, padding:'16px 22px' }}&gt;&#10;    &lt;Text style={{ fontSize:18, color:'#FFFFFF', lineHeight:1.5 }}&gt;入职以来 &lt;span style={{ fontWeight:'bold' }}&gt;37 项验收 + 19 项问题反馈闭环&lt;/span&gt;，6 月单月通过率 93.3% → 把「供应商交付」变「可度量、可追溯、有退回机制」的质量门槛。&lt;/Text&gt;&#10;  &lt;/Box&gt;&#10;&#10;  &lt;Box style={{ position:'absolute', left:56, top:400, right:56 }}&gt;&#10;    &lt;Table&#10;      style={{ width:'100%', height:230 }}&#10;      defaultTextStyle={{ fontSize:15, textAlign:'center', color:'#1A1A1A' }}&#10;      defaultCellStyle={{ border:{ left:{width:1,color:'#CCCCCC'}, right:{width:1,color:'#CCCCCC'}, top:{width:1,color:'#CCCCCC'}, bottom:{width:1,color:'#CCCCCC'} } }}&#10;      cells={[&#10;        [ {text:'周期', textStyle:{bold:true,color:'#1A1A1A'}, cellStyle:{background:{color:'#DAE3F3'}}},&#10;          {text:'验收产出', textStyle:{bold:true,color:'#1A1A1A'}, cellStyle:{background:{color:'#DAE3F3'}}},&#10;          {text:'问题反馈', textStyle:{bold:true,color:'#1A1A1A'}, cellStyle:{background:{color:'#DAE3F3'}}},&#10;          {text:'通过情况', textStyle:{bold:true,color:'#1A1A1A'}, cellStyle:{background:{color:'#DAE3F3'}}} ],&#10;        [ '4 月', '3 测试 + 2 验收（5 项）', '4', '—' ],&#10;        [ '5 月', '9 项测试验收', '3', '—' ],&#10;        [ '6 月', '15 用例（5 批次）', '8', {text:'14/15 通过（93.3%）', textStyle:{bold:true,color:'#4472C4'}} ],&#10;        [ '7 月（2607）', '5 轮验收（8 项）', '4', '—' ],&#10;      ]}&#10;    /&gt;&#10;  &lt;/Box&gt;&#10;&#10;  &lt;Box style={{ position:'absolute', left:56, top:668, right:56, flexDirection:'row', justifyContent:'space-between' }}&gt;&#10;    &lt;Text style={{ fontSize:14, color:'#888' }}&gt;入职以来 AI 工作复盘&lt;/Text&gt;&#10;    &lt;Text style={{ fontSize:14, color:'#888' }}&gt;10 / 13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矩形 1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</p:spPr>
        <p:txBody>
          <a:bodyPr/>
          <a:p/>
        </p:txBody>
      </p:sp>
      <p:sp>
        <p:nvSpPr>
          <p:cNvPr id="14" name="矩形 13"/>
          <p:cNvSpPr/>
          <p:nvPr/>
        </p:nvSpPr>
        <p:spPr>
          <a:xfrm>
            <a:off x="533400" y="352425"/>
            <a:ext cx="76200" cy="323850"/>
          </a:xfrm>
          <a:prstGeom prst="rect">
            <a:avLst/>
          </a:prstGeom>
          <a:solidFill>
            <a:srgbClr val="4472C4"/>
          </a:solidFill>
        </p:spPr>
        <p:txBody>
          <a:bodyPr/>
          <a:p/>
        </p:txBody>
      </p:sp>
      <p:sp>
        <p:nvSpPr>
          <p:cNvPr id="15" name="文本框 14" descr="{&quot;isTemplate&quot;:true,&quot;type&quot;:&quot;text&quot;}"/>
          <p:cNvSpPr txBox="1"/>
          <p:nvPr/>
        </p:nvSpPr>
        <p:spPr>
          <a:xfrm>
            <a:off x="723900" y="342900"/>
            <a:ext cx="3467100" cy="3429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052B7C"/>
                </a:solidFill>
                <a:latin typeface="微软雅黑" panose="020B0503020204020204" charset="-122"/>
                <a:ea typeface="微软雅黑" panose="020B0503020204020204" charset="-122"/>
              </a:rPr>
              <a:t>四、宏昊</a:t>
            </a:r>
            <a:r>
              <a:rPr lang="en-US" sz="2250" b="1">
                <a:solidFill>
                  <a:srgbClr val="052B7C"/>
                </a:solidFill>
                <a:latin typeface="微软雅黑" panose="020B0503020204020204" charset="-122"/>
                <a:ea typeface="微软雅黑" panose="020B0503020204020204" charset="-122"/>
              </a:rPr>
              <a:t>AI</a:t>
            </a:r>
            <a:r>
              <a:rPr lang="zh-CN" sz="2250" b="1">
                <a:solidFill>
                  <a:srgbClr val="052B7C"/>
                </a:solidFill>
                <a:latin typeface="微软雅黑" panose="020B0503020204020204" charset="-122"/>
                <a:ea typeface="微软雅黑" panose="020B0503020204020204" charset="-122"/>
              </a:rPr>
              <a:t>助手</a:t>
            </a:r>
            <a:r>
              <a:rPr lang="en-US" sz="2250" b="1">
                <a:solidFill>
                  <a:srgbClr val="052B7C"/>
                </a:solidFill>
                <a:latin typeface="微软雅黑" panose="020B0503020204020204" charset="-122"/>
                <a:ea typeface="微软雅黑" panose="020B0503020204020204" charset="-122"/>
              </a:rPr>
              <a:t> · </a:t>
            </a:r>
            <a:r>
              <a:rPr lang="zh-CN" sz="2250" b="1">
                <a:solidFill>
                  <a:srgbClr val="052B7C"/>
                </a:solidFill>
                <a:latin typeface="微软雅黑" panose="020B0503020204020204" charset="-122"/>
                <a:ea typeface="微软雅黑" panose="020B0503020204020204" charset="-122"/>
              </a:rPr>
              <a:t>验收运营</a:t>
            </a:r>
            <a:endParaRPr lang="zh-CN" sz="2250" b="1">
              <a:solidFill>
                <a:srgbClr val="052B7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6" name="圆角矩形 15"/>
          <p:cNvSpPr/>
          <p:nvPr>
            <p:custDataLst>
              <p:tags r:id="rId1"/>
            </p:custDataLst>
          </p:nvPr>
        </p:nvSpPr>
        <p:spPr>
          <a:xfrm>
            <a:off x="533400" y="1238250"/>
            <a:ext cx="3571875" cy="1333500"/>
          </a:xfrm>
          <a:prstGeom prst="roundRect">
            <a:avLst>
              <a:gd name="adj" fmla="val 7143"/>
            </a:avLst>
          </a:prstGeom>
          <a:solidFill>
            <a:srgbClr val="F4F7FC"/>
          </a:solidFill>
        </p:spPr>
        <p:txBody>
          <a:bodyPr/>
          <a:p/>
        </p:txBody>
      </p:sp>
      <p:sp>
        <p:nvSpPr>
          <p:cNvPr id="17" name="文本框 16" descr="{&quot;isTemplate&quot;:true,&quot;type&quot;:&quot;text&quot;}"/>
          <p:cNvSpPr txBox="1"/>
          <p:nvPr>
            <p:custDataLst>
              <p:tags r:id="rId2"/>
            </p:custDataLst>
          </p:nvPr>
        </p:nvSpPr>
        <p:spPr>
          <a:xfrm>
            <a:off x="1981200" y="1447800"/>
            <a:ext cx="685800" cy="6477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200" b="1">
                <a:solidFill>
                  <a:srgbClr val="4472C4"/>
                </a:solidFill>
                <a:latin typeface="微软雅黑" panose="020B0503020204020204" charset="-122"/>
                <a:ea typeface="微软雅黑" panose="020B0503020204020204" charset="-122"/>
              </a:rPr>
              <a:t>37</a:t>
            </a:r>
            <a:endParaRPr lang="en-US" sz="4200" b="1">
              <a:solidFill>
                <a:srgbClr val="4472C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8" name="文本框 17" descr="{&quot;isTemplate&quot;:true,&quot;type&quot;:&quot;text&quot;}"/>
          <p:cNvSpPr txBox="1"/>
          <p:nvPr>
            <p:custDataLst>
              <p:tags r:id="rId3"/>
            </p:custDataLst>
          </p:nvPr>
        </p:nvSpPr>
        <p:spPr>
          <a:xfrm>
            <a:off x="1819275" y="2152650"/>
            <a:ext cx="857250" cy="2095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altLang="en-US" sz="135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测试</a:t>
            </a:r>
            <a:r>
              <a:rPr lang="en-US" altLang="zh-CN" sz="135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 / </a:t>
            </a:r>
            <a:r>
              <a:rPr lang="zh-CN" altLang="en-US" sz="135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验收</a:t>
            </a:r>
            <a:r>
              <a:rPr lang="zh-CN" sz="135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项</a:t>
            </a:r>
            <a:endParaRPr lang="zh-CN" sz="1350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9" name="圆角矩形 18"/>
          <p:cNvSpPr/>
          <p:nvPr>
            <p:custDataLst>
              <p:tags r:id="rId4"/>
            </p:custDataLst>
          </p:nvPr>
        </p:nvSpPr>
        <p:spPr>
          <a:xfrm>
            <a:off x="4314825" y="1238250"/>
            <a:ext cx="3562350" cy="1333500"/>
          </a:xfrm>
          <a:prstGeom prst="roundRect">
            <a:avLst>
              <a:gd name="adj" fmla="val 7143"/>
            </a:avLst>
          </a:prstGeom>
          <a:solidFill>
            <a:srgbClr val="F4F7FC"/>
          </a:solidFill>
        </p:spPr>
        <p:txBody>
          <a:bodyPr/>
          <a:p/>
        </p:txBody>
      </p:sp>
      <p:sp>
        <p:nvSpPr>
          <p:cNvPr id="20" name="文本框 19" descr="{&quot;isTemplate&quot;:true,&quot;type&quot;:&quot;text&quot;}"/>
          <p:cNvSpPr txBox="1"/>
          <p:nvPr>
            <p:custDataLst>
              <p:tags r:id="rId5"/>
            </p:custDataLst>
          </p:nvPr>
        </p:nvSpPr>
        <p:spPr>
          <a:xfrm>
            <a:off x="5753100" y="1447800"/>
            <a:ext cx="685800" cy="6477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200" b="1">
                <a:solidFill>
                  <a:srgbClr val="4472C4"/>
                </a:solidFill>
                <a:latin typeface="微软雅黑" panose="020B0503020204020204" charset="-122"/>
                <a:ea typeface="微软雅黑" panose="020B0503020204020204" charset="-122"/>
              </a:rPr>
              <a:t>19</a:t>
            </a:r>
            <a:endParaRPr lang="en-US" sz="4200" b="1">
              <a:solidFill>
                <a:srgbClr val="4472C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1" name="文本框 20" descr="{&quot;isTemplate&quot;:true,&quot;type&quot;:&quot;text&quot;}"/>
          <p:cNvSpPr txBox="1"/>
          <p:nvPr>
            <p:custDataLst>
              <p:tags r:id="rId6"/>
            </p:custDataLst>
          </p:nvPr>
        </p:nvSpPr>
        <p:spPr>
          <a:xfrm>
            <a:off x="5581650" y="2152650"/>
            <a:ext cx="1028700" cy="2095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问题反馈闭环</a:t>
            </a:r>
            <a:endParaRPr lang="zh-CN" sz="1350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2" name="圆角矩形 21"/>
          <p:cNvSpPr/>
          <p:nvPr>
            <p:custDataLst>
              <p:tags r:id="rId7"/>
            </p:custDataLst>
          </p:nvPr>
        </p:nvSpPr>
        <p:spPr>
          <a:xfrm>
            <a:off x="8086725" y="1238250"/>
            <a:ext cx="3571875" cy="1333500"/>
          </a:xfrm>
          <a:prstGeom prst="roundRect">
            <a:avLst>
              <a:gd name="adj" fmla="val 7143"/>
            </a:avLst>
          </a:prstGeom>
          <a:solidFill>
            <a:srgbClr val="F4F7FC"/>
          </a:solidFill>
        </p:spPr>
        <p:txBody>
          <a:bodyPr/>
          <a:p/>
        </p:txBody>
      </p:sp>
      <p:sp>
        <p:nvSpPr>
          <p:cNvPr id="23" name="文本框 22" descr="{&quot;isTemplate&quot;:true,&quot;type&quot;:&quot;text&quot;}"/>
          <p:cNvSpPr txBox="1"/>
          <p:nvPr>
            <p:custDataLst>
              <p:tags r:id="rId8"/>
            </p:custDataLst>
          </p:nvPr>
        </p:nvSpPr>
        <p:spPr>
          <a:xfrm>
            <a:off x="8963025" y="1447800"/>
            <a:ext cx="1828800" cy="6477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200" b="1">
                <a:solidFill>
                  <a:srgbClr val="4472C4"/>
                </a:solidFill>
                <a:latin typeface="微软雅黑" panose="020B0503020204020204" charset="-122"/>
                <a:ea typeface="微软雅黑" panose="020B0503020204020204" charset="-122"/>
              </a:rPr>
              <a:t>93.3%</a:t>
            </a:r>
            <a:endParaRPr lang="en-US" sz="4200" b="1">
              <a:solidFill>
                <a:srgbClr val="4472C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4" name="文本框 23" descr="{&quot;isTemplate&quot;:true,&quot;type&quot;:&quot;text&quot;}"/>
          <p:cNvSpPr txBox="1"/>
          <p:nvPr>
            <p:custDataLst>
              <p:tags r:id="rId9"/>
            </p:custDataLst>
          </p:nvPr>
        </p:nvSpPr>
        <p:spPr>
          <a:xfrm>
            <a:off x="9286875" y="2152650"/>
            <a:ext cx="1181100" cy="2095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6 </a:t>
            </a:r>
            <a:r>
              <a:rPr lang="zh-CN" sz="135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月单月通过率</a:t>
            </a:r>
            <a:endParaRPr lang="zh-CN" sz="1350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5" name="圆角矩形 24"/>
          <p:cNvSpPr/>
          <p:nvPr/>
        </p:nvSpPr>
        <p:spPr>
          <a:xfrm>
            <a:off x="533400" y="2857500"/>
            <a:ext cx="11125200" cy="619125"/>
          </a:xfrm>
          <a:prstGeom prst="roundRect">
            <a:avLst>
              <a:gd name="adj" fmla="val 15385"/>
            </a:avLst>
          </a:prstGeom>
          <a:solidFill>
            <a:srgbClr val="052B7C"/>
          </a:solidFill>
        </p:spPr>
        <p:txBody>
          <a:bodyPr/>
          <a:p/>
        </p:txBody>
      </p:sp>
      <p:sp>
        <p:nvSpPr>
          <p:cNvPr id="26" name="文本框 25" descr="{&quot;isTemplate&quot;:true,&quot;type&quot;:&quot;text&quot;}"/>
          <p:cNvSpPr txBox="1"/>
          <p:nvPr/>
        </p:nvSpPr>
        <p:spPr>
          <a:xfrm>
            <a:off x="742950" y="3009900"/>
            <a:ext cx="10706100" cy="3143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35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入职以来</a:t>
            </a:r>
            <a:r>
              <a:rPr lang="en-US" sz="135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</a:t>
            </a:r>
            <a:r>
              <a:rPr lang="en-US" sz="13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37 </a:t>
            </a:r>
            <a:r>
              <a:rPr lang="zh-CN" sz="13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项验收</a:t>
            </a:r>
            <a:r>
              <a:rPr lang="en-US" sz="13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+ 19 </a:t>
            </a:r>
            <a:r>
              <a:rPr lang="zh-CN" sz="13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项问题反馈闭环</a:t>
            </a:r>
            <a:r>
              <a:rPr lang="zh-CN" sz="135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，</a:t>
            </a:r>
            <a:r>
              <a:rPr lang="en-US" sz="135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6 </a:t>
            </a:r>
            <a:r>
              <a:rPr lang="zh-CN" sz="135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月单月通过率</a:t>
            </a:r>
            <a:r>
              <a:rPr lang="en-US" sz="135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93.3% → </a:t>
            </a:r>
            <a:r>
              <a:rPr lang="zh-CN" sz="135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把「供应商交付」变「可度量、可追溯、有退回机制」的质量门槛。</a:t>
            </a:r>
            <a:endParaRPr lang="zh-CN" sz="135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graphicFrame>
        <p:nvGraphicFramePr>
          <p:cNvPr id="27" name="表格 26"/>
          <p:cNvGraphicFramePr/>
          <p:nvPr/>
        </p:nvGraphicFramePr>
        <p:xfrm>
          <a:off x="533400" y="3667125"/>
          <a:ext cx="11094085" cy="2593975"/>
        </p:xfrm>
        <a:graphic>
          <a:graphicData uri="http://schemas.openxmlformats.org/drawingml/2006/table">
            <a:tbl>
              <a:tblPr/>
              <a:tblGrid>
                <a:gridCol w="1254760"/>
                <a:gridCol w="1955800"/>
                <a:gridCol w="1836420"/>
                <a:gridCol w="6047105"/>
              </a:tblGrid>
              <a:tr h="518795"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 b="1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周期</a:t>
                      </a:r>
                      <a:endParaRPr sz="1125" b="1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AE3F3"/>
                    </a:solidFill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 b="1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问题反馈</a:t>
                      </a:r>
                      <a:endParaRPr sz="1125" b="1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AE3F3"/>
                    </a:solidFill>
                  </a:tcPr>
                </a:tc>
                <a:tc>
                  <a:txBody>
                    <a:bodyPr/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 b="1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产出</a:t>
                      </a:r>
                      <a:endParaRPr sz="1125" b="1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AE3F3"/>
                    </a:solidFill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 b="1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通过情况</a:t>
                      </a:r>
                      <a:endParaRPr sz="1125" b="1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AE3F3"/>
                    </a:solidFill>
                  </a:tcPr>
                </a:tc>
              </a:tr>
              <a:tr h="518795"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4 月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lang="en-US"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8 </a:t>
                      </a:r>
                      <a:r>
                        <a:rPr lang="zh-CN" altLang="en-US"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主要集中在</a:t>
                      </a:r>
                      <a:r>
                        <a:rPr lang="zh-CN" altLang="en-US"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培训助手</a:t>
                      </a:r>
                      <a:endParaRPr lang="zh-CN" altLang="en-US"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lang="en-US"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4 </a:t>
                      </a:r>
                      <a:r>
                        <a:rPr lang="zh-CN" altLang="en-US"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份测试报告</a:t>
                      </a:r>
                      <a:endParaRPr lang="zh-CN" altLang="en-US"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lang="zh-CN"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共计</a:t>
                      </a:r>
                      <a:r>
                        <a:rPr lang="en-US" altLang="zh-CN"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 10 </a:t>
                      </a:r>
                      <a:r>
                        <a:rPr lang="zh-CN" altLang="en-US"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项，未通过</a:t>
                      </a:r>
                      <a:r>
                        <a:rPr lang="en-US" altLang="zh-CN"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 1 </a:t>
                      </a:r>
                      <a:r>
                        <a:rPr lang="zh-CN" altLang="en-US"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项（</a:t>
                      </a:r>
                      <a:r>
                        <a:rPr lang="zh-CN" altLang="en-US"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视频生成）</a:t>
                      </a:r>
                      <a:endParaRPr lang="zh-CN" altLang="en-US"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518795"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5 月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3</a:t>
                      </a:r>
                      <a:r>
                        <a:rPr lang="en-US"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 </a:t>
                      </a:r>
                      <a:r>
                        <a:rPr lang="zh-CN" altLang="en-US"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主要集中在说明书助手</a:t>
                      </a:r>
                      <a:endParaRPr lang="zh-CN" altLang="en-US"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lang="en-US"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7 </a:t>
                      </a:r>
                      <a:r>
                        <a:rPr lang="zh-CN" altLang="en-US"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份</a:t>
                      </a:r>
                      <a:r>
                        <a:rPr lang="zh-CN" altLang="en-US"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测试报告</a:t>
                      </a:r>
                      <a:endParaRPr lang="zh-CN" altLang="en-US"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lang="en-US" altLang="zh-CN"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2 </a:t>
                      </a:r>
                      <a:r>
                        <a:rPr lang="zh-CN" altLang="en-US"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轮验收</a:t>
                      </a:r>
                      <a:endParaRPr lang="zh-CN" altLang="en-US"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lang="zh-CN"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sym typeface="+mn-ea"/>
                        </a:rPr>
                        <a:t>共计</a:t>
                      </a:r>
                      <a:r>
                        <a:rPr lang="en-US" altLang="zh-CN"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sym typeface="+mn-ea"/>
                        </a:rPr>
                        <a:t> 176 </a:t>
                      </a:r>
                      <a:r>
                        <a:rPr lang="zh-CN" altLang="en-US"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sym typeface="+mn-ea"/>
                        </a:rPr>
                        <a:t>项（</a:t>
                      </a:r>
                      <a:r>
                        <a:rPr lang="en-US" altLang="zh-CN"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sym typeface="+mn-ea"/>
                        </a:rPr>
                        <a:t> </a:t>
                      </a:r>
                      <a:r>
                        <a:rPr lang="zh-CN" altLang="en-US"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sym typeface="+mn-ea"/>
                        </a:rPr>
                        <a:t>其中：权限模块</a:t>
                      </a:r>
                      <a:r>
                        <a:rPr lang="en-US" altLang="zh-CN"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sym typeface="+mn-ea"/>
                        </a:rPr>
                        <a:t>73</a:t>
                      </a:r>
                      <a:r>
                        <a:rPr lang="zh-CN" altLang="en-US"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sym typeface="+mn-ea"/>
                        </a:rPr>
                        <a:t>项、说明书助手</a:t>
                      </a:r>
                      <a:r>
                        <a:rPr lang="en-US" altLang="zh-CN"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sym typeface="+mn-ea"/>
                        </a:rPr>
                        <a:t>62</a:t>
                      </a:r>
                      <a:r>
                        <a:rPr lang="zh-CN" altLang="en-US"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sym typeface="+mn-ea"/>
                        </a:rPr>
                        <a:t>项、视频生成</a:t>
                      </a:r>
                      <a:r>
                        <a:rPr lang="en-US" altLang="zh-CN"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sym typeface="+mn-ea"/>
                        </a:rPr>
                        <a:t>35</a:t>
                      </a:r>
                      <a:r>
                        <a:rPr lang="zh-CN" altLang="en-US"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sym typeface="+mn-ea"/>
                        </a:rPr>
                        <a:t>项</a:t>
                      </a:r>
                      <a:r>
                        <a:rPr lang="en-US" altLang="zh-CN"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sym typeface="+mn-ea"/>
                        </a:rPr>
                        <a:t> </a:t>
                      </a:r>
                      <a:r>
                        <a:rPr lang="zh-CN" altLang="en-US"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sym typeface="+mn-ea"/>
                        </a:rPr>
                        <a:t>）</a:t>
                      </a:r>
                      <a:endParaRPr lang="zh-CN" altLang="en-US"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  <a:sym typeface="+mn-ea"/>
                      </a:endParaRPr>
                    </a:p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lang="zh-CN" altLang="en-US"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sym typeface="+mn-ea"/>
                        </a:rPr>
                        <a:t>未通过</a:t>
                      </a:r>
                      <a:r>
                        <a:rPr lang="en-US" altLang="zh-CN"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sym typeface="+mn-ea"/>
                        </a:rPr>
                        <a:t> 18 </a:t>
                      </a:r>
                      <a:r>
                        <a:rPr lang="zh-CN" altLang="en-US"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sym typeface="+mn-ea"/>
                        </a:rPr>
                        <a:t>项，集中在说明书助手（</a:t>
                      </a:r>
                      <a:r>
                        <a:rPr lang="en-US" altLang="zh-CN"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sym typeface="+mn-ea"/>
                        </a:rPr>
                        <a:t> </a:t>
                      </a:r>
                      <a:r>
                        <a:rPr lang="zh-CN" altLang="en-US"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sym typeface="+mn-ea"/>
                        </a:rPr>
                        <a:t>文件参数提取、产品对比问题</a:t>
                      </a:r>
                      <a:r>
                        <a:rPr lang="en-US" altLang="zh-CN"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sym typeface="+mn-ea"/>
                        </a:rPr>
                        <a:t> </a:t>
                      </a:r>
                      <a:r>
                        <a:rPr lang="zh-CN" altLang="en-US"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sym typeface="+mn-ea"/>
                        </a:rPr>
                        <a:t>）以及知识库权限</a:t>
                      </a:r>
                      <a:r>
                        <a:rPr lang="zh-CN" altLang="en-US"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sym typeface="+mn-ea"/>
                        </a:rPr>
                        <a:t>模块</a:t>
                      </a:r>
                      <a:endParaRPr lang="zh-CN" altLang="en-US"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  <a:sym typeface="+mn-ea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518795"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6 月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8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lang="en-US" altLang="zh-CN"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2 </a:t>
                      </a:r>
                      <a:r>
                        <a:rPr lang="zh-CN" altLang="en-US"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份测试文档</a:t>
                      </a:r>
                      <a:endParaRPr lang="zh-CN" altLang="en-US"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lang="en-US" altLang="zh-CN"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5 </a:t>
                      </a:r>
                      <a:r>
                        <a:rPr lang="zh-CN" altLang="en-US"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轮验收</a:t>
                      </a:r>
                      <a:endParaRPr lang="zh-CN" altLang="en-US"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lang="zh-CN"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sym typeface="+mn-ea"/>
                        </a:rPr>
                        <a:t>共计</a:t>
                      </a:r>
                      <a:r>
                        <a:rPr lang="en-US" altLang="zh-CN"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sym typeface="+mn-ea"/>
                        </a:rPr>
                        <a:t> 36 </a:t>
                      </a:r>
                      <a:r>
                        <a:rPr lang="zh-CN" altLang="en-US"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sym typeface="+mn-ea"/>
                        </a:rPr>
                        <a:t>项，未通过</a:t>
                      </a:r>
                      <a:r>
                        <a:rPr lang="en-US" altLang="zh-CN"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sym typeface="+mn-ea"/>
                        </a:rPr>
                        <a:t> 2 </a:t>
                      </a:r>
                      <a:r>
                        <a:rPr lang="zh-CN" altLang="en-US"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sym typeface="+mn-ea"/>
                        </a:rPr>
                        <a:t>项（</a:t>
                      </a:r>
                      <a:r>
                        <a:rPr lang="en-US" altLang="zh-CN"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sym typeface="+mn-ea"/>
                        </a:rPr>
                        <a:t> </a:t>
                      </a:r>
                      <a:r>
                        <a:rPr lang="zh-CN" altLang="en-US"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sym typeface="+mn-ea"/>
                        </a:rPr>
                        <a:t>智能体权限</a:t>
                      </a:r>
                      <a:r>
                        <a:rPr lang="en-US" altLang="zh-CN"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sym typeface="+mn-ea"/>
                        </a:rPr>
                        <a:t> </a:t>
                      </a:r>
                      <a:r>
                        <a:rPr lang="zh-CN" altLang="en-US"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  <a:sym typeface="+mn-ea"/>
                        </a:rPr>
                        <a:t>）</a:t>
                      </a:r>
                      <a:endParaRPr lang="en-US" sz="1125" b="1">
                        <a:solidFill>
                          <a:srgbClr val="4472C4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518795"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7 月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lang="en-US"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18 </a:t>
                      </a:r>
                      <a:r>
                        <a:rPr lang="zh-CN" altLang="en-US"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主要集中在培训、</a:t>
                      </a:r>
                      <a:r>
                        <a:rPr lang="zh-CN" altLang="en-US"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文档管理中心</a:t>
                      </a:r>
                      <a:endParaRPr lang="zh-CN" altLang="en-US"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lang="en-US"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2</a:t>
                      </a:r>
                      <a:r>
                        <a:rPr lang="zh-CN" altLang="en-US"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份测试文档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5 轮验收</a:t>
                      </a:r>
                      <a:endParaRPr lang="zh-CN" altLang="en-US"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lang="en-US" altLang="zh-CN"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135 </a:t>
                      </a:r>
                      <a:r>
                        <a:rPr lang="zh-CN" altLang="en-US"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测试，均为智能体</a:t>
                      </a:r>
                      <a:r>
                        <a:rPr lang="zh-CN" altLang="en-US"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测试</a:t>
                      </a:r>
                      <a:endParaRPr lang="zh-CN" altLang="en-US"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28" name="文本框 27" descr="{&quot;isTemplate&quot;:true,&quot;type&quot;:&quot;text&quot;}"/>
          <p:cNvSpPr txBox="1"/>
          <p:nvPr/>
        </p:nvSpPr>
        <p:spPr>
          <a:xfrm>
            <a:off x="533400" y="6362700"/>
            <a:ext cx="1285875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88888"/>
                </a:solidFill>
                <a:latin typeface="微软雅黑" panose="020B0503020204020204" charset="-122"/>
                <a:ea typeface="微软雅黑" panose="020B0503020204020204" charset="-122"/>
              </a:rPr>
              <a:t>入职以来</a:t>
            </a:r>
            <a:r>
              <a:rPr lang="en-US" sz="1050">
                <a:solidFill>
                  <a:srgbClr val="888888"/>
                </a:solidFill>
                <a:latin typeface="微软雅黑" panose="020B0503020204020204" charset="-122"/>
                <a:ea typeface="微软雅黑" panose="020B0503020204020204" charset="-122"/>
              </a:rPr>
              <a:t> AI </a:t>
            </a:r>
            <a:r>
              <a:rPr lang="zh-CN" sz="1050">
                <a:solidFill>
                  <a:srgbClr val="888888"/>
                </a:solidFill>
                <a:latin typeface="微软雅黑" panose="020B0503020204020204" charset="-122"/>
                <a:ea typeface="微软雅黑" panose="020B0503020204020204" charset="-122"/>
              </a:rPr>
              <a:t>工作复盘</a:t>
            </a:r>
            <a:endParaRPr lang="zh-CN" sz="1050">
              <a:solidFill>
                <a:srgbClr val="88888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9" name="文本框 28" descr="{&quot;isTemplate&quot;:true,&quot;type&quot;:&quot;text&quot;}"/>
          <p:cNvSpPr txBox="1"/>
          <p:nvPr/>
        </p:nvSpPr>
        <p:spPr>
          <a:xfrm>
            <a:off x="11229975" y="6362700"/>
            <a:ext cx="428625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88888"/>
                </a:solidFill>
                <a:latin typeface="微软雅黑" panose="020B0503020204020204" charset="-122"/>
                <a:ea typeface="微软雅黑" panose="020B0503020204020204" charset="-122"/>
              </a:rPr>
              <a:t>10 / 13</a:t>
            </a:r>
            <a:endParaRPr lang="en-US" sz="1050">
              <a:solidFill>
                <a:srgbClr val="88888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30" name="" descr="&lt;Slide style={{ width:'1280px', height:'720px', position:'relative', background:'#FFFFFF', fontFamily:'微软雅黑' }}&gt;&#10;  &lt;Box style={{ position:'absolute', left:56, top:36, flexDirection:'row', alignItems:'center', gap:12 }}&gt;&#10;    &lt;Box style={{ width:8, height:34, background:'#4472C4' }} /&gt;&#10;    &lt;Text style={{ fontSize:30, fontWeight:'bold', color:'#052B7C' }}&gt;五、智能体矩阵与内容生成&lt;/Text&gt;&#10;  &lt;/Box&gt;&#10;&#10;  &lt;Box style={{ position:'absolute', left:56, top:120, right:56 }}&gt;&#10;    &lt;Table&#10;      style={{ width:'100%', height:440 }}&#10;      defaultTextStyle={{ fontSize:15, textAlign:'center', color:'#1A1A1A' }}&#10;      defaultCellStyle={{ border:{ left:{width:1,color:'#CCCCCC'}, right:{width:1,color:'#CCCCCC'}, top:{width:1,color:'#CCCCCC'}, bottom:{width:1,color:'#CCCCCC'} } }}&#10;      cells={[&#10;        [ {text:'智能体', textStyle:{bold:true,color:'#1A1A1A'}, cellStyle:{background:{color:'#DAE3F3'}}},&#10;          {text:'面向', textStyle:{bold:true,color:'#1A1A1A'}, cellStyle:{background:{color:'#DAE3F3'}}},&#10;          {text:'知识规模', textStyle:{bold:true,color:'#1A1A1A'}, cellStyle:{background:{color:'#DAE3F3'}}},&#10;          {text:'结构规模', textStyle:{bold:true,color:'#1A1A1A'}, cellStyle:{background:{color:'#DAE3F3'}}},&#10;          {text:'状态', textStyle:{bold:true,color:'#1A1A1A'}, cellStyle:{background:{color:'#DAE3F3'}}},&#10;          {text:'核心价值', textStyle:{bold:true,color:'#1A1A1A',textAlign:'left'}, cellStyle:{background:{color:'#DAE3F3'}}} ],&#10;        [ '说明书助手', '销售 / 业务', 'TDS 产品库', '6 模式 / 16 节提示词', '已上线', {text:'TDS 咨询秒级应答、选型有据不误导客户', textStyle:{textAlign:'left'}} ],&#10;        [ '销售 SOP / 全能助手', '销售', '7 份 SOP 源文件', '6 场景触发', '已上线', {text:'销售动作标准化、话术统一、新人即上手', textStyle:{textAlign:'left'}} ],&#10;        [ '业务智能助理', '营销中心 / 业务', 'SKILL.md + templates + role', '3 阶段 / 4 岗位自适应', {text:'迭代中 v5', textStyle:{color:'#C0504D',bold:true}}, {text:'客户问题全流程 AI 化 + 合规红线校验', textStyle:{textAlign:'left'}} ],&#10;        [ '应用工艺助手', '研发为主 + 业务', '工艺手册 + 研发培训', '20+ 疵病排查', '已上线', {text:'染整专业问答、客户质疑标准答案', textStyle:{textAlign:'left'}} ],&#10;      ]}&#10;    /&gt;&#10;  &lt;/Box&gt;&#10;&#10;  &lt;Box style={{ position:'absolute', left:56, top:568, right:56 }}&gt;&#10;    &lt;Text style={{ fontSize:16, color:'#1A1A1A', lineHeight:1.5 }}&gt;另有「培训助手」「视频 / 图片生成助手」等能力，构成平台智能体矩阵；06-12 提出 seedance/seedream 独立化诉求，07-14 图片 · 视频生成独立应用落地（营销 / 销售自助生产素材）。&lt;/Text&gt;&#10;  &lt;/Box&gt;&#10;&#10;  &lt;Box style={{ position:'absolute', left:56, top:668, right:56, flexDirection:'row', justifyContent:'space-between' }}&gt;&#10;    &lt;Text style={{ fontSize:14, color:'#888' }}&gt;入职以来 AI 工作复盘&lt;/Text&gt;&#10;    &lt;Text style={{ fontSize:14, color:'#888' }}&gt;11 / 13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矩形 3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</p:spPr>
        <p:txBody>
          <a:bodyPr/>
          <a:p/>
        </p:txBody>
      </p:sp>
      <p:sp>
        <p:nvSpPr>
          <p:cNvPr id="32" name="矩形 31"/>
          <p:cNvSpPr/>
          <p:nvPr/>
        </p:nvSpPr>
        <p:spPr>
          <a:xfrm>
            <a:off x="533400" y="352425"/>
            <a:ext cx="76200" cy="323850"/>
          </a:xfrm>
          <a:prstGeom prst="rect">
            <a:avLst/>
          </a:prstGeom>
          <a:solidFill>
            <a:srgbClr val="4472C4"/>
          </a:solidFill>
        </p:spPr>
        <p:txBody>
          <a:bodyPr/>
          <a:p/>
        </p:txBody>
      </p:sp>
      <p:sp>
        <p:nvSpPr>
          <p:cNvPr id="33" name="文本框 32" descr="{&quot;isTemplate&quot;:true,&quot;type&quot;:&quot;text&quot;}"/>
          <p:cNvSpPr txBox="1"/>
          <p:nvPr/>
        </p:nvSpPr>
        <p:spPr>
          <a:xfrm>
            <a:off x="723900" y="342900"/>
            <a:ext cx="3429000" cy="3429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052B7C"/>
                </a:solidFill>
                <a:latin typeface="微软雅黑" panose="020B0503020204020204" charset="-122"/>
                <a:ea typeface="微软雅黑" panose="020B0503020204020204" charset="-122"/>
              </a:rPr>
              <a:t>五、智能体矩阵与内容生成</a:t>
            </a:r>
            <a:endParaRPr lang="zh-CN" sz="2250" b="1">
              <a:solidFill>
                <a:srgbClr val="052B7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graphicFrame>
        <p:nvGraphicFramePr>
          <p:cNvPr id="34" name="表格 33"/>
          <p:cNvGraphicFramePr/>
          <p:nvPr/>
        </p:nvGraphicFramePr>
        <p:xfrm>
          <a:off x="533400" y="1143000"/>
          <a:ext cx="11125200" cy="4191000"/>
        </p:xfrm>
        <a:graphic>
          <a:graphicData uri="http://schemas.openxmlformats.org/drawingml/2006/table">
            <a:tbl>
              <a:tblPr/>
              <a:tblGrid>
                <a:gridCol w="1661671"/>
                <a:gridCol w="1339556"/>
                <a:gridCol w="2372547"/>
                <a:gridCol w="1739423"/>
                <a:gridCol w="861936"/>
                <a:gridCol w="3150067"/>
              </a:tblGrid>
              <a:tr h="838200"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 b="1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智能体</a:t>
                      </a:r>
                      <a:endParaRPr sz="1125" b="1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AE3F3"/>
                    </a:solidFill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 b="1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面向</a:t>
                      </a:r>
                      <a:endParaRPr sz="1125" b="1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AE3F3"/>
                    </a:solidFill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 b="1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知识规模</a:t>
                      </a:r>
                      <a:endParaRPr sz="1125" b="1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AE3F3"/>
                    </a:solidFill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 b="1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结构规模</a:t>
                      </a:r>
                      <a:endParaRPr sz="1125" b="1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AE3F3"/>
                    </a:solidFill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 b="1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状态</a:t>
                      </a:r>
                      <a:endParaRPr sz="1125" b="1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AE3F3"/>
                    </a:solidFill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 b="1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核心价值</a:t>
                      </a:r>
                      <a:endParaRPr sz="1125" b="1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AE3F3"/>
                    </a:solidFill>
                  </a:tcPr>
                </a:tc>
              </a:tr>
              <a:tr h="838200"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说明书助手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销售 / 业务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lang="zh-CN"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目前仅</a:t>
                      </a: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TDS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6 模式 / 16 节提示词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已上线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TDS 咨询秒级应答、选型有据不误导客户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838200"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销售 SOP 助手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销售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SOP 源文件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6 场景触发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已上线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销售动作标准化、话术统一、新人即上手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838200"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业务智能助理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营销中心 / 业务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SKILL.md + templates + role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3 阶段 / 4 岗位自适应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 b="1">
                          <a:solidFill>
                            <a:srgbClr val="C0504D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迭代中 v5</a:t>
                      </a:r>
                      <a:endParaRPr sz="1125" b="1">
                        <a:solidFill>
                          <a:srgbClr val="C0504D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客户问题全流程 AI 化 + 合规红线校验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838200"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工艺</a:t>
                      </a:r>
                      <a:r>
                        <a:rPr lang="zh-CN"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流程</a:t>
                      </a: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助手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研发为主 + 业务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工艺手册 + 研发培训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20+ 疵病排查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已上线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染整专业问答、客户质疑标准答案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35" name="文本框 34" descr="{&quot;isTemplate&quot;:true,&quot;type&quot;:&quot;text&quot;}"/>
          <p:cNvSpPr txBox="1"/>
          <p:nvPr/>
        </p:nvSpPr>
        <p:spPr>
          <a:xfrm>
            <a:off x="533400" y="5410200"/>
            <a:ext cx="11125200" cy="552450"/>
          </a:xfrm>
          <a:prstGeom prst="rect">
            <a:avLst/>
          </a:prstGeom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另有「培训助手」「视频</a:t>
            </a:r>
            <a:r>
              <a:rPr lang="en-US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 / </a:t>
            </a:r>
            <a:r>
              <a:rPr lang="zh-CN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图片生成助手」等能力，构成平台智能体矩阵；</a:t>
            </a:r>
            <a:r>
              <a:rPr lang="en-US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06-12 </a:t>
            </a:r>
            <a:r>
              <a:rPr lang="zh-CN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提出</a:t>
            </a:r>
            <a:r>
              <a:rPr lang="en-US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 seedance/seedream </a:t>
            </a:r>
            <a:r>
              <a:rPr lang="zh-CN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独立化诉求，</a:t>
            </a:r>
            <a:r>
              <a:rPr lang="en-US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07-14 </a:t>
            </a:r>
            <a:r>
              <a:rPr lang="zh-CN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图片</a:t>
            </a:r>
            <a:r>
              <a:rPr lang="en-US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 · </a:t>
            </a:r>
            <a:r>
              <a:rPr lang="zh-CN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视频生成独立应用落地（营销</a:t>
            </a:r>
            <a:r>
              <a:rPr lang="en-US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 / </a:t>
            </a:r>
            <a:r>
              <a:rPr lang="zh-CN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销售自助生产素材）。</a:t>
            </a:r>
            <a:endParaRPr lang="zh-CN" sz="1200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6" name="文本框 35" descr="{&quot;isTemplate&quot;:true,&quot;type&quot;:&quot;text&quot;}"/>
          <p:cNvSpPr txBox="1"/>
          <p:nvPr/>
        </p:nvSpPr>
        <p:spPr>
          <a:xfrm>
            <a:off x="533400" y="6362700"/>
            <a:ext cx="1285875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88888"/>
                </a:solidFill>
                <a:latin typeface="微软雅黑" panose="020B0503020204020204" charset="-122"/>
                <a:ea typeface="微软雅黑" panose="020B0503020204020204" charset="-122"/>
              </a:rPr>
              <a:t>入职以来</a:t>
            </a:r>
            <a:r>
              <a:rPr lang="en-US" sz="1050">
                <a:solidFill>
                  <a:srgbClr val="888888"/>
                </a:solidFill>
                <a:latin typeface="微软雅黑" panose="020B0503020204020204" charset="-122"/>
                <a:ea typeface="微软雅黑" panose="020B0503020204020204" charset="-122"/>
              </a:rPr>
              <a:t> AI </a:t>
            </a:r>
            <a:r>
              <a:rPr lang="zh-CN" sz="1050">
                <a:solidFill>
                  <a:srgbClr val="888888"/>
                </a:solidFill>
                <a:latin typeface="微软雅黑" panose="020B0503020204020204" charset="-122"/>
                <a:ea typeface="微软雅黑" panose="020B0503020204020204" charset="-122"/>
              </a:rPr>
              <a:t>工作复盘</a:t>
            </a:r>
            <a:endParaRPr lang="zh-CN" sz="1050">
              <a:solidFill>
                <a:srgbClr val="88888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7" name="文本框 36" descr="{&quot;isTemplate&quot;:true,&quot;type&quot;:&quot;text&quot;}"/>
          <p:cNvSpPr txBox="1"/>
          <p:nvPr/>
        </p:nvSpPr>
        <p:spPr>
          <a:xfrm>
            <a:off x="11229975" y="6362700"/>
            <a:ext cx="428625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88888"/>
                </a:solidFill>
                <a:latin typeface="微软雅黑" panose="020B0503020204020204" charset="-122"/>
                <a:ea typeface="微软雅黑" panose="020B0503020204020204" charset="-122"/>
              </a:rPr>
              <a:t>11 / 13</a:t>
            </a:r>
            <a:endParaRPr lang="en-US" sz="1050">
              <a:solidFill>
                <a:srgbClr val="88888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38" name="" descr="&lt;Slide style={{ width:'1280px', height:'720px', position:'relative', background:'#FFFFFF', fontFamily:'微软雅黑' }}&gt;&#10;  &lt;Box style={{ position:'absolute', left:56, top:36, flexDirection:'row', alignItems:'center', gap:12 }}&gt;&#10;    &lt;Box style={{ width:8, height:34, background:'#4472C4' }} /&gt;&#10;    &lt;Text style={{ fontSize:30, fontWeight:'bold', color:'#052B7C' }}&gt;六、下阶段计划与需支持事项&lt;/Text&gt;&#10;  &lt;/Box&gt;&#10;&#10;  &lt;Box style={{ position:'absolute', left:56, top:130, right:56, flexDirection:'row', gap:36 }}&gt;&#10;    &lt;Box style={{ flex:1.4, flexDirection:'column', gap:14 }}&gt;&#10;      &lt;Text style={{ fontSize:20, fontWeight:'bold', color:'#052B7C' }}&gt;下阶段计划&lt;/Text&gt;&#10;      {['业务智能助理上线前完成检索稳定性测试，沉淀为营销中心标准智能体','推动供应商修复待解项（图片变视频范围、竖屏不支持）','建立工具活跃度 / 采纳率轻量看板','补采采购 / 船务「节省工时」量化，用于增量价值申报','Tax_check / Data_masking 持续运营深化','价格爬取 Skill 回采购培训，巩固「自建 Skill」能力'].map((t, i) =&gt; (&#10;        &lt;Box key={i} style={{ flexDirection:'row', alignItems:'flex-start', gap:12 }}&gt;&#10;          &lt;Box style={{ width:8, height:8, background:'#4472C4', borderRadius:2, marginTop:8 }} /&gt;&#10;          &lt;Text style={{ fontSize:16, color:'#1A1A1A', lineHeight:1.5 }}&gt;{t}&lt;/Text&gt;&#10;        &lt;/Box&gt;&#10;      ))}&#10;    &lt;/Box&gt;&#10;&#10;    &lt;Box style={{ flex:1, flexDirection:'column', gap:14 }}&gt;&#10;      &lt;Text style={{ fontSize:20, fontWeight:'bold', color:'#C0504D' }}&gt;需支持事项&lt;/Text&gt;&#10;      {['业务智能助理检索测试需营销中心提供真实客户问题样本','待解项修复依赖供应商排期，需领导推动优先级','工时量化需业务方配合记录使用前后耗时','采纳率看板需 IT / 数据侧轻量支持'].map((t, i) =&gt; (&#10;        &lt;Box key={i} style={{ flexDirection:'row', alignItems:'flex-start', gap:12 }}&gt;&#10;          &lt;Box style={{ width:8, height:8, background:'#C0504D', borderRadius:2, marginTop:8 }} /&gt;&#10;          &lt;Text style={{ fontSize:16, color:'#1A1A1A', lineHeight:1.5 }}&gt;{t}&lt;/Text&gt;&#10;        &lt;/Box&gt;&#10;      ))}&#10;    &lt;/Box&gt;&#10;  &lt;/Box&gt;&#10;&#10;  &lt;Box style={{ position:'absolute', left:56, top:668, right:56, flexDirection:'row', justifyContent:'space-between' }}&gt;&#10;    &lt;Text style={{ fontSize:14, color:'#888' }}&gt;入职以来 AI 工作复盘&lt;/Text&gt;&#10;    &lt;Text style={{ fontSize:14, color:'#888' }}&gt;12 / 13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矩形 38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</p:spPr>
        <p:txBody>
          <a:bodyPr/>
          <a:p/>
        </p:txBody>
      </p:sp>
      <p:sp>
        <p:nvSpPr>
          <p:cNvPr id="40" name="矩形 39"/>
          <p:cNvSpPr/>
          <p:nvPr/>
        </p:nvSpPr>
        <p:spPr>
          <a:xfrm>
            <a:off x="533400" y="352425"/>
            <a:ext cx="76200" cy="323850"/>
          </a:xfrm>
          <a:prstGeom prst="rect">
            <a:avLst/>
          </a:prstGeom>
          <a:solidFill>
            <a:srgbClr val="4472C4"/>
          </a:solidFill>
        </p:spPr>
        <p:txBody>
          <a:bodyPr/>
          <a:p/>
        </p:txBody>
      </p:sp>
      <p:sp>
        <p:nvSpPr>
          <p:cNvPr id="41" name="文本框 40" descr="{&quot;isTemplate&quot;:true,&quot;type&quot;:&quot;text&quot;}"/>
          <p:cNvSpPr txBox="1"/>
          <p:nvPr/>
        </p:nvSpPr>
        <p:spPr>
          <a:xfrm>
            <a:off x="723900" y="342900"/>
            <a:ext cx="3714750" cy="3429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052B7C"/>
                </a:solidFill>
                <a:latin typeface="微软雅黑" panose="020B0503020204020204" charset="-122"/>
                <a:ea typeface="微软雅黑" panose="020B0503020204020204" charset="-122"/>
              </a:rPr>
              <a:t>六、下阶段计划与需支持事项</a:t>
            </a:r>
            <a:endParaRPr lang="zh-CN" sz="2250" b="1">
              <a:solidFill>
                <a:srgbClr val="052B7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2" name="文本框 41" descr="{&quot;isTemplate&quot;:true,&quot;type&quot;:&quot;text&quot;}"/>
          <p:cNvSpPr txBox="1"/>
          <p:nvPr/>
        </p:nvSpPr>
        <p:spPr>
          <a:xfrm>
            <a:off x="533400" y="1238250"/>
            <a:ext cx="6286500" cy="2286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052B7C"/>
                </a:solidFill>
                <a:latin typeface="微软雅黑" panose="020B0503020204020204" charset="-122"/>
                <a:ea typeface="微软雅黑" panose="020B0503020204020204" charset="-122"/>
              </a:rPr>
              <a:t>下阶段计划</a:t>
            </a:r>
            <a:endParaRPr lang="zh-CN" sz="1500" b="1">
              <a:solidFill>
                <a:srgbClr val="052B7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3" name="圆角矩形 42"/>
          <p:cNvSpPr/>
          <p:nvPr/>
        </p:nvSpPr>
        <p:spPr>
          <a:xfrm>
            <a:off x="533400" y="1676400"/>
            <a:ext cx="76200" cy="76200"/>
          </a:xfrm>
          <a:prstGeom prst="roundRect">
            <a:avLst>
              <a:gd name="adj" fmla="val 25000"/>
            </a:avLst>
          </a:prstGeom>
          <a:solidFill>
            <a:srgbClr val="4472C4"/>
          </a:solidFill>
        </p:spPr>
        <p:txBody>
          <a:bodyPr/>
          <a:p/>
        </p:txBody>
      </p:sp>
      <p:sp>
        <p:nvSpPr>
          <p:cNvPr id="44" name="文本框 43" descr="{&quot;isTemplate&quot;:true,&quot;type&quot;:&quot;text&quot;}"/>
          <p:cNvSpPr txBox="1"/>
          <p:nvPr/>
        </p:nvSpPr>
        <p:spPr>
          <a:xfrm>
            <a:off x="723900" y="1600200"/>
            <a:ext cx="4724400" cy="2762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业务智能助理上线前完成检索稳定性测试，沉淀为营销中心标准智能体</a:t>
            </a:r>
            <a:endParaRPr lang="zh-CN" sz="1200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5" name="圆角矩形 44"/>
          <p:cNvSpPr/>
          <p:nvPr/>
        </p:nvSpPr>
        <p:spPr>
          <a:xfrm>
            <a:off x="533400" y="2085975"/>
            <a:ext cx="76200" cy="76200"/>
          </a:xfrm>
          <a:prstGeom prst="roundRect">
            <a:avLst>
              <a:gd name="adj" fmla="val 25000"/>
            </a:avLst>
          </a:prstGeom>
          <a:solidFill>
            <a:srgbClr val="4472C4"/>
          </a:solidFill>
        </p:spPr>
        <p:txBody>
          <a:bodyPr/>
          <a:p/>
        </p:txBody>
      </p:sp>
      <p:sp>
        <p:nvSpPr>
          <p:cNvPr id="46" name="文本框 45" descr="{&quot;isTemplate&quot;:true,&quot;type&quot;:&quot;text&quot;}"/>
          <p:cNvSpPr txBox="1"/>
          <p:nvPr/>
        </p:nvSpPr>
        <p:spPr>
          <a:xfrm>
            <a:off x="723900" y="2009775"/>
            <a:ext cx="3810000" cy="2762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推动供应商修复待解项（图片变视频范围、竖屏不支持）</a:t>
            </a:r>
            <a:endParaRPr lang="zh-CN" sz="1200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7" name="圆角矩形 46"/>
          <p:cNvSpPr/>
          <p:nvPr/>
        </p:nvSpPr>
        <p:spPr>
          <a:xfrm>
            <a:off x="533400" y="2495550"/>
            <a:ext cx="76200" cy="76200"/>
          </a:xfrm>
          <a:prstGeom prst="roundRect">
            <a:avLst>
              <a:gd name="adj" fmla="val 25000"/>
            </a:avLst>
          </a:prstGeom>
          <a:solidFill>
            <a:srgbClr val="4472C4"/>
          </a:solidFill>
        </p:spPr>
        <p:txBody>
          <a:bodyPr/>
          <a:p/>
        </p:txBody>
      </p:sp>
      <p:sp>
        <p:nvSpPr>
          <p:cNvPr id="48" name="文本框 47" descr="{&quot;isTemplate&quot;:true,&quot;type&quot;:&quot;text&quot;}"/>
          <p:cNvSpPr txBox="1"/>
          <p:nvPr/>
        </p:nvSpPr>
        <p:spPr>
          <a:xfrm>
            <a:off x="723900" y="2419350"/>
            <a:ext cx="2295525" cy="2762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建立工具活跃度</a:t>
            </a:r>
            <a:r>
              <a:rPr lang="en-US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 / </a:t>
            </a:r>
            <a:r>
              <a:rPr lang="zh-CN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采纳率轻量看板</a:t>
            </a:r>
            <a:endParaRPr lang="zh-CN" sz="1200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9" name="圆角矩形 48"/>
          <p:cNvSpPr/>
          <p:nvPr/>
        </p:nvSpPr>
        <p:spPr>
          <a:xfrm>
            <a:off x="533400" y="2905125"/>
            <a:ext cx="76200" cy="76200"/>
          </a:xfrm>
          <a:prstGeom prst="roundRect">
            <a:avLst>
              <a:gd name="adj" fmla="val 25000"/>
            </a:avLst>
          </a:prstGeom>
          <a:solidFill>
            <a:srgbClr val="4472C4"/>
          </a:solidFill>
        </p:spPr>
        <p:txBody>
          <a:bodyPr/>
          <a:p/>
        </p:txBody>
      </p:sp>
      <p:sp>
        <p:nvSpPr>
          <p:cNvPr id="50" name="文本框 49" descr="{&quot;isTemplate&quot;:true,&quot;type&quot;:&quot;text&quot;}"/>
          <p:cNvSpPr txBox="1"/>
          <p:nvPr/>
        </p:nvSpPr>
        <p:spPr>
          <a:xfrm>
            <a:off x="723900" y="2828925"/>
            <a:ext cx="3667125" cy="2762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补采采购</a:t>
            </a:r>
            <a:r>
              <a:rPr lang="en-US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 / </a:t>
            </a:r>
            <a:r>
              <a:rPr lang="zh-CN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船务「节省工时」量化，用于增量价值申报</a:t>
            </a:r>
            <a:endParaRPr lang="zh-CN" sz="1200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1" name="圆角矩形 50"/>
          <p:cNvSpPr/>
          <p:nvPr/>
        </p:nvSpPr>
        <p:spPr>
          <a:xfrm>
            <a:off x="533400" y="3314700"/>
            <a:ext cx="76200" cy="76200"/>
          </a:xfrm>
          <a:prstGeom prst="roundRect">
            <a:avLst>
              <a:gd name="adj" fmla="val 25000"/>
            </a:avLst>
          </a:prstGeom>
          <a:solidFill>
            <a:srgbClr val="4472C4"/>
          </a:solidFill>
        </p:spPr>
        <p:txBody>
          <a:bodyPr/>
          <a:p/>
        </p:txBody>
      </p:sp>
      <p:sp>
        <p:nvSpPr>
          <p:cNvPr id="52" name="文本框 51" descr="{&quot;isTemplate&quot;:true,&quot;type&quot;:&quot;text&quot;}"/>
          <p:cNvSpPr txBox="1"/>
          <p:nvPr/>
        </p:nvSpPr>
        <p:spPr>
          <a:xfrm>
            <a:off x="723900" y="3238500"/>
            <a:ext cx="2762250" cy="2762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Tax_check / Data_masking </a:t>
            </a:r>
            <a:r>
              <a:rPr lang="zh-CN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持续运营深化</a:t>
            </a:r>
            <a:endParaRPr lang="zh-CN" sz="1200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3" name="圆角矩形 52"/>
          <p:cNvSpPr/>
          <p:nvPr/>
        </p:nvSpPr>
        <p:spPr>
          <a:xfrm>
            <a:off x="533400" y="3724275"/>
            <a:ext cx="76200" cy="76200"/>
          </a:xfrm>
          <a:prstGeom prst="roundRect">
            <a:avLst>
              <a:gd name="adj" fmla="val 25000"/>
            </a:avLst>
          </a:prstGeom>
          <a:solidFill>
            <a:srgbClr val="4472C4"/>
          </a:solidFill>
        </p:spPr>
        <p:txBody>
          <a:bodyPr/>
          <a:p/>
        </p:txBody>
      </p:sp>
      <p:sp>
        <p:nvSpPr>
          <p:cNvPr id="54" name="文本框 53" descr="{&quot;isTemplate&quot;:true,&quot;type&quot;:&quot;text&quot;}"/>
          <p:cNvSpPr txBox="1"/>
          <p:nvPr/>
        </p:nvSpPr>
        <p:spPr>
          <a:xfrm>
            <a:off x="723900" y="3648075"/>
            <a:ext cx="3419475" cy="2762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价格爬取</a:t>
            </a:r>
            <a:r>
              <a:rPr lang="en-US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 Skill </a:t>
            </a:r>
            <a:r>
              <a:rPr lang="zh-CN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回采购培训，巩固「自建</a:t>
            </a:r>
            <a:r>
              <a:rPr lang="en-US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 Skill</a:t>
            </a:r>
            <a:r>
              <a:rPr lang="zh-CN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」能力</a:t>
            </a:r>
            <a:endParaRPr lang="zh-CN" sz="1200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5" name="文本框 54" descr="{&quot;isTemplate&quot;:true,&quot;type&quot;:&quot;text&quot;}"/>
          <p:cNvSpPr txBox="1"/>
          <p:nvPr/>
        </p:nvSpPr>
        <p:spPr>
          <a:xfrm>
            <a:off x="7162800" y="1238250"/>
            <a:ext cx="4495800" cy="2286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C0504D"/>
                </a:solidFill>
                <a:latin typeface="微软雅黑" panose="020B0503020204020204" charset="-122"/>
                <a:ea typeface="微软雅黑" panose="020B0503020204020204" charset="-122"/>
              </a:rPr>
              <a:t>需支持事项</a:t>
            </a:r>
            <a:endParaRPr lang="zh-CN" sz="1500" b="1">
              <a:solidFill>
                <a:srgbClr val="C0504D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6" name="圆角矩形 55"/>
          <p:cNvSpPr/>
          <p:nvPr/>
        </p:nvSpPr>
        <p:spPr>
          <a:xfrm>
            <a:off x="7162800" y="1676400"/>
            <a:ext cx="76200" cy="76200"/>
          </a:xfrm>
          <a:prstGeom prst="roundRect">
            <a:avLst>
              <a:gd name="adj" fmla="val 25000"/>
            </a:avLst>
          </a:prstGeom>
          <a:solidFill>
            <a:srgbClr val="C0504D"/>
          </a:solidFill>
        </p:spPr>
        <p:txBody>
          <a:bodyPr/>
          <a:p/>
        </p:txBody>
      </p:sp>
      <p:sp>
        <p:nvSpPr>
          <p:cNvPr id="57" name="文本框 56" descr="{&quot;isTemplate&quot;:true,&quot;type&quot;:&quot;text&quot;}"/>
          <p:cNvSpPr txBox="1"/>
          <p:nvPr/>
        </p:nvSpPr>
        <p:spPr>
          <a:xfrm>
            <a:off x="7353300" y="1600200"/>
            <a:ext cx="3810000" cy="2762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业务智能助理检索测试需营销中心提供真实客户问题样本</a:t>
            </a:r>
            <a:endParaRPr lang="zh-CN" sz="1200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8" name="圆角矩形 57"/>
          <p:cNvSpPr/>
          <p:nvPr/>
        </p:nvSpPr>
        <p:spPr>
          <a:xfrm>
            <a:off x="7162800" y="2085975"/>
            <a:ext cx="76200" cy="76200"/>
          </a:xfrm>
          <a:prstGeom prst="roundRect">
            <a:avLst>
              <a:gd name="adj" fmla="val 25000"/>
            </a:avLst>
          </a:prstGeom>
          <a:solidFill>
            <a:srgbClr val="C0504D"/>
          </a:solidFill>
        </p:spPr>
        <p:txBody>
          <a:bodyPr/>
          <a:p/>
        </p:txBody>
      </p:sp>
      <p:sp>
        <p:nvSpPr>
          <p:cNvPr id="59" name="文本框 58" descr="{&quot;isTemplate&quot;:true,&quot;type&quot;:&quot;text&quot;}"/>
          <p:cNvSpPr txBox="1"/>
          <p:nvPr/>
        </p:nvSpPr>
        <p:spPr>
          <a:xfrm>
            <a:off x="7353300" y="2009775"/>
            <a:ext cx="3200400" cy="2762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待解项修复依赖供应商排期，需领导推动优先级</a:t>
            </a:r>
            <a:endParaRPr lang="zh-CN" sz="1200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0" name="圆角矩形 59"/>
          <p:cNvSpPr/>
          <p:nvPr/>
        </p:nvSpPr>
        <p:spPr>
          <a:xfrm>
            <a:off x="7162800" y="2495550"/>
            <a:ext cx="76200" cy="76200"/>
          </a:xfrm>
          <a:prstGeom prst="roundRect">
            <a:avLst>
              <a:gd name="adj" fmla="val 25000"/>
            </a:avLst>
          </a:prstGeom>
          <a:solidFill>
            <a:srgbClr val="C0504D"/>
          </a:solidFill>
        </p:spPr>
        <p:txBody>
          <a:bodyPr/>
          <a:p/>
        </p:txBody>
      </p:sp>
      <p:sp>
        <p:nvSpPr>
          <p:cNvPr id="61" name="文本框 60" descr="{&quot;isTemplate&quot;:true,&quot;type&quot;:&quot;text&quot;}"/>
          <p:cNvSpPr txBox="1"/>
          <p:nvPr/>
        </p:nvSpPr>
        <p:spPr>
          <a:xfrm>
            <a:off x="7353300" y="2419350"/>
            <a:ext cx="2743200" cy="2762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工时量化需业务方配合记录使用前后耗时</a:t>
            </a:r>
            <a:endParaRPr lang="zh-CN" sz="1200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2" name="圆角矩形 61"/>
          <p:cNvSpPr/>
          <p:nvPr/>
        </p:nvSpPr>
        <p:spPr>
          <a:xfrm>
            <a:off x="7162800" y="2905125"/>
            <a:ext cx="76200" cy="76200"/>
          </a:xfrm>
          <a:prstGeom prst="roundRect">
            <a:avLst>
              <a:gd name="adj" fmla="val 25000"/>
            </a:avLst>
          </a:prstGeom>
          <a:solidFill>
            <a:srgbClr val="C0504D"/>
          </a:solidFill>
        </p:spPr>
        <p:txBody>
          <a:bodyPr/>
          <a:p/>
        </p:txBody>
      </p:sp>
      <p:sp>
        <p:nvSpPr>
          <p:cNvPr id="63" name="文本框 62" descr="{&quot;isTemplate&quot;:true,&quot;type&quot;:&quot;text&quot;}"/>
          <p:cNvSpPr txBox="1"/>
          <p:nvPr/>
        </p:nvSpPr>
        <p:spPr>
          <a:xfrm>
            <a:off x="7353300" y="2828925"/>
            <a:ext cx="2333625" cy="2762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采纳率看板需</a:t>
            </a:r>
            <a:r>
              <a:rPr lang="en-US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 IT / </a:t>
            </a:r>
            <a:r>
              <a:rPr lang="zh-CN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数据侧轻量支持</a:t>
            </a:r>
            <a:endParaRPr lang="zh-CN" sz="1200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4" name="文本框 63" descr="{&quot;isTemplate&quot;:true,&quot;type&quot;:&quot;text&quot;}"/>
          <p:cNvSpPr txBox="1"/>
          <p:nvPr/>
        </p:nvSpPr>
        <p:spPr>
          <a:xfrm>
            <a:off x="533400" y="6362700"/>
            <a:ext cx="1285875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88888"/>
                </a:solidFill>
                <a:latin typeface="微软雅黑" panose="020B0503020204020204" charset="-122"/>
                <a:ea typeface="微软雅黑" panose="020B0503020204020204" charset="-122"/>
              </a:rPr>
              <a:t>入职以来</a:t>
            </a:r>
            <a:r>
              <a:rPr lang="en-US" sz="1050">
                <a:solidFill>
                  <a:srgbClr val="888888"/>
                </a:solidFill>
                <a:latin typeface="微软雅黑" panose="020B0503020204020204" charset="-122"/>
                <a:ea typeface="微软雅黑" panose="020B0503020204020204" charset="-122"/>
              </a:rPr>
              <a:t> AI </a:t>
            </a:r>
            <a:r>
              <a:rPr lang="zh-CN" sz="1050">
                <a:solidFill>
                  <a:srgbClr val="888888"/>
                </a:solidFill>
                <a:latin typeface="微软雅黑" panose="020B0503020204020204" charset="-122"/>
                <a:ea typeface="微软雅黑" panose="020B0503020204020204" charset="-122"/>
              </a:rPr>
              <a:t>工作复盘</a:t>
            </a:r>
            <a:endParaRPr lang="zh-CN" sz="1050">
              <a:solidFill>
                <a:srgbClr val="88888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5" name="文本框 64" descr="{&quot;isTemplate&quot;:true,&quot;type&quot;:&quot;text&quot;}"/>
          <p:cNvSpPr txBox="1"/>
          <p:nvPr/>
        </p:nvSpPr>
        <p:spPr>
          <a:xfrm>
            <a:off x="11229975" y="6362700"/>
            <a:ext cx="428625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88888"/>
                </a:solidFill>
                <a:latin typeface="微软雅黑" panose="020B0503020204020204" charset="-122"/>
                <a:ea typeface="微软雅黑" panose="020B0503020204020204" charset="-122"/>
              </a:rPr>
              <a:t>12 / 13</a:t>
            </a:r>
            <a:endParaRPr lang="en-US" sz="1050">
              <a:solidFill>
                <a:srgbClr val="88888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66" name="" descr="&lt;Slide style={{ width:'1280px', height:'720px', position:'relative', background:'#FFFFFF', fontFamily:'微软雅黑' }}&gt;&#10;  &lt;Box style={{ position:'absolute', left:0, top:300, width:1280, height:230, background:'#4472C4', justifyContent:'center', alignItems:'center' }}&gt;&#10;    &lt;Text style={{ fontSize:56, fontWeight:'bold', color:'#FFFFFF' }}&gt;汇报完毕！&lt;/Text&gt;&#10;    &lt;Text style={{ fontSize:26, color:'#FFFFFF', marginTop:16 }}&gt;没有绩效，一切无效&lt;/Text&gt;&#10;  &lt;/Box&gt;&#10;&#10;  &lt;Box style={{ position:'absolute', left:80, top:120, flexDirection:'row', alignItems:'center', gap:12 }}&gt;&#10;    &lt;Box style={{ width:48, height:3, background:'#4472C4' }} /&gt;&#10;    &lt;Text style={{ fontSize:16, color:'#052B7C' }}&gt;助力企业利润持续增长&lt;/Text&gt;&#10;  &lt;/Box&gt;&#10;&#10;  &lt;Box style={{ position:'absolute', left:80, top:580, flexDirection:'column', gap:10 }}&gt;&#10;    &lt;Text style={{ fontSize:18, color:'#052B7C' }}&gt;部　　门：AI 技术专员（宏昊AI助手平台）&lt;/Text&gt;&#10;    &lt;Text style={{ fontSize:18, color:'#052B7C' }}&gt;汇报人：肖聪&lt;/Text&gt;&#10;    &lt;Text style={{ fontSize:18, color:'#052B7C' }}&gt;汇报期间：2026.04.15 – 2026.07.31（入职以来）&lt;/Text&gt;&#10;  &lt;/Box&gt;&#10;&#10;  &lt;Text style={{ position:'absolute', right:80, bottom:60, fontSize:16, color:'#052B7C', fontWeight:'bold' }}&gt;- 机密受控 -&lt;/Text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矩形 66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</p:spPr>
        <p:txBody>
          <a:bodyPr/>
          <a:p/>
        </p:txBody>
      </p:sp>
      <p:sp>
        <p:nvSpPr>
          <p:cNvPr id="68" name="矩形 67"/>
          <p:cNvSpPr/>
          <p:nvPr/>
        </p:nvSpPr>
        <p:spPr>
          <a:xfrm>
            <a:off x="0" y="2019300"/>
            <a:ext cx="12192000" cy="2190750"/>
          </a:xfrm>
          <a:prstGeom prst="rect">
            <a:avLst/>
          </a:prstGeom>
          <a:solidFill>
            <a:srgbClr val="4472C4"/>
          </a:solidFill>
        </p:spPr>
        <p:txBody>
          <a:bodyPr/>
          <a:p/>
        </p:txBody>
      </p:sp>
      <p:sp>
        <p:nvSpPr>
          <p:cNvPr id="69" name="文本框 68" descr="{&quot;isTemplate&quot;:true,&quot;type&quot;:&quot;text&quot;}"/>
          <p:cNvSpPr txBox="1"/>
          <p:nvPr/>
        </p:nvSpPr>
        <p:spPr>
          <a:xfrm>
            <a:off x="4762500" y="2562225"/>
            <a:ext cx="2667000" cy="6477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42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汇报完毕！</a:t>
            </a:r>
            <a:endParaRPr lang="zh-CN" sz="42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0" name="文本框 69" descr="{&quot;isTemplate&quot;:true,&quot;type&quot;:&quot;text&quot;}"/>
          <p:cNvSpPr txBox="1"/>
          <p:nvPr/>
        </p:nvSpPr>
        <p:spPr>
          <a:xfrm>
            <a:off x="4981575" y="3362325"/>
            <a:ext cx="2228850" cy="3048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95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没有绩效，一切无效</a:t>
            </a:r>
            <a:endParaRPr lang="zh-CN" sz="195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DIAGRAM_VIRTUALLY_FRAME" val="{&quot;height&quot;:234.4,&quot;left&quot;:42,&quot;top&quot;:97.5,&quot;width&quot;:876}"/>
</p:tagLst>
</file>

<file path=ppt/tags/tag2.xml><?xml version="1.0" encoding="utf-8"?>
<p:tagLst xmlns:p="http://schemas.openxmlformats.org/presentationml/2006/main">
  <p:tag name="KSO_WM_DIAGRAM_VIRTUALLY_FRAME" val="{&quot;height&quot;:234.4,&quot;left&quot;:42,&quot;top&quot;:97.5,&quot;width&quot;:876}"/>
</p:tagLst>
</file>

<file path=ppt/tags/tag3.xml><?xml version="1.0" encoding="utf-8"?>
<p:tagLst xmlns:p="http://schemas.openxmlformats.org/presentationml/2006/main">
  <p:tag name="KSO_WM_DIAGRAM_VIRTUALLY_FRAME" val="{&quot;height&quot;:234.4,&quot;left&quot;:42,&quot;top&quot;:97.5,&quot;width&quot;:876}"/>
</p:tagLst>
</file>

<file path=ppt/tags/tag4.xml><?xml version="1.0" encoding="utf-8"?>
<p:tagLst xmlns:p="http://schemas.openxmlformats.org/presentationml/2006/main">
  <p:tag name="KSO_WM_DIAGRAM_VIRTUALLY_FRAME" val="{&quot;height&quot;:234.4,&quot;left&quot;:42,&quot;top&quot;:97.5,&quot;width&quot;:876}"/>
</p:tagLst>
</file>

<file path=ppt/tags/tag5.xml><?xml version="1.0" encoding="utf-8"?>
<p:tagLst xmlns:p="http://schemas.openxmlformats.org/presentationml/2006/main">
  <p:tag name="KSO_WM_DIAGRAM_VIRTUALLY_FRAME" val="{&quot;height&quot;:234.4,&quot;left&quot;:42,&quot;top&quot;:97.5,&quot;width&quot;:876}"/>
</p:tagLst>
</file>

<file path=ppt/tags/tag6.xml><?xml version="1.0" encoding="utf-8"?>
<p:tagLst xmlns:p="http://schemas.openxmlformats.org/presentationml/2006/main">
  <p:tag name="KSO_WM_DIAGRAM_VIRTUALLY_FRAME" val="{&quot;height&quot;:234.4,&quot;left&quot;:42,&quot;top&quot;:97.5,&quot;width&quot;:876}"/>
</p:tagLst>
</file>

<file path=ppt/tags/tag7.xml><?xml version="1.0" encoding="utf-8"?>
<p:tagLst xmlns:p="http://schemas.openxmlformats.org/presentationml/2006/main">
  <p:tag name="KSO_WM_DIAGRAM_VIRTUALLY_FRAME" val="{&quot;height&quot;:234.4,&quot;left&quot;:42,&quot;top&quot;:97.5,&quot;width&quot;:876}"/>
</p:tagLst>
</file>

<file path=ppt/tags/tag8.xml><?xml version="1.0" encoding="utf-8"?>
<p:tagLst xmlns:p="http://schemas.openxmlformats.org/presentationml/2006/main">
  <p:tag name="KSO_WM_DIAGRAM_VIRTUALLY_FRAME" val="{&quot;height&quot;:234.4,&quot;left&quot;:42,&quot;top&quot;:97.5,&quot;width&quot;:876}"/>
</p:tagLst>
</file>

<file path=ppt/tags/tag9.xml><?xml version="1.0" encoding="utf-8"?>
<p:tagLst xmlns:p="http://schemas.openxmlformats.org/presentationml/2006/main">
  <p:tag name="KSO_WM_DIAGRAM_VIRTUALLY_FRAME" val="{&quot;height&quot;:234.4,&quot;left&quot;:42,&quot;top&quot;:97.5,&quot;width&quot;:876}"/>
</p:tagLst>
</file>

<file path=ppt/tags/tag10.xml><?xml version="1.0" encoding="utf-8"?>
<p:tagLst xmlns:p="http://schemas.openxmlformats.org/presentationml/2006/main">
  <p:tag name="KSO_WM_DIAGRAM_VIRTUALLY_FRAME" val="{&quot;height&quot;:234.4,&quot;left&quot;:42,&quot;top&quot;:97.5,&quot;width&quot;:876}"/>
</p:tagLst>
</file>

<file path=ppt/tags/tag11.xml><?xml version="1.0" encoding="utf-8"?>
<p:tagLst xmlns:p="http://schemas.openxmlformats.org/presentationml/2006/main">
  <p:tag name="KSO_WM_DIAGRAM_VIRTUALLY_FRAME" val="{&quot;height&quot;:234.4,&quot;left&quot;:42,&quot;top&quot;:97.5,&quot;width&quot;:876}"/>
</p:tagLst>
</file>

<file path=ppt/tags/tag12.xml><?xml version="1.0" encoding="utf-8"?>
<p:tagLst xmlns:p="http://schemas.openxmlformats.org/presentationml/2006/main">
  <p:tag name="KSO_WM_DIAGRAM_VIRTUALLY_FRAME" val="{&quot;height&quot;:234.4,&quot;left&quot;:42,&quot;top&quot;:97.5,&quot;width&quot;:876}"/>
</p:tagLst>
</file>

<file path=ppt/tags/tag13.xml><?xml version="1.0" encoding="utf-8"?>
<p:tagLst xmlns:p="http://schemas.openxmlformats.org/presentationml/2006/main">
  <p:tag name="KSO_WM_DIAGRAM_VIRTUALLY_FRAME" val="{&quot;height&quot;:105,&quot;left&quot;:42,&quot;top&quot;:97.5,&quot;width&quot;:876}"/>
</p:tagLst>
</file>

<file path=ppt/tags/tag14.xml><?xml version="1.0" encoding="utf-8"?>
<p:tagLst xmlns:p="http://schemas.openxmlformats.org/presentationml/2006/main">
  <p:tag name="KSO_WM_DIAGRAM_VIRTUALLY_FRAME" val="{&quot;height&quot;:105,&quot;left&quot;:42,&quot;top&quot;:97.5,&quot;width&quot;:876}"/>
</p:tagLst>
</file>

<file path=ppt/tags/tag15.xml><?xml version="1.0" encoding="utf-8"?>
<p:tagLst xmlns:p="http://schemas.openxmlformats.org/presentationml/2006/main">
  <p:tag name="KSO_WM_DIAGRAM_VIRTUALLY_FRAME" val="{&quot;height&quot;:105,&quot;left&quot;:42,&quot;top&quot;:97.5,&quot;width&quot;:876}"/>
</p:tagLst>
</file>

<file path=ppt/tags/tag16.xml><?xml version="1.0" encoding="utf-8"?>
<p:tagLst xmlns:p="http://schemas.openxmlformats.org/presentationml/2006/main">
  <p:tag name="KSO_WM_DIAGRAM_VIRTUALLY_FRAME" val="{&quot;height&quot;:105,&quot;left&quot;:42,&quot;top&quot;:97.5,&quot;width&quot;:876}"/>
</p:tagLst>
</file>

<file path=ppt/tags/tag17.xml><?xml version="1.0" encoding="utf-8"?>
<p:tagLst xmlns:p="http://schemas.openxmlformats.org/presentationml/2006/main">
  <p:tag name="KSO_WM_DIAGRAM_VIRTUALLY_FRAME" val="{&quot;height&quot;:105,&quot;left&quot;:42,&quot;top&quot;:97.5,&quot;width&quot;:876}"/>
</p:tagLst>
</file>

<file path=ppt/tags/tag18.xml><?xml version="1.0" encoding="utf-8"?>
<p:tagLst xmlns:p="http://schemas.openxmlformats.org/presentationml/2006/main">
  <p:tag name="KSO_WM_DIAGRAM_VIRTUALLY_FRAME" val="{&quot;height&quot;:105,&quot;left&quot;:42,&quot;top&quot;:97.5,&quot;width&quot;:876}"/>
</p:tagLst>
</file>

<file path=ppt/tags/tag19.xml><?xml version="1.0" encoding="utf-8"?>
<p:tagLst xmlns:p="http://schemas.openxmlformats.org/presentationml/2006/main">
  <p:tag name="KSO_WM_DIAGRAM_VIRTUALLY_FRAME" val="{&quot;height&quot;:105,&quot;left&quot;:42,&quot;top&quot;:97.5,&quot;width&quot;:876}"/>
</p:tagLst>
</file>

<file path=ppt/tags/tag20.xml><?xml version="1.0" encoding="utf-8"?>
<p:tagLst xmlns:p="http://schemas.openxmlformats.org/presentationml/2006/main">
  <p:tag name="KSO_WM_DIAGRAM_VIRTUALLY_FRAME" val="{&quot;height&quot;:105,&quot;left&quot;:42,&quot;top&quot;:97.5,&quot;width&quot;:876}"/>
</p:tagLst>
</file>

<file path=ppt/tags/tag21.xml><?xml version="1.0" encoding="utf-8"?>
<p:tagLst xmlns:p="http://schemas.openxmlformats.org/presentationml/2006/main">
  <p:tag name="KSO_WM_DIAGRAM_VIRTUALLY_FRAME" val="{&quot;height&quot;:105,&quot;left&quot;:42,&quot;top&quot;:97.5,&quot;width&quot;:876}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2085</Words>
  <Application>WPS 演示</Application>
  <PresentationFormat/>
  <Paragraphs>316</Paragraphs>
  <Slides>9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9</vt:i4>
      </vt:variant>
    </vt:vector>
  </HeadingPairs>
  <TitlesOfParts>
    <vt:vector size="17" baseType="lpstr">
      <vt:lpstr>Arial</vt:lpstr>
      <vt:lpstr>宋体</vt:lpstr>
      <vt:lpstr>Wingdings</vt:lpstr>
      <vt:lpstr>Arial</vt:lpstr>
      <vt:lpstr>微软雅黑</vt:lpstr>
      <vt:lpstr>Calibri</vt:lpstr>
      <vt:lpstr>Arial Unicode MS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lw</cp:lastModifiedBy>
  <cp:revision>8</cp:revision>
  <dcterms:created xsi:type="dcterms:W3CDTF">2026-08-17T09:56:00Z</dcterms:created>
  <dcterms:modified xsi:type="dcterms:W3CDTF">2026-08-18T00:54:52Z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2052-12.1.0.28043</vt:lpwstr>
  </property>
  <property fmtid="{D5CDD505-2E9C-101B-9397-08002B2CF9AE}" pid="3" name="ICV">
    <vt:lpwstr>7230EDF0E163401FA65271E63094E600_12</vt:lpwstr>
  </property>
</Properties>
</file>